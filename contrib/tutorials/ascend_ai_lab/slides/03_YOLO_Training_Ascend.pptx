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54" r:id="rId3"/>
    <p:sldMasterId id="2147483666" r:id="rId4"/>
  </p:sldMasterIdLst>
  <p:notesMasterIdLst>
    <p:notesMasterId r:id="rId34"/>
  </p:notesMasterIdLst>
  <p:sldIdLst>
    <p:sldId id="256" r:id="rId5"/>
    <p:sldId id="329" r:id="rId6"/>
    <p:sldId id="261" r:id="rId7"/>
    <p:sldId id="258" r:id="rId8"/>
    <p:sldId id="260" r:id="rId9"/>
    <p:sldId id="330" r:id="rId10"/>
    <p:sldId id="262" r:id="rId11"/>
    <p:sldId id="263" r:id="rId12"/>
    <p:sldId id="264" r:id="rId13"/>
    <p:sldId id="265" r:id="rId14"/>
    <p:sldId id="331" r:id="rId15"/>
    <p:sldId id="267" r:id="rId16"/>
    <p:sldId id="332" r:id="rId17"/>
    <p:sldId id="269" r:id="rId18"/>
    <p:sldId id="270" r:id="rId19"/>
    <p:sldId id="278" r:id="rId20"/>
    <p:sldId id="333" r:id="rId21"/>
    <p:sldId id="272" r:id="rId22"/>
    <p:sldId id="334" r:id="rId23"/>
    <p:sldId id="275" r:id="rId24"/>
    <p:sldId id="335" r:id="rId25"/>
    <p:sldId id="276" r:id="rId26"/>
    <p:sldId id="355" r:id="rId27"/>
    <p:sldId id="358" r:id="rId28"/>
    <p:sldId id="359" r:id="rId29"/>
    <p:sldId id="360" r:id="rId30"/>
    <p:sldId id="356" r:id="rId31"/>
    <p:sldId id="357" r:id="rId32"/>
    <p:sldId id="277"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3" d="100"/>
          <a:sy n="53" d="100"/>
        </p:scale>
        <p:origin x="68" y="1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添加页码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1AA6D-BA14-CC14-AFEF-12C0DE910D13}"/>
            </a:ext>
          </a:extLst>
        </p:cNvPr>
        <p:cNvGrpSpPr/>
        <p:nvPr/>
      </p:nvGrpSpPr>
      <p:grpSpPr>
        <a:xfrm>
          <a:off x="0" y="0"/>
          <a:ext cx="0" cy="0"/>
          <a:chOff x="0" y="0"/>
          <a:chExt cx="0" cy="0"/>
        </a:xfrm>
      </p:grpSpPr>
      <p:sp>
        <p:nvSpPr>
          <p:cNvPr id="6" name="幻灯片图像占位符 5">
            <a:extLst>
              <a:ext uri="{FF2B5EF4-FFF2-40B4-BE49-F238E27FC236}">
                <a16:creationId xmlns:a16="http://schemas.microsoft.com/office/drawing/2014/main" id="{14AC1DA7-913C-41BE-B043-3828573B70A2}"/>
              </a:ext>
            </a:extLst>
          </p:cNvPr>
          <p:cNvSpPr>
            <a:spLocks noGrp="1" noRot="1" noChangeAspect="1"/>
          </p:cNvSpPr>
          <p:nvPr>
            <p:ph type="sldImg"/>
          </p:nvPr>
        </p:nvSpPr>
        <p:spPr>
          <a:xfrm>
            <a:off x="742950" y="717550"/>
            <a:ext cx="5557838" cy="3125788"/>
          </a:xfrm>
        </p:spPr>
      </p:sp>
      <p:sp>
        <p:nvSpPr>
          <p:cNvPr id="7" name="备注占位符 6">
            <a:extLst>
              <a:ext uri="{FF2B5EF4-FFF2-40B4-BE49-F238E27FC236}">
                <a16:creationId xmlns:a16="http://schemas.microsoft.com/office/drawing/2014/main" id="{C3269618-3660-7585-9CFF-B1F782B52BB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33545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err="1"/>
              <a:t>本页依据课程实验</a:t>
            </a:r>
            <a:r>
              <a:rPr dirty="0"/>
              <a:t> README/requirements </a:t>
            </a:r>
            <a:r>
              <a:rPr dirty="0" err="1"/>
              <a:t>中的</a:t>
            </a:r>
            <a:r>
              <a:rPr dirty="0"/>
              <a:t> Ascend 910、PyTorch、torch_npu、MSPROF </a:t>
            </a:r>
            <a:r>
              <a:rPr dirty="0" err="1"/>
              <a:t>单卡环境要求改写</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28D72-190D-E664-DF55-FB0EA57DB9D9}"/>
            </a:ext>
          </a:extLst>
        </p:cNvPr>
        <p:cNvGrpSpPr/>
        <p:nvPr/>
      </p:nvGrpSpPr>
      <p:grpSpPr>
        <a:xfrm>
          <a:off x="0" y="0"/>
          <a:ext cx="0" cy="0"/>
          <a:chOff x="0" y="0"/>
          <a:chExt cx="0" cy="0"/>
        </a:xfrm>
      </p:grpSpPr>
      <p:sp>
        <p:nvSpPr>
          <p:cNvPr id="6" name="幻灯片图像占位符 5">
            <a:extLst>
              <a:ext uri="{FF2B5EF4-FFF2-40B4-BE49-F238E27FC236}">
                <a16:creationId xmlns:a16="http://schemas.microsoft.com/office/drawing/2014/main" id="{A8F1D01A-3119-FE0E-D2A7-473BD5DF4BB6}"/>
              </a:ext>
            </a:extLst>
          </p:cNvPr>
          <p:cNvSpPr>
            <a:spLocks noGrp="1" noRot="1" noChangeAspect="1"/>
          </p:cNvSpPr>
          <p:nvPr>
            <p:ph type="sldImg"/>
          </p:nvPr>
        </p:nvSpPr>
        <p:spPr>
          <a:xfrm>
            <a:off x="742950" y="717550"/>
            <a:ext cx="5557838" cy="3125788"/>
          </a:xfrm>
        </p:spPr>
      </p:sp>
      <p:sp>
        <p:nvSpPr>
          <p:cNvPr id="7" name="备注占位符 6">
            <a:extLst>
              <a:ext uri="{FF2B5EF4-FFF2-40B4-BE49-F238E27FC236}">
                <a16:creationId xmlns:a16="http://schemas.microsoft.com/office/drawing/2014/main" id="{B40972E2-7AA9-40FE-13B2-DEADE8CFAB0E}"/>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66185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4C140-F68C-381C-009A-D55387801FD9}"/>
            </a:ext>
          </a:extLst>
        </p:cNvPr>
        <p:cNvGrpSpPr/>
        <p:nvPr/>
      </p:nvGrpSpPr>
      <p:grpSpPr>
        <a:xfrm>
          <a:off x="0" y="0"/>
          <a:ext cx="0" cy="0"/>
          <a:chOff x="0" y="0"/>
          <a:chExt cx="0" cy="0"/>
        </a:xfrm>
      </p:grpSpPr>
      <p:sp>
        <p:nvSpPr>
          <p:cNvPr id="6" name="幻灯片图像占位符 5">
            <a:extLst>
              <a:ext uri="{FF2B5EF4-FFF2-40B4-BE49-F238E27FC236}">
                <a16:creationId xmlns:a16="http://schemas.microsoft.com/office/drawing/2014/main" id="{56EAF557-1B94-4FA2-5132-B5DF16CD0136}"/>
              </a:ext>
            </a:extLst>
          </p:cNvPr>
          <p:cNvSpPr>
            <a:spLocks noGrp="1" noRot="1" noChangeAspect="1"/>
          </p:cNvSpPr>
          <p:nvPr>
            <p:ph type="sldImg"/>
          </p:nvPr>
        </p:nvSpPr>
        <p:spPr>
          <a:xfrm>
            <a:off x="742950" y="717550"/>
            <a:ext cx="5557838" cy="3125788"/>
          </a:xfrm>
        </p:spPr>
      </p:sp>
      <p:sp>
        <p:nvSpPr>
          <p:cNvPr id="7" name="备注占位符 6">
            <a:extLst>
              <a:ext uri="{FF2B5EF4-FFF2-40B4-BE49-F238E27FC236}">
                <a16:creationId xmlns:a16="http://schemas.microsoft.com/office/drawing/2014/main" id="{4BA6E06C-C4A5-B39B-F43C-688ED6E165F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60592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381DA-6836-0B1E-D008-5BEFF9A5F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247C6-E4C0-5072-7DDC-B12758A42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BCF4C-8C33-3065-E61B-DF3CB8339EC8}"/>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D37D28B-874A-495E-D53A-BCC712D221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26939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52774-F583-959A-31DC-6001599FF6F7}"/>
            </a:ext>
          </a:extLst>
        </p:cNvPr>
        <p:cNvGrpSpPr/>
        <p:nvPr/>
      </p:nvGrpSpPr>
      <p:grpSpPr>
        <a:xfrm>
          <a:off x="0" y="0"/>
          <a:ext cx="0" cy="0"/>
          <a:chOff x="0" y="0"/>
          <a:chExt cx="0" cy="0"/>
        </a:xfrm>
      </p:grpSpPr>
      <p:sp>
        <p:nvSpPr>
          <p:cNvPr id="6" name="幻灯片图像占位符 5">
            <a:extLst>
              <a:ext uri="{FF2B5EF4-FFF2-40B4-BE49-F238E27FC236}">
                <a16:creationId xmlns:a16="http://schemas.microsoft.com/office/drawing/2014/main" id="{6729FA2A-2E41-0126-0F00-E381F467E248}"/>
              </a:ext>
            </a:extLst>
          </p:cNvPr>
          <p:cNvSpPr>
            <a:spLocks noGrp="1" noRot="1" noChangeAspect="1"/>
          </p:cNvSpPr>
          <p:nvPr>
            <p:ph type="sldImg"/>
          </p:nvPr>
        </p:nvSpPr>
        <p:spPr>
          <a:xfrm>
            <a:off x="742950" y="717550"/>
            <a:ext cx="5557838" cy="3125788"/>
          </a:xfrm>
        </p:spPr>
      </p:sp>
      <p:sp>
        <p:nvSpPr>
          <p:cNvPr id="7" name="备注占位符 6">
            <a:extLst>
              <a:ext uri="{FF2B5EF4-FFF2-40B4-BE49-F238E27FC236}">
                <a16:creationId xmlns:a16="http://schemas.microsoft.com/office/drawing/2014/main" id="{711CF207-03D1-CF61-3E2B-48D8EAA7DAC7}"/>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45845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FB6AE-DC93-B428-9998-FDBCF0E48075}"/>
            </a:ext>
          </a:extLst>
        </p:cNvPr>
        <p:cNvGrpSpPr/>
        <p:nvPr/>
      </p:nvGrpSpPr>
      <p:grpSpPr>
        <a:xfrm>
          <a:off x="0" y="0"/>
          <a:ext cx="0" cy="0"/>
          <a:chOff x="0" y="0"/>
          <a:chExt cx="0" cy="0"/>
        </a:xfrm>
      </p:grpSpPr>
      <p:sp>
        <p:nvSpPr>
          <p:cNvPr id="6" name="幻灯片图像占位符 5">
            <a:extLst>
              <a:ext uri="{FF2B5EF4-FFF2-40B4-BE49-F238E27FC236}">
                <a16:creationId xmlns:a16="http://schemas.microsoft.com/office/drawing/2014/main" id="{FFC97CD2-D6DA-0596-F6B7-E4D0175B128F}"/>
              </a:ext>
            </a:extLst>
          </p:cNvPr>
          <p:cNvSpPr>
            <a:spLocks noGrp="1" noRot="1" noChangeAspect="1"/>
          </p:cNvSpPr>
          <p:nvPr>
            <p:ph type="sldImg"/>
          </p:nvPr>
        </p:nvSpPr>
        <p:spPr>
          <a:xfrm>
            <a:off x="742950" y="717550"/>
            <a:ext cx="5557838" cy="3125788"/>
          </a:xfrm>
        </p:spPr>
      </p:sp>
      <p:sp>
        <p:nvSpPr>
          <p:cNvPr id="7" name="备注占位符 6">
            <a:extLst>
              <a:ext uri="{FF2B5EF4-FFF2-40B4-BE49-F238E27FC236}">
                <a16:creationId xmlns:a16="http://schemas.microsoft.com/office/drawing/2014/main" id="{6D80BD88-6FDD-514B-64D4-EE3D8435D32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57332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64CEA-0E91-8A80-B664-CEAFFF354006}"/>
            </a:ext>
          </a:extLst>
        </p:cNvPr>
        <p:cNvGrpSpPr/>
        <p:nvPr/>
      </p:nvGrpSpPr>
      <p:grpSpPr>
        <a:xfrm>
          <a:off x="0" y="0"/>
          <a:ext cx="0" cy="0"/>
          <a:chOff x="0" y="0"/>
          <a:chExt cx="0" cy="0"/>
        </a:xfrm>
      </p:grpSpPr>
      <p:sp>
        <p:nvSpPr>
          <p:cNvPr id="6" name="幻灯片图像占位符 5">
            <a:extLst>
              <a:ext uri="{FF2B5EF4-FFF2-40B4-BE49-F238E27FC236}">
                <a16:creationId xmlns:a16="http://schemas.microsoft.com/office/drawing/2014/main" id="{3A1F22FA-9CB3-23C6-CF53-09B5BFBD7432}"/>
              </a:ext>
            </a:extLst>
          </p:cNvPr>
          <p:cNvSpPr>
            <a:spLocks noGrp="1" noRot="1" noChangeAspect="1"/>
          </p:cNvSpPr>
          <p:nvPr>
            <p:ph type="sldImg"/>
          </p:nvPr>
        </p:nvSpPr>
        <p:spPr>
          <a:xfrm>
            <a:off x="742950" y="717550"/>
            <a:ext cx="5557838" cy="3125788"/>
          </a:xfrm>
        </p:spPr>
      </p:sp>
      <p:sp>
        <p:nvSpPr>
          <p:cNvPr id="7" name="备注占位符 6">
            <a:extLst>
              <a:ext uri="{FF2B5EF4-FFF2-40B4-BE49-F238E27FC236}">
                <a16:creationId xmlns:a16="http://schemas.microsoft.com/office/drawing/2014/main" id="{BF816A0E-AEEF-E3C1-7E77-D60E38A498C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34213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Huawei Sans"/>
                <a:ea typeface="方正兰亭黑简体"/>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Huawei Sans"/>
              <a:ea typeface="方正兰亭黑简体"/>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61B90-AAF5-4934-2173-A4E571F09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F565A-0C6B-054E-BF5C-E4640E05D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557D1-8850-2B28-876D-A394942AFE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8190B8-DA7F-920A-1B04-6463D228311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Huawei Sans"/>
                <a:ea typeface="方正兰亭黑简体"/>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3633675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36118-E8A5-1570-CCD3-7CDFE97C8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098C4-0A67-99BA-1FF3-27CCCB354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DEE76-D10B-B1A5-8A58-C494EC4F71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AAB23A-E994-06A8-D7A5-A55A8BD4D9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Huawei Sans"/>
                <a:ea typeface="方正兰亭黑简体"/>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462174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29BFE-B4DD-2D44-C9E7-3364319AB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F835A-63A9-1839-7F01-16604939A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91110-85E7-656B-BB77-718994DC6A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B022A-8316-0E80-DAD1-3ADAF0EAFA1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Huawei Sans"/>
                <a:ea typeface="方正兰亭黑简体"/>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3322984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912D1-0D9E-F0AF-826A-3D24E3BE9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4E451-31D1-5699-942F-A338C1E2D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45693-3980-A3B0-6079-2232D404A3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C02D62-576A-8923-8B78-1412C9F7FF9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Huawei Sans"/>
                <a:ea typeface="方正兰亭黑简体"/>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33660829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0F488-011A-F0DA-0D4A-0CFB9CC21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FF958-EA91-9401-05E1-F0FA8DACE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65A8D-FFA1-980C-EDFB-E1A000EDC0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CC9C28-57FD-5B88-F293-683AA69D647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Huawei Sans"/>
                <a:ea typeface="方正兰亭黑简体"/>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12016519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攀登">
    <p:bg>
      <p:bgPr>
        <a:solidFill>
          <a:srgbClr val="FFFFFF"/>
        </a:solidFill>
        <a:effectLst/>
      </p:bgPr>
    </p:bg>
    <p:spTree>
      <p:nvGrpSpPr>
        <p:cNvPr id="1" name=""/>
        <p:cNvGrpSpPr/>
        <p:nvPr/>
      </p:nvGrpSpPr>
      <p:grpSpPr>
        <a:xfrm>
          <a:off x="0" y="0"/>
          <a:ext cx="0" cy="0"/>
          <a:chOff x="0" y="0"/>
          <a:chExt cx="0" cy="0"/>
        </a:xfrm>
      </p:grpSpPr>
      <p:pic>
        <p:nvPicPr>
          <p:cNvPr id="9" name="图片 2"/>
          <p:cNvPicPr>
            <a:picLocks noChangeAspect="1"/>
          </p:cNvPicPr>
          <p:nvPr/>
        </p:nvPicPr>
        <p:blipFill>
          <a:blip r:embed="rId2"/>
          <a:stretch>
            <a:fillRect/>
          </a:stretch>
        </p:blipFill>
        <p:spPr>
          <a:xfrm>
            <a:off x="2380" y="0"/>
            <a:ext cx="12187239" cy="6858000"/>
          </a:xfrm>
          <a:prstGeom prst="rect">
            <a:avLst/>
          </a:prstGeom>
        </p:spPr>
      </p:pic>
      <p:pic>
        <p:nvPicPr>
          <p:cNvPr id="10" name="图片 6"/>
          <p:cNvPicPr>
            <a:picLocks noChangeAspect="1"/>
          </p:cNvPicPr>
          <p:nvPr/>
        </p:nvPicPr>
        <p:blipFill>
          <a:blip r:embed="rId3"/>
          <a:stretch>
            <a:fillRect/>
          </a:stretch>
        </p:blipFill>
        <p:spPr>
          <a:xfrm>
            <a:off x="665817" y="562718"/>
            <a:ext cx="1068804" cy="1025944"/>
          </a:xfrm>
          <a:prstGeom prst="rect">
            <a:avLst/>
          </a:prstGeom>
        </p:spPr>
      </p:pic>
      <p:pic>
        <p:nvPicPr>
          <p:cNvPr id="11" name="图片 9"/>
          <p:cNvPicPr>
            <a:picLocks noChangeAspect="1"/>
          </p:cNvPicPr>
          <p:nvPr/>
        </p:nvPicPr>
        <p:blipFill>
          <a:blip r:embed="rId4"/>
          <a:stretch>
            <a:fillRect/>
          </a:stretch>
        </p:blipFill>
        <p:spPr>
          <a:xfrm>
            <a:off x="665817" y="562718"/>
            <a:ext cx="1067056" cy="1026710"/>
          </a:xfrm>
          <a:prstGeom prst="rect">
            <a:avLst/>
          </a:prstGeom>
          <a:ln>
            <a:noFill/>
          </a:ln>
        </p:spPr>
      </p:pic>
      <p:sp>
        <p:nvSpPr>
          <p:cNvPr id="5" name="Title 1">
            <a:extLst>
              <a:ext uri="{FF2B5EF4-FFF2-40B4-BE49-F238E27FC236}">
                <a16:creationId xmlns:a16="http://schemas.microsoft.com/office/drawing/2014/main" id="{85A2D558-0AE1-48E4-98CB-7526A2C81D7B}"/>
              </a:ext>
            </a:extLst>
          </p:cNvPr>
          <p:cNvSpPr>
            <a:spLocks noGrp="1"/>
          </p:cNvSpPr>
          <p:nvPr>
            <p:ph type="ctrTitle" hasCustomPrompt="1"/>
          </p:nvPr>
        </p:nvSpPr>
        <p:spPr>
          <a:xfrm>
            <a:off x="665818" y="2738746"/>
            <a:ext cx="6557247" cy="690255"/>
          </a:xfrm>
          <a:prstGeom prst="rect">
            <a:avLst/>
          </a:prstGeom>
          <a:ln>
            <a:noFill/>
            <a:prstDash val="dash"/>
          </a:ln>
        </p:spPr>
        <p:txBody>
          <a:bodyPr lIns="0" tIns="0" rIns="0" bIns="0" anchor="t">
            <a:normAutofit/>
          </a:bodyPr>
          <a:lstStyle>
            <a:lvl1pPr algn="l">
              <a:lnSpc>
                <a:spcPct val="100000"/>
              </a:lnSpc>
              <a:buNone/>
              <a:defRPr sz="4800" b="0" i="0">
                <a:solidFill>
                  <a:schemeClr val="tx1"/>
                </a:solidFill>
                <a:latin typeface="微软雅黑"/>
                <a:ea typeface="微软雅黑"/>
                <a:cs typeface="微软雅黑"/>
              </a:defRPr>
            </a:lvl1pPr>
          </a:lstStyle>
          <a:p>
            <a:r>
              <a:t>单击此处添加标题</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4925ECB-AF30-4A18-AB02-D7B0193F7736}"/>
              </a:ext>
            </a:extLst>
          </p:cNvPr>
          <p:cNvSpPr>
            <a:spLocks noGrp="1"/>
          </p:cNvSpPr>
          <p:nvPr/>
        </p:nvSpPr>
        <p:spPr>
          <a:xfrm>
            <a:off x="607486" y="1402064"/>
            <a:ext cx="3921034" cy="854717"/>
          </a:xfrm>
          <a:prstGeom prst="rect">
            <a:avLst/>
          </a:prstGeom>
          <a:noFill/>
        </p:spPr>
        <p:txBody>
          <a:bodyPr wrap="square">
            <a:spAutoFit/>
          </a:bodyPr>
          <a:lstStyle/>
          <a:p>
            <a:pPr algn="l">
              <a:buNone/>
            </a:pPr>
            <a:r>
              <a:rPr sz="4940">
                <a:solidFill>
                  <a:schemeClr val="tx1"/>
                </a:solidFill>
                <a:latin typeface="Huawei Sans"/>
                <a:ea typeface="Huawei Sans"/>
                <a:cs typeface="Huawei Sans"/>
              </a:rPr>
              <a:t>Thank you.</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ln>
        </p:spPr>
        <p:txBody>
          <a:bodyPr lIns="78227" tIns="39112" rIns="78227" bIns="39112" anchor="ctr"/>
          <a:lstStyle/>
          <a:p>
            <a:pPr algn="l" defTabSz="1001395" rtl="0" eaLnBrk="0" fontAlgn="ctr" hangingPunct="0">
              <a:spcBef>
                <a:spcPct val="0"/>
              </a:spcBef>
              <a:spcAft>
                <a:spcPct val="0"/>
              </a:spcAft>
            </a:pPr>
            <a:r>
              <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ln>
        </p:spPr>
        <p:txBody>
          <a:bodyPr wrap="square">
            <a:spAutoFit/>
          </a:bodyPr>
          <a:lstStyle/>
          <a:p>
            <a:pPr fontAlgn="ctr">
              <a:spcBef>
                <a:spcPct val="50000"/>
              </a:spcBef>
            </a:pPr>
            <a:r>
              <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2568195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17614"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前言</a:t>
            </a:r>
          </a:p>
        </p:txBody>
      </p:sp>
    </p:spTree>
    <p:extLst>
      <p:ext uri="{BB962C8B-B14F-4D97-AF65-F5344CB8AC3E}">
        <p14:creationId xmlns:p14="http://schemas.microsoft.com/office/powerpoint/2010/main" val="935676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20820"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774107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1370" rtl="0" eaLnBrk="1" fontAlgn="ctr"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1395"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2665415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4397358"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2833392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2005" rtl="0" eaLnBrk="1" fontAlgn="ctr"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220"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p:cNvSpPr txBox="1"/>
          <p:nvPr userDrawn="1"/>
        </p:nvSpPr>
        <p:spPr>
          <a:xfrm>
            <a:off x="918916" y="630373"/>
            <a:ext cx="1584088"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思考题</a:t>
            </a:r>
          </a:p>
        </p:txBody>
      </p:sp>
    </p:spTree>
    <p:extLst>
      <p:ext uri="{BB962C8B-B14F-4D97-AF65-F5344CB8AC3E}">
        <p14:creationId xmlns:p14="http://schemas.microsoft.com/office/powerpoint/2010/main" val="3429983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本节小结</a:t>
            </a:r>
          </a:p>
        </p:txBody>
      </p:sp>
    </p:spTree>
    <p:extLst>
      <p:ext uri="{BB962C8B-B14F-4D97-AF65-F5344CB8AC3E}">
        <p14:creationId xmlns:p14="http://schemas.microsoft.com/office/powerpoint/2010/main" val="1238453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本章总结</a:t>
            </a:r>
          </a:p>
        </p:txBody>
      </p:sp>
    </p:spTree>
    <p:extLst>
      <p:ext uri="{BB962C8B-B14F-4D97-AF65-F5344CB8AC3E}">
        <p14:creationId xmlns:p14="http://schemas.microsoft.com/office/powerpoint/2010/main" val="1720519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更多信息</a:t>
            </a:r>
          </a:p>
        </p:txBody>
      </p:sp>
    </p:spTree>
    <p:extLst>
      <p:ext uri="{BB962C8B-B14F-4D97-AF65-F5344CB8AC3E}">
        <p14:creationId xmlns:p14="http://schemas.microsoft.com/office/powerpoint/2010/main" val="147442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学习推荐</a:t>
            </a:r>
          </a:p>
        </p:txBody>
      </p:sp>
    </p:spTree>
    <p:extLst>
      <p:ext uri="{BB962C8B-B14F-4D97-AF65-F5344CB8AC3E}">
        <p14:creationId xmlns:p14="http://schemas.microsoft.com/office/powerpoint/2010/main" val="3484357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6557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3865862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416197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4537301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8619895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35717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9192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13">
            <a:extLst>
              <a:ext uri="{FF2B5EF4-FFF2-40B4-BE49-F238E27FC236}">
                <a16:creationId xmlns:a16="http://schemas.microsoft.com/office/drawing/2014/main" id="{BBA41A17-7C44-4E8C-B70D-4C0F84FE6AF9}"/>
              </a:ext>
            </a:extLst>
          </p:cNvPr>
          <p:cNvSpPr>
            <a:spLocks noGrp="1"/>
          </p:cNvSpPr>
          <p:nvPr/>
        </p:nvSpPr>
        <p:spPr>
          <a:xfrm>
            <a:off x="12298001" y="3818346"/>
            <a:ext cx="476160" cy="399690"/>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chemeClr val="tx2"/>
                </a:solidFill>
                <a:latin typeface="Arial"/>
                <a:ea typeface="Arial"/>
                <a:cs typeface="Arial"/>
              </a:rPr>
              <a:t>RGB</a:t>
            </a:r>
            <a:br/>
            <a:r>
              <a:rPr sz="500" b="1">
                <a:solidFill>
                  <a:schemeClr val="tx2"/>
                </a:solidFill>
                <a:latin typeface="Arial"/>
                <a:ea typeface="Arial"/>
                <a:cs typeface="Arial"/>
              </a:rPr>
              <a:t>196/0/84</a:t>
            </a:r>
          </a:p>
        </p:txBody>
      </p:sp>
      <p:sp>
        <p:nvSpPr>
          <p:cNvPr id="31" name="文本框 15">
            <a:extLst>
              <a:ext uri="{FF2B5EF4-FFF2-40B4-BE49-F238E27FC236}">
                <a16:creationId xmlns:a16="http://schemas.microsoft.com/office/drawing/2014/main" id="{A0B87928-D27D-4691-A382-0E55003CF412}"/>
              </a:ext>
            </a:extLst>
          </p:cNvPr>
          <p:cNvSpPr>
            <a:spLocks noGrp="1"/>
          </p:cNvSpPr>
          <p:nvPr/>
        </p:nvSpPr>
        <p:spPr>
          <a:xfrm>
            <a:off x="12295788" y="3674162"/>
            <a:ext cx="633256" cy="123111"/>
          </a:xfrm>
          <a:prstGeom prst="rect">
            <a:avLst/>
          </a:prstGeom>
          <a:noFill/>
        </p:spPr>
        <p:txBody>
          <a:bodyPr wrap="square" lIns="0" tIns="0" rIns="0" bIns="0" anchor="b">
            <a:spAutoFit/>
          </a:bodyPr>
          <a:lstStyle/>
          <a:p>
            <a:pPr algn="l">
              <a:lnSpc>
                <a:spcPct val="100000"/>
              </a:lnSpc>
              <a:buNone/>
            </a:pPr>
            <a:r>
              <a:rPr sz="800" b="0" i="0">
                <a:solidFill>
                  <a:schemeClr val="tx1"/>
                </a:solidFill>
                <a:latin typeface="微软雅黑"/>
                <a:ea typeface="微软雅黑"/>
                <a:cs typeface="微软雅黑"/>
              </a:rPr>
              <a:t>公司辅助色</a:t>
            </a:r>
          </a:p>
        </p:txBody>
      </p:sp>
      <p:sp>
        <p:nvSpPr>
          <p:cNvPr id="32" name="矩形 13">
            <a:extLst>
              <a:ext uri="{FF2B5EF4-FFF2-40B4-BE49-F238E27FC236}">
                <a16:creationId xmlns:a16="http://schemas.microsoft.com/office/drawing/2014/main" id="{56D56AA0-EDE1-4843-9012-77E47C7B91D4}"/>
              </a:ext>
            </a:extLst>
          </p:cNvPr>
          <p:cNvSpPr>
            <a:spLocks noGrp="1"/>
          </p:cNvSpPr>
          <p:nvPr/>
        </p:nvSpPr>
        <p:spPr>
          <a:xfrm>
            <a:off x="12796281" y="3818346"/>
            <a:ext cx="476160" cy="399690"/>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br/>
            <a:r>
              <a:rPr sz="500" b="1">
                <a:solidFill>
                  <a:srgbClr val="FFFFFF"/>
                </a:solidFill>
                <a:latin typeface="Arial"/>
                <a:ea typeface="Arial"/>
                <a:cs typeface="Arial"/>
              </a:rPr>
              <a:t>203/55/120</a:t>
            </a:r>
          </a:p>
        </p:txBody>
      </p:sp>
      <p:sp>
        <p:nvSpPr>
          <p:cNvPr id="33" name="矩形 13">
            <a:extLst>
              <a:ext uri="{FF2B5EF4-FFF2-40B4-BE49-F238E27FC236}">
                <a16:creationId xmlns:a16="http://schemas.microsoft.com/office/drawing/2014/main" id="{52949194-6A9B-49E9-BAA5-5C446A05136E}"/>
              </a:ext>
            </a:extLst>
          </p:cNvPr>
          <p:cNvSpPr>
            <a:spLocks noGrp="1"/>
          </p:cNvSpPr>
          <p:nvPr/>
        </p:nvSpPr>
        <p:spPr>
          <a:xfrm>
            <a:off x="12298001" y="4702007"/>
            <a:ext cx="476160" cy="399690"/>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br/>
            <a:r>
              <a:rPr sz="500" b="1">
                <a:solidFill>
                  <a:srgbClr val="FFFFFF"/>
                </a:solidFill>
                <a:latin typeface="Arial"/>
                <a:ea typeface="Arial"/>
                <a:cs typeface="Arial"/>
              </a:rPr>
              <a:t>237/109/0</a:t>
            </a:r>
          </a:p>
        </p:txBody>
      </p:sp>
      <p:sp>
        <p:nvSpPr>
          <p:cNvPr id="34" name="矩形 13">
            <a:extLst>
              <a:ext uri="{FF2B5EF4-FFF2-40B4-BE49-F238E27FC236}">
                <a16:creationId xmlns:a16="http://schemas.microsoft.com/office/drawing/2014/main" id="{0A92A868-ABFF-490A-A479-6B0EA6665E51}"/>
              </a:ext>
            </a:extLst>
          </p:cNvPr>
          <p:cNvSpPr>
            <a:spLocks noGrp="1"/>
          </p:cNvSpPr>
          <p:nvPr/>
        </p:nvSpPr>
        <p:spPr>
          <a:xfrm>
            <a:off x="12796281" y="4263030"/>
            <a:ext cx="476160" cy="399690"/>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a:lnSpc>
                <a:spcPts val="620"/>
              </a:lnSpc>
              <a:spcBef>
                <a:spcPts val="0"/>
              </a:spcBef>
              <a:spcAft>
                <a:spcPts val="0"/>
              </a:spcAft>
              <a:buClrTx/>
              <a:buSzTx/>
              <a:buFontTx/>
              <a:buNone/>
            </a:pPr>
            <a:r>
              <a:rPr sz="500" b="1">
                <a:solidFill>
                  <a:srgbClr val="FFFFFF"/>
                </a:solidFill>
                <a:latin typeface="Arial"/>
                <a:ea typeface="Arial"/>
                <a:cs typeface="Arial"/>
              </a:rPr>
              <a:t>RGB</a:t>
            </a:r>
            <a:br/>
            <a:r>
              <a:rPr sz="500" b="1">
                <a:solidFill>
                  <a:srgbClr val="FFFFFF"/>
                </a:solidFill>
                <a:latin typeface="Arial"/>
                <a:ea typeface="Arial"/>
                <a:cs typeface="Arial"/>
              </a:rPr>
              <a:t>153/54/54</a:t>
            </a:r>
          </a:p>
        </p:txBody>
      </p:sp>
      <p:sp>
        <p:nvSpPr>
          <p:cNvPr id="35" name="矩形 13">
            <a:extLst>
              <a:ext uri="{FF2B5EF4-FFF2-40B4-BE49-F238E27FC236}">
                <a16:creationId xmlns:a16="http://schemas.microsoft.com/office/drawing/2014/main" id="{76F7B464-40EE-4C68-A33F-2916ABE1F30E}"/>
              </a:ext>
            </a:extLst>
          </p:cNvPr>
          <p:cNvSpPr>
            <a:spLocks noGrp="1"/>
          </p:cNvSpPr>
          <p:nvPr/>
        </p:nvSpPr>
        <p:spPr>
          <a:xfrm>
            <a:off x="12298001" y="5582366"/>
            <a:ext cx="476160" cy="399690"/>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 </a:t>
            </a:r>
            <a:br/>
            <a:r>
              <a:rPr sz="500" b="1">
                <a:solidFill>
                  <a:srgbClr val="FFFFFF"/>
                </a:solidFill>
                <a:latin typeface="Arial"/>
                <a:ea typeface="Arial"/>
                <a:cs typeface="Arial"/>
              </a:rPr>
              <a:t>98/178/48</a:t>
            </a:r>
          </a:p>
        </p:txBody>
      </p:sp>
      <p:sp>
        <p:nvSpPr>
          <p:cNvPr id="36" name="矩形 13">
            <a:extLst>
              <a:ext uri="{FF2B5EF4-FFF2-40B4-BE49-F238E27FC236}">
                <a16:creationId xmlns:a16="http://schemas.microsoft.com/office/drawing/2014/main" id="{EB06BAC5-FC0A-4DF9-9FB4-CF87E02B74ED}"/>
              </a:ext>
            </a:extLst>
          </p:cNvPr>
          <p:cNvSpPr>
            <a:spLocks noGrp="1"/>
          </p:cNvSpPr>
          <p:nvPr/>
        </p:nvSpPr>
        <p:spPr>
          <a:xfrm>
            <a:off x="12796281" y="4709701"/>
            <a:ext cx="476160" cy="399690"/>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br/>
            <a:r>
              <a:rPr sz="500" b="1">
                <a:solidFill>
                  <a:srgbClr val="FFFFFF"/>
                </a:solidFill>
                <a:latin typeface="Arial"/>
                <a:ea typeface="Arial"/>
                <a:cs typeface="Arial"/>
              </a:rPr>
              <a:t>242/137/68</a:t>
            </a:r>
          </a:p>
        </p:txBody>
      </p:sp>
      <p:sp>
        <p:nvSpPr>
          <p:cNvPr id="37" name="矩形 13">
            <a:extLst>
              <a:ext uri="{FF2B5EF4-FFF2-40B4-BE49-F238E27FC236}">
                <a16:creationId xmlns:a16="http://schemas.microsoft.com/office/drawing/2014/main" id="{F3C8B2CA-0597-4EE3-87C1-608BCB79EDFA}"/>
              </a:ext>
            </a:extLst>
          </p:cNvPr>
          <p:cNvSpPr>
            <a:spLocks noGrp="1"/>
          </p:cNvSpPr>
          <p:nvPr/>
        </p:nvSpPr>
        <p:spPr>
          <a:xfrm>
            <a:off x="12296099" y="2766050"/>
            <a:ext cx="476160" cy="399690"/>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chemeClr val="tx2"/>
                </a:solidFill>
                <a:latin typeface="Arial"/>
                <a:ea typeface="Arial"/>
                <a:cs typeface="Arial"/>
              </a:rPr>
              <a:t>PANTONE 185C</a:t>
            </a:r>
          </a:p>
          <a:p>
            <a:pPr algn="ctr">
              <a:lnSpc>
                <a:spcPts val="620"/>
              </a:lnSpc>
              <a:spcBef>
                <a:spcPts val="0"/>
              </a:spcBef>
              <a:buNone/>
            </a:pPr>
            <a:r>
              <a:rPr sz="500" b="1">
                <a:solidFill>
                  <a:schemeClr val="tx2"/>
                </a:solidFill>
                <a:latin typeface="Arial"/>
                <a:ea typeface="Arial"/>
                <a:cs typeface="Arial"/>
              </a:rPr>
              <a:t>RGB </a:t>
            </a:r>
            <a:br/>
            <a:r>
              <a:rPr sz="500" b="1">
                <a:solidFill>
                  <a:schemeClr val="tx2"/>
                </a:solidFill>
                <a:latin typeface="Arial"/>
                <a:ea typeface="Arial"/>
                <a:cs typeface="Arial"/>
              </a:rPr>
              <a:t>199/0/11  </a:t>
            </a:r>
          </a:p>
        </p:txBody>
      </p:sp>
      <p:sp>
        <p:nvSpPr>
          <p:cNvPr id="38" name="文本框 15">
            <a:extLst>
              <a:ext uri="{FF2B5EF4-FFF2-40B4-BE49-F238E27FC236}">
                <a16:creationId xmlns:a16="http://schemas.microsoft.com/office/drawing/2014/main" id="{037D549B-A5FC-4660-86E2-FA45C68859DA}"/>
              </a:ext>
            </a:extLst>
          </p:cNvPr>
          <p:cNvSpPr>
            <a:spLocks noGrp="1"/>
          </p:cNvSpPr>
          <p:nvPr/>
        </p:nvSpPr>
        <p:spPr>
          <a:xfrm>
            <a:off x="12290471" y="2625389"/>
            <a:ext cx="437043" cy="123111"/>
          </a:xfrm>
          <a:prstGeom prst="rect">
            <a:avLst/>
          </a:prstGeom>
          <a:noFill/>
        </p:spPr>
        <p:txBody>
          <a:bodyPr wrap="square" lIns="0" tIns="0" rIns="0" bIns="0" anchor="b">
            <a:spAutoFit/>
          </a:bodyPr>
          <a:lstStyle/>
          <a:p>
            <a:pPr algn="l">
              <a:lnSpc>
                <a:spcPct val="100000"/>
              </a:lnSpc>
              <a:buNone/>
            </a:pPr>
            <a:r>
              <a:rPr sz="800" b="0" i="0">
                <a:solidFill>
                  <a:schemeClr val="tx1"/>
                </a:solidFill>
                <a:latin typeface="微软雅黑"/>
                <a:ea typeface="微软雅黑"/>
                <a:cs typeface="微软雅黑"/>
              </a:rPr>
              <a:t>公司色</a:t>
            </a:r>
          </a:p>
        </p:txBody>
      </p:sp>
      <p:sp>
        <p:nvSpPr>
          <p:cNvPr id="39" name="矩形 13">
            <a:extLst>
              <a:ext uri="{FF2B5EF4-FFF2-40B4-BE49-F238E27FC236}">
                <a16:creationId xmlns:a16="http://schemas.microsoft.com/office/drawing/2014/main" id="{F7B7D405-EB99-4C75-B7BE-7CDA524E1E31}"/>
              </a:ext>
            </a:extLst>
          </p:cNvPr>
          <p:cNvSpPr>
            <a:spLocks noGrp="1"/>
          </p:cNvSpPr>
          <p:nvPr/>
        </p:nvSpPr>
        <p:spPr>
          <a:xfrm>
            <a:off x="12295714" y="3207062"/>
            <a:ext cx="476160" cy="399690"/>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chemeClr val="tx2"/>
                </a:solidFill>
                <a:latin typeface="Arial"/>
                <a:ea typeface="Arial"/>
                <a:cs typeface="Arial"/>
              </a:rPr>
              <a:t>PANTONE 186C</a:t>
            </a:r>
          </a:p>
          <a:p>
            <a:pPr algn="ctr">
              <a:lnSpc>
                <a:spcPts val="620"/>
              </a:lnSpc>
              <a:buNone/>
            </a:pPr>
            <a:r>
              <a:rPr sz="500" b="1">
                <a:solidFill>
                  <a:schemeClr val="tx2"/>
                </a:solidFill>
                <a:latin typeface="Arial"/>
                <a:ea typeface="Arial"/>
                <a:cs typeface="Arial"/>
              </a:rPr>
              <a:t>RGB</a:t>
            </a:r>
            <a:br/>
            <a:r>
              <a:rPr sz="500" b="1">
                <a:solidFill>
                  <a:schemeClr val="tx2"/>
                </a:solidFill>
                <a:latin typeface="Arial"/>
                <a:ea typeface="Arial"/>
                <a:cs typeface="Arial"/>
              </a:rPr>
              <a:t>200/16/46  </a:t>
            </a:r>
          </a:p>
        </p:txBody>
      </p:sp>
      <p:sp>
        <p:nvSpPr>
          <p:cNvPr id="40" name="矩形 13">
            <a:extLst>
              <a:ext uri="{FF2B5EF4-FFF2-40B4-BE49-F238E27FC236}">
                <a16:creationId xmlns:a16="http://schemas.microsoft.com/office/drawing/2014/main" id="{6ED43D0E-C930-43A2-B347-B70BCC1BA1D1}"/>
              </a:ext>
            </a:extLst>
          </p:cNvPr>
          <p:cNvSpPr>
            <a:spLocks noGrp="1"/>
          </p:cNvSpPr>
          <p:nvPr/>
        </p:nvSpPr>
        <p:spPr>
          <a:xfrm>
            <a:off x="12296655" y="4258587"/>
            <a:ext cx="476160" cy="399690"/>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br/>
            <a:r>
              <a:rPr sz="500" b="1">
                <a:solidFill>
                  <a:srgbClr val="FFFFFF"/>
                </a:solidFill>
                <a:latin typeface="Arial"/>
                <a:ea typeface="Arial"/>
                <a:cs typeface="Arial"/>
              </a:rPr>
              <a:t>127/0/1</a:t>
            </a:r>
          </a:p>
        </p:txBody>
      </p:sp>
      <p:sp>
        <p:nvSpPr>
          <p:cNvPr id="41" name="矩形 13">
            <a:extLst>
              <a:ext uri="{FF2B5EF4-FFF2-40B4-BE49-F238E27FC236}">
                <a16:creationId xmlns:a16="http://schemas.microsoft.com/office/drawing/2014/main" id="{444A2FB3-8C89-4EB4-8197-710253A863DE}"/>
              </a:ext>
            </a:extLst>
          </p:cNvPr>
          <p:cNvSpPr>
            <a:spLocks noGrp="1"/>
          </p:cNvSpPr>
          <p:nvPr/>
        </p:nvSpPr>
        <p:spPr>
          <a:xfrm>
            <a:off x="12296655" y="5142249"/>
            <a:ext cx="476160" cy="399690"/>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br/>
            <a:r>
              <a:rPr sz="500" b="1">
                <a:solidFill>
                  <a:srgbClr val="FFFFFF"/>
                </a:solidFill>
                <a:latin typeface="Arial"/>
                <a:ea typeface="Arial"/>
                <a:cs typeface="Arial"/>
              </a:rPr>
              <a:t>52/200/0</a:t>
            </a:r>
          </a:p>
        </p:txBody>
      </p:sp>
      <p:sp>
        <p:nvSpPr>
          <p:cNvPr id="42" name="矩形 13">
            <a:extLst>
              <a:ext uri="{FF2B5EF4-FFF2-40B4-BE49-F238E27FC236}">
                <a16:creationId xmlns:a16="http://schemas.microsoft.com/office/drawing/2014/main" id="{45540E42-2861-47A6-AEC6-0E1F819BFB90}"/>
              </a:ext>
            </a:extLst>
          </p:cNvPr>
          <p:cNvSpPr>
            <a:spLocks noGrp="1"/>
          </p:cNvSpPr>
          <p:nvPr/>
        </p:nvSpPr>
        <p:spPr>
          <a:xfrm>
            <a:off x="12296655" y="6021344"/>
            <a:ext cx="476160" cy="399690"/>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 </a:t>
            </a:r>
            <a:br/>
            <a:r>
              <a:rPr sz="500" b="1">
                <a:solidFill>
                  <a:srgbClr val="FFFFFF"/>
                </a:solidFill>
                <a:latin typeface="Arial"/>
                <a:ea typeface="Arial"/>
                <a:cs typeface="Arial"/>
              </a:rPr>
              <a:t>48/181/197</a:t>
            </a:r>
          </a:p>
        </p:txBody>
      </p:sp>
      <p:sp>
        <p:nvSpPr>
          <p:cNvPr id="43" name="矩形 13">
            <a:extLst>
              <a:ext uri="{FF2B5EF4-FFF2-40B4-BE49-F238E27FC236}">
                <a16:creationId xmlns:a16="http://schemas.microsoft.com/office/drawing/2014/main" id="{79A41B48-D9B7-49F2-98E7-57362DE258A9}"/>
              </a:ext>
            </a:extLst>
          </p:cNvPr>
          <p:cNvSpPr>
            <a:spLocks noGrp="1"/>
          </p:cNvSpPr>
          <p:nvPr/>
        </p:nvSpPr>
        <p:spPr>
          <a:xfrm>
            <a:off x="12802195" y="5582366"/>
            <a:ext cx="476160" cy="399690"/>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br/>
            <a:r>
              <a:rPr sz="500" b="1">
                <a:solidFill>
                  <a:srgbClr val="FFFFFF"/>
                </a:solidFill>
                <a:latin typeface="Arial"/>
                <a:ea typeface="Arial"/>
                <a:cs typeface="Arial"/>
              </a:rPr>
              <a:t>129/193/95</a:t>
            </a:r>
          </a:p>
        </p:txBody>
      </p:sp>
      <p:sp>
        <p:nvSpPr>
          <p:cNvPr id="44" name="矩形 13">
            <a:extLst>
              <a:ext uri="{FF2B5EF4-FFF2-40B4-BE49-F238E27FC236}">
                <a16:creationId xmlns:a16="http://schemas.microsoft.com/office/drawing/2014/main" id="{FD5EBF3C-C96F-4D79-9F29-01CC3C018A58}"/>
              </a:ext>
            </a:extLst>
          </p:cNvPr>
          <p:cNvSpPr>
            <a:spLocks noGrp="1"/>
          </p:cNvSpPr>
          <p:nvPr/>
        </p:nvSpPr>
        <p:spPr>
          <a:xfrm>
            <a:off x="12800849" y="5142249"/>
            <a:ext cx="476160" cy="399690"/>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br/>
            <a:r>
              <a:rPr sz="500" b="1">
                <a:solidFill>
                  <a:srgbClr val="FFFFFF"/>
                </a:solidFill>
                <a:latin typeface="Arial"/>
                <a:ea typeface="Arial"/>
                <a:cs typeface="Arial"/>
              </a:rPr>
              <a:t>253/211/81</a:t>
            </a:r>
          </a:p>
        </p:txBody>
      </p:sp>
      <p:sp>
        <p:nvSpPr>
          <p:cNvPr id="45" name="矩形 13">
            <a:extLst>
              <a:ext uri="{FF2B5EF4-FFF2-40B4-BE49-F238E27FC236}">
                <a16:creationId xmlns:a16="http://schemas.microsoft.com/office/drawing/2014/main" id="{67FB1CDA-D7A8-473D-9571-4D5C8D0154E7}"/>
              </a:ext>
            </a:extLst>
          </p:cNvPr>
          <p:cNvSpPr>
            <a:spLocks noGrp="1"/>
          </p:cNvSpPr>
          <p:nvPr/>
        </p:nvSpPr>
        <p:spPr>
          <a:xfrm>
            <a:off x="12800849" y="6021344"/>
            <a:ext cx="476160" cy="399690"/>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 </a:t>
            </a:r>
            <a:br/>
            <a:r>
              <a:rPr sz="500" b="1">
                <a:solidFill>
                  <a:srgbClr val="FFFFFF"/>
                </a:solidFill>
                <a:latin typeface="Arial"/>
                <a:ea typeface="Arial"/>
                <a:cs typeface="Arial"/>
              </a:rPr>
              <a:t>86/196/210</a:t>
            </a:r>
          </a:p>
        </p:txBody>
      </p:sp>
      <p:sp>
        <p:nvSpPr>
          <p:cNvPr id="46" name="矩形 13">
            <a:extLst>
              <a:ext uri="{FF2B5EF4-FFF2-40B4-BE49-F238E27FC236}">
                <a16:creationId xmlns:a16="http://schemas.microsoft.com/office/drawing/2014/main" id="{BC087DD4-F4C1-4473-A3AF-F7BE5421307E}"/>
              </a:ext>
            </a:extLst>
          </p:cNvPr>
          <p:cNvSpPr>
            <a:spLocks noGrp="1"/>
          </p:cNvSpPr>
          <p:nvPr/>
        </p:nvSpPr>
        <p:spPr>
          <a:xfrm>
            <a:off x="12797222" y="2766050"/>
            <a:ext cx="476160" cy="399690"/>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 </a:t>
            </a:r>
            <a:br/>
            <a:r>
              <a:rPr sz="500" b="1">
                <a:solidFill>
                  <a:srgbClr val="FFFFFF"/>
                </a:solidFill>
                <a:latin typeface="Arial"/>
                <a:ea typeface="Arial"/>
                <a:cs typeface="Arial"/>
              </a:rPr>
              <a:t>211/57/65</a:t>
            </a:r>
          </a:p>
        </p:txBody>
      </p:sp>
      <p:sp>
        <p:nvSpPr>
          <p:cNvPr id="47" name="矩形 13">
            <a:extLst>
              <a:ext uri="{FF2B5EF4-FFF2-40B4-BE49-F238E27FC236}">
                <a16:creationId xmlns:a16="http://schemas.microsoft.com/office/drawing/2014/main" id="{2F93AC1A-8114-42A1-80D4-A6E3C8E9E3AA}"/>
              </a:ext>
            </a:extLst>
          </p:cNvPr>
          <p:cNvSpPr>
            <a:spLocks noGrp="1"/>
          </p:cNvSpPr>
          <p:nvPr/>
        </p:nvSpPr>
        <p:spPr>
          <a:xfrm>
            <a:off x="12796836" y="3207062"/>
            <a:ext cx="476160" cy="399690"/>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 </a:t>
            </a:r>
          </a:p>
          <a:p>
            <a:pPr algn="ctr">
              <a:lnSpc>
                <a:spcPts val="620"/>
              </a:lnSpc>
              <a:buNone/>
            </a:pPr>
            <a:r>
              <a:rPr sz="500" b="1">
                <a:solidFill>
                  <a:srgbClr val="FFFFFF"/>
                </a:solidFill>
                <a:latin typeface="Arial"/>
                <a:ea typeface="Arial"/>
                <a:cs typeface="Arial"/>
              </a:rPr>
              <a:t>211/56/89</a:t>
            </a:r>
          </a:p>
        </p:txBody>
      </p:sp>
      <p:sp>
        <p:nvSpPr>
          <p:cNvPr id="48" name="矩形 13">
            <a:extLst>
              <a:ext uri="{FF2B5EF4-FFF2-40B4-BE49-F238E27FC236}">
                <a16:creationId xmlns:a16="http://schemas.microsoft.com/office/drawing/2014/main" id="{363669BF-C24F-45FF-9774-B5F6542F7697}"/>
              </a:ext>
            </a:extLst>
          </p:cNvPr>
          <p:cNvSpPr>
            <a:spLocks noGrp="1"/>
          </p:cNvSpPr>
          <p:nvPr/>
        </p:nvSpPr>
        <p:spPr>
          <a:xfrm>
            <a:off x="13284516" y="3818346"/>
            <a:ext cx="476160" cy="399690"/>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221/128/170</a:t>
            </a:r>
          </a:p>
        </p:txBody>
      </p:sp>
      <p:sp>
        <p:nvSpPr>
          <p:cNvPr id="49" name="矩形 13">
            <a:extLst>
              <a:ext uri="{FF2B5EF4-FFF2-40B4-BE49-F238E27FC236}">
                <a16:creationId xmlns:a16="http://schemas.microsoft.com/office/drawing/2014/main" id="{E196FFF3-4704-493E-85DF-A3AB404F9B17}"/>
              </a:ext>
            </a:extLst>
          </p:cNvPr>
          <p:cNvSpPr>
            <a:spLocks noGrp="1"/>
          </p:cNvSpPr>
          <p:nvPr/>
        </p:nvSpPr>
        <p:spPr>
          <a:xfrm>
            <a:off x="13284516" y="4263030"/>
            <a:ext cx="476160" cy="399690"/>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a:lnSpc>
                <a:spcPts val="620"/>
              </a:lnSpc>
              <a:spcBef>
                <a:spcPts val="0"/>
              </a:spcBef>
              <a:spcAft>
                <a:spcPts val="0"/>
              </a:spcAft>
              <a:buClrTx/>
              <a:buSzTx/>
              <a:buFontTx/>
              <a:buNone/>
            </a:pPr>
            <a:r>
              <a:rPr sz="500" b="1">
                <a:solidFill>
                  <a:srgbClr val="595757"/>
                </a:solidFill>
                <a:latin typeface="Arial"/>
                <a:ea typeface="Arial"/>
                <a:cs typeface="Arial"/>
              </a:rPr>
              <a:t>RGB 191/128/130</a:t>
            </a:r>
          </a:p>
        </p:txBody>
      </p:sp>
      <p:sp>
        <p:nvSpPr>
          <p:cNvPr id="50" name="矩形 13">
            <a:extLst>
              <a:ext uri="{FF2B5EF4-FFF2-40B4-BE49-F238E27FC236}">
                <a16:creationId xmlns:a16="http://schemas.microsoft.com/office/drawing/2014/main" id="{E64421D2-BCEE-42AC-B45F-DC4BAB00981C}"/>
              </a:ext>
            </a:extLst>
          </p:cNvPr>
          <p:cNvSpPr>
            <a:spLocks noGrp="1"/>
          </p:cNvSpPr>
          <p:nvPr/>
        </p:nvSpPr>
        <p:spPr>
          <a:xfrm>
            <a:off x="13284516" y="4709701"/>
            <a:ext cx="476160" cy="399690"/>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246/183/140</a:t>
            </a:r>
          </a:p>
        </p:txBody>
      </p:sp>
      <p:sp>
        <p:nvSpPr>
          <p:cNvPr id="51" name="矩形 13">
            <a:extLst>
              <a:ext uri="{FF2B5EF4-FFF2-40B4-BE49-F238E27FC236}">
                <a16:creationId xmlns:a16="http://schemas.microsoft.com/office/drawing/2014/main" id="{51AD1FD1-D91A-4262-B97B-B67167C1291D}"/>
              </a:ext>
            </a:extLst>
          </p:cNvPr>
          <p:cNvSpPr>
            <a:spLocks noGrp="1"/>
          </p:cNvSpPr>
          <p:nvPr/>
        </p:nvSpPr>
        <p:spPr>
          <a:xfrm>
            <a:off x="13290430" y="5582366"/>
            <a:ext cx="476160" cy="399690"/>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176/216/156</a:t>
            </a:r>
          </a:p>
        </p:txBody>
      </p:sp>
      <p:sp>
        <p:nvSpPr>
          <p:cNvPr id="52" name="矩形 13">
            <a:extLst>
              <a:ext uri="{FF2B5EF4-FFF2-40B4-BE49-F238E27FC236}">
                <a16:creationId xmlns:a16="http://schemas.microsoft.com/office/drawing/2014/main" id="{F42A41CD-35A8-4520-81E1-76E860763A4B}"/>
              </a:ext>
            </a:extLst>
          </p:cNvPr>
          <p:cNvSpPr>
            <a:spLocks noGrp="1"/>
          </p:cNvSpPr>
          <p:nvPr/>
        </p:nvSpPr>
        <p:spPr>
          <a:xfrm>
            <a:off x="13289084" y="5142249"/>
            <a:ext cx="476160" cy="399690"/>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253/227/181</a:t>
            </a:r>
          </a:p>
        </p:txBody>
      </p:sp>
      <p:sp>
        <p:nvSpPr>
          <p:cNvPr id="53" name="矩形 13">
            <a:extLst>
              <a:ext uri="{FF2B5EF4-FFF2-40B4-BE49-F238E27FC236}">
                <a16:creationId xmlns:a16="http://schemas.microsoft.com/office/drawing/2014/main" id="{21EFC88B-64D2-4580-9E3F-40DA0956BD96}"/>
              </a:ext>
            </a:extLst>
          </p:cNvPr>
          <p:cNvSpPr>
            <a:spLocks noGrp="1"/>
          </p:cNvSpPr>
          <p:nvPr/>
        </p:nvSpPr>
        <p:spPr>
          <a:xfrm>
            <a:off x="13289084" y="6021344"/>
            <a:ext cx="476160" cy="399690"/>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148/218/226</a:t>
            </a:r>
          </a:p>
        </p:txBody>
      </p:sp>
      <p:sp>
        <p:nvSpPr>
          <p:cNvPr id="54" name="矩形 13">
            <a:extLst>
              <a:ext uri="{FF2B5EF4-FFF2-40B4-BE49-F238E27FC236}">
                <a16:creationId xmlns:a16="http://schemas.microsoft.com/office/drawing/2014/main" id="{283DA8EA-1476-4D7A-B578-88B03450626A}"/>
              </a:ext>
            </a:extLst>
          </p:cNvPr>
          <p:cNvSpPr>
            <a:spLocks noGrp="1"/>
          </p:cNvSpPr>
          <p:nvPr/>
        </p:nvSpPr>
        <p:spPr>
          <a:xfrm>
            <a:off x="13285457" y="2766050"/>
            <a:ext cx="476160" cy="399690"/>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226/129/137</a:t>
            </a:r>
          </a:p>
        </p:txBody>
      </p:sp>
      <p:sp>
        <p:nvSpPr>
          <p:cNvPr id="55" name="矩形 13">
            <a:extLst>
              <a:ext uri="{FF2B5EF4-FFF2-40B4-BE49-F238E27FC236}">
                <a16:creationId xmlns:a16="http://schemas.microsoft.com/office/drawing/2014/main" id="{C5759AE4-0E80-4C96-9695-3AE426EEC3C1}"/>
              </a:ext>
            </a:extLst>
          </p:cNvPr>
          <p:cNvSpPr>
            <a:spLocks noGrp="1"/>
          </p:cNvSpPr>
          <p:nvPr/>
        </p:nvSpPr>
        <p:spPr>
          <a:xfrm>
            <a:off x="13285071" y="3207062"/>
            <a:ext cx="476160" cy="399690"/>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226/129/152</a:t>
            </a:r>
          </a:p>
        </p:txBody>
      </p:sp>
      <p:sp>
        <p:nvSpPr>
          <p:cNvPr id="56" name="矩形 13">
            <a:extLst>
              <a:ext uri="{FF2B5EF4-FFF2-40B4-BE49-F238E27FC236}">
                <a16:creationId xmlns:a16="http://schemas.microsoft.com/office/drawing/2014/main" id="{AEE3D0BC-C27D-4BF5-B615-91D066ECE435}"/>
              </a:ext>
            </a:extLst>
          </p:cNvPr>
          <p:cNvSpPr>
            <a:spLocks noGrp="1"/>
          </p:cNvSpPr>
          <p:nvPr/>
        </p:nvSpPr>
        <p:spPr>
          <a:xfrm>
            <a:off x="13771720" y="3818346"/>
            <a:ext cx="476160" cy="399690"/>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235/179/204</a:t>
            </a:r>
          </a:p>
        </p:txBody>
      </p:sp>
      <p:sp>
        <p:nvSpPr>
          <p:cNvPr id="57" name="矩形 13">
            <a:extLst>
              <a:ext uri="{FF2B5EF4-FFF2-40B4-BE49-F238E27FC236}">
                <a16:creationId xmlns:a16="http://schemas.microsoft.com/office/drawing/2014/main" id="{4D623CC7-4165-492C-9D35-47FB77903511}"/>
              </a:ext>
            </a:extLst>
          </p:cNvPr>
          <p:cNvSpPr>
            <a:spLocks noGrp="1"/>
          </p:cNvSpPr>
          <p:nvPr/>
        </p:nvSpPr>
        <p:spPr>
          <a:xfrm>
            <a:off x="13771720" y="4263030"/>
            <a:ext cx="476160" cy="399690"/>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a:lnSpc>
                <a:spcPts val="620"/>
              </a:lnSpc>
              <a:spcBef>
                <a:spcPts val="0"/>
              </a:spcBef>
              <a:spcAft>
                <a:spcPts val="0"/>
              </a:spcAft>
              <a:buClrTx/>
              <a:buSzTx/>
              <a:buFontTx/>
              <a:buNone/>
            </a:pPr>
            <a:r>
              <a:rPr sz="500" b="1">
                <a:solidFill>
                  <a:srgbClr val="595757"/>
                </a:solidFill>
                <a:latin typeface="Arial"/>
                <a:ea typeface="Arial"/>
                <a:cs typeface="Arial"/>
              </a:rPr>
              <a:t>RGB 216/179/179</a:t>
            </a:r>
          </a:p>
        </p:txBody>
      </p:sp>
      <p:sp>
        <p:nvSpPr>
          <p:cNvPr id="58" name="矩形 13">
            <a:extLst>
              <a:ext uri="{FF2B5EF4-FFF2-40B4-BE49-F238E27FC236}">
                <a16:creationId xmlns:a16="http://schemas.microsoft.com/office/drawing/2014/main" id="{1BB9177B-4A8E-4F90-A0E0-B31A54856FEF}"/>
              </a:ext>
            </a:extLst>
          </p:cNvPr>
          <p:cNvSpPr>
            <a:spLocks noGrp="1"/>
          </p:cNvSpPr>
          <p:nvPr/>
        </p:nvSpPr>
        <p:spPr>
          <a:xfrm>
            <a:off x="13771720" y="4709701"/>
            <a:ext cx="476160" cy="399690"/>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250/211/187</a:t>
            </a:r>
          </a:p>
        </p:txBody>
      </p:sp>
      <p:sp>
        <p:nvSpPr>
          <p:cNvPr id="59" name="矩形 13">
            <a:extLst>
              <a:ext uri="{FF2B5EF4-FFF2-40B4-BE49-F238E27FC236}">
                <a16:creationId xmlns:a16="http://schemas.microsoft.com/office/drawing/2014/main" id="{F116EE12-3814-4DB2-AC48-87FF5C5AA567}"/>
              </a:ext>
            </a:extLst>
          </p:cNvPr>
          <p:cNvSpPr>
            <a:spLocks noGrp="1"/>
          </p:cNvSpPr>
          <p:nvPr/>
        </p:nvSpPr>
        <p:spPr>
          <a:xfrm>
            <a:off x="13777634" y="5582366"/>
            <a:ext cx="476160" cy="399690"/>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208/232/196</a:t>
            </a:r>
          </a:p>
        </p:txBody>
      </p:sp>
      <p:sp>
        <p:nvSpPr>
          <p:cNvPr id="60" name="矩形 13">
            <a:extLst>
              <a:ext uri="{FF2B5EF4-FFF2-40B4-BE49-F238E27FC236}">
                <a16:creationId xmlns:a16="http://schemas.microsoft.com/office/drawing/2014/main" id="{68846F8A-A7DA-4207-89BF-70D541E871F1}"/>
              </a:ext>
            </a:extLst>
          </p:cNvPr>
          <p:cNvSpPr>
            <a:spLocks noGrp="1"/>
          </p:cNvSpPr>
          <p:nvPr/>
        </p:nvSpPr>
        <p:spPr>
          <a:xfrm>
            <a:off x="13776288" y="5142249"/>
            <a:ext cx="476160" cy="399690"/>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254/238/193</a:t>
            </a:r>
          </a:p>
        </p:txBody>
      </p:sp>
      <p:sp>
        <p:nvSpPr>
          <p:cNvPr id="61" name="矩形 13">
            <a:extLst>
              <a:ext uri="{FF2B5EF4-FFF2-40B4-BE49-F238E27FC236}">
                <a16:creationId xmlns:a16="http://schemas.microsoft.com/office/drawing/2014/main" id="{D03171B1-3BC4-456B-8EDB-401AFB9EE84E}"/>
              </a:ext>
            </a:extLst>
          </p:cNvPr>
          <p:cNvSpPr>
            <a:spLocks noGrp="1"/>
          </p:cNvSpPr>
          <p:nvPr/>
        </p:nvSpPr>
        <p:spPr>
          <a:xfrm>
            <a:off x="13776288" y="6021344"/>
            <a:ext cx="476160" cy="3996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a:t>
            </a:r>
            <a:br/>
            <a:r>
              <a:rPr sz="500" b="1">
                <a:solidFill>
                  <a:srgbClr val="595757"/>
                </a:solidFill>
                <a:latin typeface="Arial"/>
                <a:ea typeface="Arial"/>
                <a:cs typeface="Arial"/>
              </a:rPr>
              <a:t>190/23/238</a:t>
            </a:r>
          </a:p>
        </p:txBody>
      </p:sp>
      <p:sp>
        <p:nvSpPr>
          <p:cNvPr id="62" name="矩形 13">
            <a:extLst>
              <a:ext uri="{FF2B5EF4-FFF2-40B4-BE49-F238E27FC236}">
                <a16:creationId xmlns:a16="http://schemas.microsoft.com/office/drawing/2014/main" id="{39F367F3-617F-49C9-AF07-2F54931DF847}"/>
              </a:ext>
            </a:extLst>
          </p:cNvPr>
          <p:cNvSpPr>
            <a:spLocks noGrp="1"/>
          </p:cNvSpPr>
          <p:nvPr/>
        </p:nvSpPr>
        <p:spPr>
          <a:xfrm>
            <a:off x="13772661" y="2766050"/>
            <a:ext cx="476160" cy="399690"/>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239/178/184</a:t>
            </a:r>
          </a:p>
        </p:txBody>
      </p:sp>
      <p:sp>
        <p:nvSpPr>
          <p:cNvPr id="63" name="矩形 13">
            <a:extLst>
              <a:ext uri="{FF2B5EF4-FFF2-40B4-BE49-F238E27FC236}">
                <a16:creationId xmlns:a16="http://schemas.microsoft.com/office/drawing/2014/main" id="{7479EE3A-3FB9-4079-A9DF-0FB46DDC0C8D}"/>
              </a:ext>
            </a:extLst>
          </p:cNvPr>
          <p:cNvSpPr>
            <a:spLocks noGrp="1"/>
          </p:cNvSpPr>
          <p:nvPr/>
        </p:nvSpPr>
        <p:spPr>
          <a:xfrm>
            <a:off x="13772276" y="3207062"/>
            <a:ext cx="476160" cy="399690"/>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238/179/193</a:t>
            </a:r>
          </a:p>
        </p:txBody>
      </p:sp>
      <p:sp>
        <p:nvSpPr>
          <p:cNvPr id="64" name="矩形 13">
            <a:extLst>
              <a:ext uri="{FF2B5EF4-FFF2-40B4-BE49-F238E27FC236}">
                <a16:creationId xmlns:a16="http://schemas.microsoft.com/office/drawing/2014/main" id="{455517E5-029A-4CEF-B5AA-62F422F43BEB}"/>
              </a:ext>
            </a:extLst>
          </p:cNvPr>
          <p:cNvSpPr>
            <a:spLocks noGrp="1"/>
          </p:cNvSpPr>
          <p:nvPr/>
        </p:nvSpPr>
        <p:spPr>
          <a:xfrm>
            <a:off x="12296658" y="6459212"/>
            <a:ext cx="308961" cy="399690"/>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 </a:t>
            </a:r>
            <a:br/>
            <a:r>
              <a:rPr sz="500" b="1">
                <a:solidFill>
                  <a:srgbClr val="FFFFFF"/>
                </a:solidFill>
                <a:latin typeface="Arial"/>
                <a:ea typeface="Arial"/>
                <a:cs typeface="Arial"/>
              </a:rPr>
              <a:t>35/24/21</a:t>
            </a:r>
          </a:p>
        </p:txBody>
      </p:sp>
      <p:sp>
        <p:nvSpPr>
          <p:cNvPr id="65" name="矩形 13">
            <a:extLst>
              <a:ext uri="{FF2B5EF4-FFF2-40B4-BE49-F238E27FC236}">
                <a16:creationId xmlns:a16="http://schemas.microsoft.com/office/drawing/2014/main" id="{05242E8A-B815-4038-8771-E341F20FB12E}"/>
              </a:ext>
            </a:extLst>
          </p:cNvPr>
          <p:cNvSpPr>
            <a:spLocks noGrp="1"/>
          </p:cNvSpPr>
          <p:nvPr/>
        </p:nvSpPr>
        <p:spPr>
          <a:xfrm>
            <a:off x="12625398" y="6459212"/>
            <a:ext cx="308961" cy="399690"/>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 </a:t>
            </a:r>
          </a:p>
          <a:p>
            <a:pPr algn="ctr">
              <a:lnSpc>
                <a:spcPts val="620"/>
              </a:lnSpc>
              <a:buNone/>
            </a:pPr>
            <a:r>
              <a:rPr sz="500" b="1">
                <a:solidFill>
                  <a:srgbClr val="FFFFFF"/>
                </a:solidFill>
                <a:latin typeface="Arial"/>
                <a:ea typeface="Arial"/>
                <a:cs typeface="Arial"/>
              </a:rPr>
              <a:t>89/87/87</a:t>
            </a:r>
          </a:p>
        </p:txBody>
      </p:sp>
      <p:sp>
        <p:nvSpPr>
          <p:cNvPr id="66" name="矩形 13">
            <a:extLst>
              <a:ext uri="{FF2B5EF4-FFF2-40B4-BE49-F238E27FC236}">
                <a16:creationId xmlns:a16="http://schemas.microsoft.com/office/drawing/2014/main" id="{3B425899-5E3A-4E47-BFC5-D9812FE02595}"/>
              </a:ext>
            </a:extLst>
          </p:cNvPr>
          <p:cNvSpPr>
            <a:spLocks noGrp="1"/>
          </p:cNvSpPr>
          <p:nvPr/>
        </p:nvSpPr>
        <p:spPr>
          <a:xfrm>
            <a:off x="12956084" y="6459212"/>
            <a:ext cx="308961" cy="399690"/>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p>
          <a:p>
            <a:pPr algn="ctr">
              <a:lnSpc>
                <a:spcPts val="620"/>
              </a:lnSpc>
              <a:buNone/>
            </a:pPr>
            <a:r>
              <a:rPr sz="500" b="1">
                <a:solidFill>
                  <a:srgbClr val="FFFFFF"/>
                </a:solidFill>
                <a:latin typeface="Arial"/>
                <a:ea typeface="Arial"/>
                <a:cs typeface="Arial"/>
              </a:rPr>
              <a:t>137/137/</a:t>
            </a:r>
            <a:br/>
            <a:r>
              <a:rPr sz="500" b="1">
                <a:solidFill>
                  <a:srgbClr val="FFFFFF"/>
                </a:solidFill>
                <a:latin typeface="Arial"/>
                <a:ea typeface="Arial"/>
                <a:cs typeface="Arial"/>
              </a:rPr>
              <a:t>137</a:t>
            </a:r>
          </a:p>
        </p:txBody>
      </p:sp>
      <p:sp>
        <p:nvSpPr>
          <p:cNvPr id="67" name="矩形 13">
            <a:extLst>
              <a:ext uri="{FF2B5EF4-FFF2-40B4-BE49-F238E27FC236}">
                <a16:creationId xmlns:a16="http://schemas.microsoft.com/office/drawing/2014/main" id="{969A073D-6717-44C8-A5EA-F9D617D88377}"/>
              </a:ext>
            </a:extLst>
          </p:cNvPr>
          <p:cNvSpPr>
            <a:spLocks noGrp="1"/>
          </p:cNvSpPr>
          <p:nvPr/>
        </p:nvSpPr>
        <p:spPr>
          <a:xfrm>
            <a:off x="13285739" y="6459212"/>
            <a:ext cx="308961" cy="3996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FFFFFF"/>
                </a:solidFill>
                <a:latin typeface="Arial"/>
                <a:ea typeface="Arial"/>
                <a:cs typeface="Arial"/>
              </a:rPr>
              <a:t>RGB</a:t>
            </a:r>
          </a:p>
          <a:p>
            <a:pPr algn="ctr">
              <a:lnSpc>
                <a:spcPts val="620"/>
              </a:lnSpc>
              <a:buNone/>
            </a:pPr>
            <a:r>
              <a:rPr sz="500" b="1">
                <a:solidFill>
                  <a:srgbClr val="FFFFFF"/>
                </a:solidFill>
                <a:latin typeface="Arial"/>
                <a:ea typeface="Arial"/>
                <a:cs typeface="Arial"/>
              </a:rPr>
              <a:t>181/181/</a:t>
            </a:r>
            <a:br/>
            <a:r>
              <a:rPr sz="500" b="1">
                <a:solidFill>
                  <a:srgbClr val="FFFFFF"/>
                </a:solidFill>
                <a:latin typeface="Arial"/>
                <a:ea typeface="Arial"/>
                <a:cs typeface="Arial"/>
              </a:rPr>
              <a:t>181</a:t>
            </a:r>
          </a:p>
        </p:txBody>
      </p:sp>
      <p:sp>
        <p:nvSpPr>
          <p:cNvPr id="68" name="矩形 13">
            <a:extLst>
              <a:ext uri="{FF2B5EF4-FFF2-40B4-BE49-F238E27FC236}">
                <a16:creationId xmlns:a16="http://schemas.microsoft.com/office/drawing/2014/main" id="{5F8F4B61-F4B7-43A5-B238-78406181DEE2}"/>
              </a:ext>
            </a:extLst>
          </p:cNvPr>
          <p:cNvSpPr>
            <a:spLocks noGrp="1"/>
          </p:cNvSpPr>
          <p:nvPr/>
        </p:nvSpPr>
        <p:spPr>
          <a:xfrm>
            <a:off x="13612571" y="6459212"/>
            <a:ext cx="308961" cy="399690"/>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 221/221/</a:t>
            </a:r>
            <a:br/>
            <a:r>
              <a:rPr sz="500" b="1">
                <a:solidFill>
                  <a:srgbClr val="595757"/>
                </a:solidFill>
                <a:latin typeface="Arial"/>
                <a:ea typeface="Arial"/>
                <a:cs typeface="Arial"/>
              </a:rPr>
              <a:t>221</a:t>
            </a:r>
          </a:p>
        </p:txBody>
      </p:sp>
      <p:sp>
        <p:nvSpPr>
          <p:cNvPr id="69" name="矩形 13">
            <a:extLst>
              <a:ext uri="{FF2B5EF4-FFF2-40B4-BE49-F238E27FC236}">
                <a16:creationId xmlns:a16="http://schemas.microsoft.com/office/drawing/2014/main" id="{3E3ABC82-5DDD-49F2-818E-E7EA6D50D74E}"/>
              </a:ext>
            </a:extLst>
          </p:cNvPr>
          <p:cNvSpPr>
            <a:spLocks noGrp="1"/>
          </p:cNvSpPr>
          <p:nvPr/>
        </p:nvSpPr>
        <p:spPr>
          <a:xfrm>
            <a:off x="13938646" y="6459212"/>
            <a:ext cx="308961" cy="399690"/>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620"/>
              </a:lnSpc>
              <a:buNone/>
            </a:pPr>
            <a:r>
              <a:rPr sz="500" b="1">
                <a:solidFill>
                  <a:srgbClr val="595757"/>
                </a:solidFill>
                <a:latin typeface="Arial"/>
                <a:ea typeface="Arial"/>
                <a:cs typeface="Arial"/>
              </a:rPr>
              <a:t>RGB</a:t>
            </a:r>
          </a:p>
          <a:p>
            <a:pPr algn="ctr">
              <a:lnSpc>
                <a:spcPts val="620"/>
              </a:lnSpc>
              <a:buNone/>
            </a:pPr>
            <a:r>
              <a:rPr sz="500" b="1">
                <a:solidFill>
                  <a:srgbClr val="595757"/>
                </a:solidFill>
                <a:latin typeface="Arial"/>
                <a:ea typeface="Arial"/>
                <a:cs typeface="Arial"/>
              </a:rPr>
              <a:t>255/255/</a:t>
            </a:r>
            <a:br/>
            <a:r>
              <a:rPr sz="500" b="1">
                <a:solidFill>
                  <a:srgbClr val="595757"/>
                </a:solidFill>
                <a:latin typeface="Arial"/>
                <a:ea typeface="Arial"/>
                <a:cs typeface="Arial"/>
              </a:rPr>
              <a:t>255</a:t>
            </a:r>
          </a:p>
        </p:txBody>
      </p:sp>
      <p:sp>
        <p:nvSpPr>
          <p:cNvPr id="70" name="Title Placeholder 1">
            <a:extLst>
              <a:ext uri="{FF2B5EF4-FFF2-40B4-BE49-F238E27FC236}">
                <a16:creationId xmlns:a16="http://schemas.microsoft.com/office/drawing/2014/main" id="{2C07616C-2A2A-418A-BD58-B4BEEAB062EF}"/>
              </a:ext>
            </a:extLst>
          </p:cNvPr>
          <p:cNvSpPr>
            <a:spLocks noGrp="1"/>
          </p:cNvSpPr>
          <p:nvPr>
            <p:ph type="title"/>
          </p:nvPr>
        </p:nvSpPr>
        <p:spPr>
          <a:xfrm>
            <a:off x="616573" y="1474269"/>
            <a:ext cx="3984232" cy="2816080"/>
          </a:xfrm>
          <a:prstGeom prst="rect">
            <a:avLst/>
          </a:prstGeom>
        </p:spPr>
        <p:txBody>
          <a:bodyPr vert="horz" lIns="91440" tIns="45720" rIns="91440" bIns="45720" anchor="t">
            <a:normAutofit/>
          </a:bodyPr>
          <a:lstStyle/>
          <a:p>
            <a:r>
              <a:t>Click to edit Master title style</a:t>
            </a:r>
          </a:p>
        </p:txBody>
      </p:sp>
      <p:sp>
        <p:nvSpPr>
          <p:cNvPr id="71" name="Text Placeholder 1">
            <a:extLst>
              <a:ext uri="{FF2B5EF4-FFF2-40B4-BE49-F238E27FC236}">
                <a16:creationId xmlns:a16="http://schemas.microsoft.com/office/drawing/2014/main" id="{96F3FFB6-2566-428A-8CEE-C9FE6BAACB85}"/>
              </a:ext>
            </a:extLst>
          </p:cNvPr>
          <p:cNvSpPr>
            <a:spLocks noGrp="1"/>
          </p:cNvSpPr>
          <p:nvPr/>
        </p:nvSpPr>
        <p:spPr>
          <a:xfrm>
            <a:off x="7979357" y="2794960"/>
            <a:ext cx="3225168" cy="2029962"/>
          </a:xfrm>
          <a:prstGeom prst="rect">
            <a:avLst/>
          </a:prstGeom>
        </p:spPr>
        <p:txBody>
          <a:bodyPr lIns="0" tIns="0" rIns="0" bIns="0">
            <a:normAutofit/>
          </a:bodyPr>
          <a:lstStyle>
            <a:lvl1pPr marL="0" indent="0" algn="l" defTabSz="914400">
              <a:lnSpc>
                <a:spcPct val="90000"/>
              </a:lnSpc>
              <a:spcBef>
                <a:spcPts val="1000"/>
              </a:spcBef>
              <a:buFont typeface="Arial"/>
              <a:buNone/>
              <a:defRPr sz="1400" kern="1200">
                <a:solidFill>
                  <a:srgbClr val="FFFFFF"/>
                </a:solidFill>
                <a:latin typeface="微软雅黑"/>
                <a:ea typeface="微软雅黑"/>
                <a:cs typeface="微软雅黑"/>
              </a:defRPr>
            </a:lvl1pPr>
            <a:lvl2pPr marL="457200" indent="0" algn="l" defTabSz="914400">
              <a:lnSpc>
                <a:spcPct val="90000"/>
              </a:lnSpc>
              <a:spcBef>
                <a:spcPts val="500"/>
              </a:spcBef>
              <a:buFont typeface="Arial"/>
              <a:buNone/>
              <a:defRPr sz="2400" kern="1200">
                <a:solidFill>
                  <a:schemeClr val="tx1"/>
                </a:solidFill>
                <a:latin typeface="+mn-lt"/>
                <a:ea typeface="+mn-lt"/>
                <a:cs typeface="+mn-lt"/>
              </a:defRPr>
            </a:lvl2pPr>
            <a:lvl3pPr marL="914400" indent="0" algn="l" defTabSz="914400">
              <a:lnSpc>
                <a:spcPct val="90000"/>
              </a:lnSpc>
              <a:spcBef>
                <a:spcPts val="500"/>
              </a:spcBef>
              <a:buFont typeface="Arial"/>
              <a:buNone/>
              <a:defRPr sz="2000" kern="1200">
                <a:solidFill>
                  <a:schemeClr val="tx1"/>
                </a:solidFill>
                <a:latin typeface="+mn-lt"/>
                <a:ea typeface="+mn-lt"/>
                <a:cs typeface="+mn-lt"/>
              </a:defRPr>
            </a:lvl3pPr>
            <a:lvl4pPr marL="1371600" indent="0" algn="l" defTabSz="914400">
              <a:lnSpc>
                <a:spcPct val="90000"/>
              </a:lnSpc>
              <a:spcBef>
                <a:spcPts val="500"/>
              </a:spcBef>
              <a:buFont typeface="Arial"/>
              <a:buNone/>
              <a:defRPr sz="1800" kern="1200">
                <a:solidFill>
                  <a:schemeClr val="tx1"/>
                </a:solidFill>
                <a:latin typeface="+mn-lt"/>
                <a:ea typeface="+mn-lt"/>
                <a:cs typeface="+mn-lt"/>
              </a:defRPr>
            </a:lvl4pPr>
            <a:lvl5pPr marL="1828800" indent="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a:lnSpc>
                <a:spcPts val="1065"/>
              </a:lnSpc>
              <a:buNone/>
            </a:pPr>
            <a:r>
              <a:rPr sz="850" b="1">
                <a:solidFill>
                  <a:srgbClr val="1D1D1B"/>
                </a:solidFill>
                <a:latin typeface="Huawei Sans"/>
                <a:ea typeface="Huawei Sans"/>
                <a:cs typeface="Huawei Sans"/>
              </a:rPr>
              <a:t>Copyright©2023 Huawei Technologies Co., Ltd.</a:t>
            </a:r>
            <a:br/>
            <a:r>
              <a:rPr sz="850" b="1">
                <a:solidFill>
                  <a:srgbClr val="1D1D1B"/>
                </a:solidFill>
                <a:latin typeface="Huawei Sans"/>
                <a:ea typeface="Huawei Sans"/>
                <a:cs typeface="Huawei Sans"/>
              </a:rPr>
              <a:t>All Rights Reserved.</a:t>
            </a:r>
            <a:br/>
            <a:br/>
            <a:r>
              <a:rPr sz="850">
                <a:solidFill>
                  <a:srgbClr val="1D1D1B"/>
                </a:solidFill>
                <a:latin typeface="Huawei Sans"/>
                <a:ea typeface="Huawei Sans"/>
                <a:cs typeface="Huawei Sans"/>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p>
          <a:p>
            <a:pPr>
              <a:lnSpc>
                <a:spcPts val="1065"/>
              </a:lnSpc>
              <a:buNone/>
            </a:pPr>
            <a:endParaRPr sz="780">
              <a:solidFill>
                <a:srgbClr val="1D1D1B"/>
              </a:solidFill>
              <a:latin typeface="+mn-lt"/>
              <a:ea typeface="+mn-lt"/>
              <a:cs typeface="+mn-lt"/>
            </a:endParaRPr>
          </a:p>
        </p:txBody>
      </p:sp>
      <p:sp>
        <p:nvSpPr>
          <p:cNvPr id="72" name="Subtitle 6">
            <a:extLst>
              <a:ext uri="{FF2B5EF4-FFF2-40B4-BE49-F238E27FC236}">
                <a16:creationId xmlns:a16="http://schemas.microsoft.com/office/drawing/2014/main" id="{0730EBA5-F6F4-4115-B6DE-D3CB1F295448}"/>
              </a:ext>
            </a:extLst>
          </p:cNvPr>
          <p:cNvSpPr>
            <a:spLocks noGrp="1"/>
          </p:cNvSpPr>
          <p:nvPr/>
        </p:nvSpPr>
        <p:spPr>
          <a:xfrm>
            <a:off x="7987276" y="1631849"/>
            <a:ext cx="3477701" cy="491114"/>
          </a:xfrm>
          <a:prstGeom prst="rect">
            <a:avLst/>
          </a:prstGeom>
        </p:spPr>
        <p:txBody>
          <a:bodyPr lIns="0" tIns="0" rIns="0" bIns="0">
            <a:normAutofit/>
          </a:bodyPr>
          <a:lstStyle>
            <a:lvl1pPr marL="0" indent="0" algn="l" defTabSz="914400">
              <a:lnSpc>
                <a:spcPct val="90000"/>
              </a:lnSpc>
              <a:spcBef>
                <a:spcPts val="1000"/>
              </a:spcBef>
              <a:buFont typeface="Arial"/>
              <a:buNone/>
              <a:defRPr sz="1400" kern="1200">
                <a:solidFill>
                  <a:srgbClr val="FFFFFF"/>
                </a:solidFill>
                <a:latin typeface="微软雅黑"/>
                <a:ea typeface="微软雅黑"/>
                <a:cs typeface="微软雅黑"/>
              </a:defRPr>
            </a:lvl1pPr>
            <a:lvl2pPr marL="457200" indent="0" algn="l" defTabSz="914400">
              <a:lnSpc>
                <a:spcPct val="90000"/>
              </a:lnSpc>
              <a:spcBef>
                <a:spcPts val="500"/>
              </a:spcBef>
              <a:buFont typeface="Arial"/>
              <a:buNone/>
              <a:defRPr sz="2400" kern="1200">
                <a:solidFill>
                  <a:schemeClr val="tx1"/>
                </a:solidFill>
                <a:latin typeface="+mn-lt"/>
                <a:ea typeface="+mn-lt"/>
                <a:cs typeface="+mn-lt"/>
              </a:defRPr>
            </a:lvl2pPr>
            <a:lvl3pPr marL="914400" indent="0" algn="l" defTabSz="914400">
              <a:lnSpc>
                <a:spcPct val="90000"/>
              </a:lnSpc>
              <a:spcBef>
                <a:spcPts val="500"/>
              </a:spcBef>
              <a:buFont typeface="Arial"/>
              <a:buNone/>
              <a:defRPr sz="2000" kern="1200">
                <a:solidFill>
                  <a:schemeClr val="tx1"/>
                </a:solidFill>
                <a:latin typeface="+mn-lt"/>
                <a:ea typeface="+mn-lt"/>
                <a:cs typeface="+mn-lt"/>
              </a:defRPr>
            </a:lvl3pPr>
            <a:lvl4pPr marL="1371600" indent="0" algn="l" defTabSz="914400">
              <a:lnSpc>
                <a:spcPct val="90000"/>
              </a:lnSpc>
              <a:spcBef>
                <a:spcPts val="500"/>
              </a:spcBef>
              <a:buFont typeface="Arial"/>
              <a:buNone/>
              <a:defRPr sz="1800" kern="1200">
                <a:solidFill>
                  <a:schemeClr val="tx1"/>
                </a:solidFill>
                <a:latin typeface="+mn-lt"/>
                <a:ea typeface="+mn-lt"/>
                <a:cs typeface="+mn-lt"/>
              </a:defRPr>
            </a:lvl4pPr>
            <a:lvl5pPr marL="1828800" indent="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a:lnSpc>
                <a:spcPts val="1680"/>
              </a:lnSpc>
              <a:spcBef>
                <a:spcPts val="0"/>
              </a:spcBef>
              <a:buNone/>
            </a:pPr>
            <a:r>
              <a:rPr sz="1300">
                <a:solidFill>
                  <a:srgbClr val="1D1D1B"/>
                </a:solidFill>
                <a:latin typeface="Huawei Sans"/>
                <a:ea typeface="Huawei Sans"/>
                <a:cs typeface="Huawei Sans"/>
              </a:rPr>
              <a:t>把数字世界带入每个人、每个家庭、</a:t>
            </a:r>
            <a:br/>
            <a:r>
              <a:rPr sz="1300">
                <a:solidFill>
                  <a:srgbClr val="1D1D1B"/>
                </a:solidFill>
                <a:latin typeface="Huawei Sans"/>
                <a:ea typeface="Huawei Sans"/>
                <a:cs typeface="Huawei Sans"/>
              </a:rPr>
              <a:t>每个组织，构建万物互联的智能世界。</a:t>
            </a:r>
          </a:p>
        </p:txBody>
      </p:sp>
      <p:sp>
        <p:nvSpPr>
          <p:cNvPr id="73" name="Subtitle 6">
            <a:extLst>
              <a:ext uri="{FF2B5EF4-FFF2-40B4-BE49-F238E27FC236}">
                <a16:creationId xmlns:a16="http://schemas.microsoft.com/office/drawing/2014/main" id="{EB6DF014-FB62-4D5B-A6E9-9065EE5457E4}"/>
              </a:ext>
            </a:extLst>
          </p:cNvPr>
          <p:cNvSpPr>
            <a:spLocks noGrp="1"/>
          </p:cNvSpPr>
          <p:nvPr/>
        </p:nvSpPr>
        <p:spPr>
          <a:xfrm>
            <a:off x="7977672" y="2106124"/>
            <a:ext cx="3481833" cy="582808"/>
          </a:xfrm>
          <a:prstGeom prst="rect">
            <a:avLst/>
          </a:prstGeom>
        </p:spPr>
        <p:txBody>
          <a:bodyPr vert="horz" lIns="0" tIns="0" rIns="0" bIns="0" anchor="t">
            <a:noAutofit/>
          </a:bodyPr>
          <a:lstStyle>
            <a:lvl1pPr marL="0" indent="0" algn="l" defTabSz="914400">
              <a:lnSpc>
                <a:spcPct val="90000"/>
              </a:lnSpc>
              <a:spcBef>
                <a:spcPts val="1000"/>
              </a:spcBef>
              <a:buFont typeface="Arial"/>
              <a:buNone/>
              <a:defRPr sz="1400" kern="1200">
                <a:solidFill>
                  <a:schemeClr val="tx1"/>
                </a:solidFill>
                <a:latin typeface="微软雅黑"/>
                <a:ea typeface="微软雅黑"/>
                <a:cs typeface="微软雅黑"/>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nSpc>
                <a:spcPts val="1295"/>
              </a:lnSpc>
              <a:buNone/>
            </a:pPr>
            <a:r>
              <a:rPr sz="1200">
                <a:solidFill>
                  <a:srgbClr val="1D1D1B"/>
                </a:solidFill>
                <a:latin typeface="Huawei Sans"/>
                <a:ea typeface="Huawei Sans"/>
                <a:cs typeface="Huawei Sans"/>
              </a:rPr>
              <a:t>Bring digital to every person, home, and </a:t>
            </a:r>
            <a:br/>
            <a:r>
              <a:rPr sz="1200">
                <a:solidFill>
                  <a:srgbClr val="1D1D1B"/>
                </a:solidFill>
                <a:latin typeface="Huawei Sans"/>
                <a:ea typeface="Huawei Sans"/>
                <a:cs typeface="Huawei Sans"/>
              </a:rPr>
              <a:t>organization for a fully connected, </a:t>
            </a:r>
            <a:br/>
            <a:r>
              <a:rPr sz="1200">
                <a:solidFill>
                  <a:srgbClr val="1D1D1B"/>
                </a:solidFill>
                <a:latin typeface="Huawei Sans"/>
                <a:ea typeface="Huawei Sans"/>
                <a:cs typeface="Huawei Sans"/>
              </a:rPr>
              <a:t>intelligent world.</a:t>
            </a:r>
            <a:endParaRPr sz="1200" baseline="0">
              <a:solidFill>
                <a:srgbClr val="1D1D1B"/>
              </a:solidFill>
              <a:latin typeface="Huawei Sans"/>
              <a:ea typeface="Huawei Sans"/>
              <a:cs typeface="Huawei Sans"/>
            </a:endParaRPr>
          </a:p>
        </p:txBody>
      </p:sp>
      <p:pic>
        <p:nvPicPr>
          <p:cNvPr id="119" name="图片 73"/>
          <p:cNvPicPr>
            <a:picLocks noChangeAspect="1"/>
          </p:cNvPicPr>
          <p:nvPr/>
        </p:nvPicPr>
        <p:blipFill>
          <a:blip r:embed="rId3"/>
          <a:stretch>
            <a:fillRect/>
          </a:stretch>
        </p:blipFill>
        <p:spPr>
          <a:xfrm>
            <a:off x="7975497" y="5251150"/>
            <a:ext cx="1869596" cy="399462"/>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hf hdr="0" ftr="0" dt="0"/>
  <p:txStyles>
    <p:titleStyle>
      <a:lvl1pPr algn="l" defTabSz="1187450">
        <a:lnSpc>
          <a:spcPct val="90000"/>
        </a:lnSpc>
        <a:spcBef>
          <a:spcPct val="0"/>
        </a:spcBef>
        <a:buNone/>
        <a:defRPr sz="5000" b="0" kern="1200">
          <a:solidFill>
            <a:schemeClr val="tx1"/>
          </a:solidFill>
          <a:latin typeface="Huawei Sans"/>
          <a:ea typeface="Huawei Sans"/>
          <a:cs typeface="Huawei Sans"/>
        </a:defRPr>
      </a:lvl1pPr>
    </p:titleStyle>
    <p:bodyStyle>
      <a:lvl1pPr marL="0" indent="0" algn="l" defTabSz="1187450">
        <a:lnSpc>
          <a:spcPct val="90000"/>
        </a:lnSpc>
        <a:spcBef>
          <a:spcPts val="1300"/>
        </a:spcBef>
        <a:buFont typeface="Arial"/>
        <a:buNone/>
        <a:defRPr sz="1820" kern="1200">
          <a:solidFill>
            <a:srgbClr val="FFFFFF"/>
          </a:solidFill>
          <a:latin typeface="微软雅黑"/>
          <a:ea typeface="微软雅黑"/>
          <a:cs typeface="微软雅黑"/>
        </a:defRPr>
      </a:lvl1pPr>
      <a:lvl2pPr marL="593725" indent="0" algn="l" defTabSz="1187450">
        <a:lnSpc>
          <a:spcPct val="90000"/>
        </a:lnSpc>
        <a:spcBef>
          <a:spcPts val="650"/>
        </a:spcBef>
        <a:buFont typeface="Arial"/>
        <a:buNone/>
        <a:defRPr sz="3115" kern="1200">
          <a:solidFill>
            <a:schemeClr val="tx1"/>
          </a:solidFill>
          <a:latin typeface="+mn-lt"/>
          <a:ea typeface="+mn-lt"/>
          <a:cs typeface="+mn-lt"/>
        </a:defRPr>
      </a:lvl2pPr>
      <a:lvl3pPr marL="1187450" indent="0" algn="l" defTabSz="1187450">
        <a:lnSpc>
          <a:spcPct val="90000"/>
        </a:lnSpc>
        <a:spcBef>
          <a:spcPts val="650"/>
        </a:spcBef>
        <a:buFont typeface="Arial"/>
        <a:buNone/>
        <a:defRPr sz="2595" kern="1200">
          <a:solidFill>
            <a:schemeClr val="tx1"/>
          </a:solidFill>
          <a:latin typeface="+mn-lt"/>
          <a:ea typeface="+mn-lt"/>
          <a:cs typeface="+mn-lt"/>
        </a:defRPr>
      </a:lvl3pPr>
      <a:lvl4pPr marL="1781175" indent="0" algn="l" defTabSz="1187450">
        <a:lnSpc>
          <a:spcPct val="90000"/>
        </a:lnSpc>
        <a:spcBef>
          <a:spcPts val="650"/>
        </a:spcBef>
        <a:buFont typeface="Arial"/>
        <a:buNone/>
        <a:defRPr sz="2335" kern="1200">
          <a:solidFill>
            <a:schemeClr val="tx1"/>
          </a:solidFill>
          <a:latin typeface="+mn-lt"/>
          <a:ea typeface="+mn-lt"/>
          <a:cs typeface="+mn-lt"/>
        </a:defRPr>
      </a:lvl4pPr>
      <a:lvl5pPr marL="2374900" indent="0" algn="l" defTabSz="1187450">
        <a:lnSpc>
          <a:spcPct val="90000"/>
        </a:lnSpc>
        <a:spcBef>
          <a:spcPts val="650"/>
        </a:spcBef>
        <a:buFont typeface="Arial"/>
        <a:buNone/>
        <a:defRPr sz="2335" kern="1200">
          <a:solidFill>
            <a:schemeClr val="tx1"/>
          </a:solidFill>
          <a:latin typeface="+mn-lt"/>
          <a:ea typeface="+mn-lt"/>
          <a:cs typeface="+mn-lt"/>
        </a:defRPr>
      </a:lvl5pPr>
      <a:lvl6pPr marL="3265170" indent="-296545" algn="l" defTabSz="1187450">
        <a:lnSpc>
          <a:spcPct val="90000"/>
        </a:lnSpc>
        <a:spcBef>
          <a:spcPts val="650"/>
        </a:spcBef>
        <a:buFont typeface="Arial"/>
        <a:buChar char="•"/>
        <a:defRPr sz="2335" kern="1200">
          <a:solidFill>
            <a:schemeClr val="tx1"/>
          </a:solidFill>
          <a:latin typeface="+mn-lt"/>
          <a:ea typeface="+mn-lt"/>
          <a:cs typeface="+mn-lt"/>
        </a:defRPr>
      </a:lvl6pPr>
      <a:lvl7pPr marL="3858895" indent="-296545" algn="l" defTabSz="1187450">
        <a:lnSpc>
          <a:spcPct val="90000"/>
        </a:lnSpc>
        <a:spcBef>
          <a:spcPts val="650"/>
        </a:spcBef>
        <a:buFont typeface="Arial"/>
        <a:buChar char="•"/>
        <a:defRPr sz="2335" kern="1200">
          <a:solidFill>
            <a:schemeClr val="tx1"/>
          </a:solidFill>
          <a:latin typeface="+mn-lt"/>
          <a:ea typeface="+mn-lt"/>
          <a:cs typeface="+mn-lt"/>
        </a:defRPr>
      </a:lvl7pPr>
      <a:lvl8pPr marL="4452620" indent="-296545" algn="l" defTabSz="1187450">
        <a:lnSpc>
          <a:spcPct val="90000"/>
        </a:lnSpc>
        <a:spcBef>
          <a:spcPts val="650"/>
        </a:spcBef>
        <a:buFont typeface="Arial"/>
        <a:buChar char="•"/>
        <a:defRPr sz="2335" kern="1200">
          <a:solidFill>
            <a:schemeClr val="tx1"/>
          </a:solidFill>
          <a:latin typeface="+mn-lt"/>
          <a:ea typeface="+mn-lt"/>
          <a:cs typeface="+mn-lt"/>
        </a:defRPr>
      </a:lvl8pPr>
      <a:lvl9pPr marL="5046345" indent="-296545" algn="l" defTabSz="1187450">
        <a:lnSpc>
          <a:spcPct val="90000"/>
        </a:lnSpc>
        <a:spcBef>
          <a:spcPts val="650"/>
        </a:spcBef>
        <a:buFont typeface="Arial"/>
        <a:buChar char="•"/>
        <a:defRPr sz="2335" kern="1200">
          <a:solidFill>
            <a:schemeClr val="tx1"/>
          </a:solidFill>
          <a:latin typeface="+mn-lt"/>
          <a:ea typeface="+mn-lt"/>
          <a:cs typeface="+mn-lt"/>
        </a:defRPr>
      </a:lvl9pPr>
    </p:bodyStyle>
    <p:otherStyle>
      <a:lvl1pPr marL="0" algn="l" defTabSz="1187450">
        <a:buNone/>
        <a:defRPr sz="2335" kern="1200">
          <a:solidFill>
            <a:schemeClr val="tx1"/>
          </a:solidFill>
          <a:latin typeface="+mn-lt"/>
          <a:ea typeface="+mn-lt"/>
          <a:cs typeface="+mn-lt"/>
        </a:defRPr>
      </a:lvl1pPr>
      <a:lvl2pPr marL="593725" algn="l" defTabSz="1187450">
        <a:buNone/>
        <a:defRPr sz="2335" kern="1200">
          <a:solidFill>
            <a:schemeClr val="tx1"/>
          </a:solidFill>
          <a:latin typeface="+mn-lt"/>
          <a:ea typeface="+mn-lt"/>
          <a:cs typeface="+mn-lt"/>
        </a:defRPr>
      </a:lvl2pPr>
      <a:lvl3pPr marL="1187450" algn="l" defTabSz="1187450">
        <a:buNone/>
        <a:defRPr sz="2335" kern="1200">
          <a:solidFill>
            <a:schemeClr val="tx1"/>
          </a:solidFill>
          <a:latin typeface="+mn-lt"/>
          <a:ea typeface="+mn-lt"/>
          <a:cs typeface="+mn-lt"/>
        </a:defRPr>
      </a:lvl3pPr>
      <a:lvl4pPr marL="1781175" algn="l" defTabSz="1187450">
        <a:buNone/>
        <a:defRPr sz="2335" kern="1200">
          <a:solidFill>
            <a:schemeClr val="tx1"/>
          </a:solidFill>
          <a:latin typeface="+mn-lt"/>
          <a:ea typeface="+mn-lt"/>
          <a:cs typeface="+mn-lt"/>
        </a:defRPr>
      </a:lvl4pPr>
      <a:lvl5pPr marL="2374900" algn="l" defTabSz="1187450">
        <a:buNone/>
        <a:defRPr sz="2335" kern="1200">
          <a:solidFill>
            <a:schemeClr val="tx1"/>
          </a:solidFill>
          <a:latin typeface="+mn-lt"/>
          <a:ea typeface="+mn-lt"/>
          <a:cs typeface="+mn-lt"/>
        </a:defRPr>
      </a:lvl5pPr>
      <a:lvl6pPr marL="2968625" algn="l" defTabSz="1187450">
        <a:buNone/>
        <a:defRPr sz="2335" kern="1200">
          <a:solidFill>
            <a:schemeClr val="tx1"/>
          </a:solidFill>
          <a:latin typeface="+mn-lt"/>
          <a:ea typeface="+mn-lt"/>
          <a:cs typeface="+mn-lt"/>
        </a:defRPr>
      </a:lvl6pPr>
      <a:lvl7pPr marL="3561715" algn="l" defTabSz="1187450">
        <a:buNone/>
        <a:defRPr sz="2335" kern="1200">
          <a:solidFill>
            <a:schemeClr val="tx1"/>
          </a:solidFill>
          <a:latin typeface="+mn-lt"/>
          <a:ea typeface="+mn-lt"/>
          <a:cs typeface="+mn-lt"/>
        </a:defRPr>
      </a:lvl7pPr>
      <a:lvl8pPr marL="4155440" algn="l" defTabSz="1187450">
        <a:buNone/>
        <a:defRPr sz="2335" kern="1200">
          <a:solidFill>
            <a:schemeClr val="tx1"/>
          </a:solidFill>
          <a:latin typeface="+mn-lt"/>
          <a:ea typeface="+mn-lt"/>
          <a:cs typeface="+mn-lt"/>
        </a:defRPr>
      </a:lvl8pPr>
      <a:lvl9pPr marL="4749165" algn="l" defTabSz="1187450">
        <a:buNone/>
        <a:defRPr sz="23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a:t>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7" name="Group 87"/>
          <p:cNvGrpSpPr>
            <a:grpSpLocks noChangeAspect="1"/>
          </p:cNvGrpSpPr>
          <p:nvPr userDrawn="1"/>
        </p:nvGrpSpPr>
        <p:grpSpPr>
          <a:xfrm>
            <a:off x="12290471" y="2625389"/>
            <a:ext cx="1963323" cy="4233515"/>
            <a:chOff x="5343885" y="-48857"/>
            <a:chExt cx="3263586" cy="7037279"/>
          </a:xfrm>
        </p:grpSpPr>
        <p:sp>
          <p:nvSpPr>
            <p:cNvPr id="28"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p>
          </p:txBody>
        </p:sp>
        <p:sp>
          <p:nvSpPr>
            <p:cNvPr id="29"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p>
          </p:txBody>
        </p:sp>
        <p:sp>
          <p:nvSpPr>
            <p:cNvPr id="31"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p>
          </p:txBody>
        </p:sp>
        <p:sp>
          <p:nvSpPr>
            <p:cNvPr id="32"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p>
          </p:txBody>
        </p:sp>
        <p:sp>
          <p:nvSpPr>
            <p:cNvPr id="33"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p>
          </p:txBody>
        </p:sp>
        <p:sp>
          <p:nvSpPr>
            <p:cNvPr id="34"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p>
          </p:txBody>
        </p:sp>
        <p:sp>
          <p:nvSpPr>
            <p:cNvPr id="36"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p>
          </p:txBody>
        </p:sp>
        <p:sp>
          <p:nvSpPr>
            <p:cNvPr id="38"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p>
          </p:txBody>
        </p:sp>
        <p:sp>
          <p:nvSpPr>
            <p:cNvPr id="39"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p>
          </p:txBody>
        </p:sp>
        <p:sp>
          <p:nvSpPr>
            <p:cNvPr id="40"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p>
          </p:txBody>
        </p:sp>
        <p:sp>
          <p:nvSpPr>
            <p:cNvPr id="41"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p>
          </p:txBody>
        </p:sp>
        <p:sp>
          <p:nvSpPr>
            <p:cNvPr id="42"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p>
          </p:txBody>
        </p:sp>
        <p:sp>
          <p:nvSpPr>
            <p:cNvPr id="43"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p>
          </p:txBody>
        </p:sp>
        <p:sp>
          <p:nvSpPr>
            <p:cNvPr id="44"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p>
          </p:txBody>
        </p:sp>
        <p:sp>
          <p:nvSpPr>
            <p:cNvPr id="65"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p>
          </p:txBody>
        </p:sp>
        <p:sp>
          <p:nvSpPr>
            <p:cNvPr id="66"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p>
          </p:txBody>
        </p:sp>
        <p:sp>
          <p:nvSpPr>
            <p:cNvPr id="67"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p>
          </p:txBody>
        </p:sp>
        <p:sp>
          <p:nvSpPr>
            <p:cNvPr id="68"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9"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p>
          </p:txBody>
        </p:sp>
        <p:sp>
          <p:nvSpPr>
            <p:cNvPr id="70"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p>
          </p:txBody>
        </p:sp>
        <p:sp>
          <p:nvSpPr>
            <p:cNvPr id="71"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p>
          </p:txBody>
        </p:sp>
        <p:sp>
          <p:nvSpPr>
            <p:cNvPr id="72"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p>
          </p:txBody>
        </p:sp>
        <p:sp>
          <p:nvSpPr>
            <p:cNvPr id="73"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p>
          </p:txBody>
        </p:sp>
        <p:sp>
          <p:nvSpPr>
            <p:cNvPr id="74"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p>
          </p:txBody>
        </p:sp>
        <p:sp>
          <p:nvSpPr>
            <p:cNvPr id="75"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p>
          </p:txBody>
        </p:sp>
        <p:sp>
          <p:nvSpPr>
            <p:cNvPr id="76"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7"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p>
          </p:txBody>
        </p:sp>
        <p:sp>
          <p:nvSpPr>
            <p:cNvPr id="78"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p>
          </p:txBody>
        </p:sp>
        <p:sp>
          <p:nvSpPr>
            <p:cNvPr id="79"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p>
          </p:txBody>
        </p:sp>
        <p:sp>
          <p:nvSpPr>
            <p:cNvPr id="80"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p>
          </p:txBody>
        </p:sp>
        <p:sp>
          <p:nvSpPr>
            <p:cNvPr id="81"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p>
          </p:txBody>
        </p:sp>
        <p:sp>
          <p:nvSpPr>
            <p:cNvPr id="82"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p>
          </p:txBody>
        </p:sp>
        <p:sp>
          <p:nvSpPr>
            <p:cNvPr id="83"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p>
          </p:txBody>
        </p:sp>
        <p:sp>
          <p:nvSpPr>
            <p:cNvPr id="84"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p>
          </p:txBody>
        </p:sp>
        <p:sp>
          <p:nvSpPr>
            <p:cNvPr id="85"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p>
          </p:txBody>
        </p:sp>
        <p:sp>
          <p:nvSpPr>
            <p:cNvPr id="86"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p>
          </p:txBody>
        </p:sp>
        <p:sp>
          <p:nvSpPr>
            <p:cNvPr id="87"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p>
          </p:txBody>
        </p:sp>
      </p:grpSp>
    </p:spTree>
    <p:extLst>
      <p:ext uri="{BB962C8B-B14F-4D97-AF65-F5344CB8AC3E}">
        <p14:creationId xmlns:p14="http://schemas.microsoft.com/office/powerpoint/2010/main" val="4220113562"/>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913765"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8085">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a:t>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p>
          </p:txBody>
        </p:sp>
      </p:grpSp>
    </p:spTree>
    <p:extLst>
      <p:ext uri="{BB962C8B-B14F-4D97-AF65-F5344CB8AC3E}">
        <p14:creationId xmlns:p14="http://schemas.microsoft.com/office/powerpoint/2010/main" val="169924481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xStyles>
    <p:title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接连接符 7">
            <a:extLst>
              <a:ext uri="{FF2B5EF4-FFF2-40B4-BE49-F238E27FC236}">
                <a16:creationId xmlns:a16="http://schemas.microsoft.com/office/drawing/2014/main" id="{601C6BEE-9250-45FC-9935-073CCD586145}"/>
              </a:ext>
            </a:extLst>
          </p:cNvPr>
          <p:cNvSpPr>
            <a:spLocks noGrp="1"/>
          </p:cNvSpPr>
          <p:nvPr/>
        </p:nvSpPr>
        <p:spPr>
          <a:xfrm>
            <a:off x="661672" y="3446033"/>
            <a:ext cx="2550356"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sp>
      <p:sp>
        <p:nvSpPr>
          <p:cNvPr id="4" name="标题 3">
            <a:extLst>
              <a:ext uri="{FF2B5EF4-FFF2-40B4-BE49-F238E27FC236}">
                <a16:creationId xmlns:a16="http://schemas.microsoft.com/office/drawing/2014/main" id="{5FDD2D1A-CBCF-4C54-9557-88457D33B6F6}"/>
              </a:ext>
            </a:extLst>
          </p:cNvPr>
          <p:cNvSpPr>
            <a:spLocks noGrp="1"/>
          </p:cNvSpPr>
          <p:nvPr>
            <p:ph type="ctrTitle"/>
          </p:nvPr>
        </p:nvSpPr>
        <p:spPr>
          <a:xfrm>
            <a:off x="661670" y="2537460"/>
            <a:ext cx="7265670" cy="690245"/>
          </a:xfrm>
        </p:spPr>
        <p:txBody>
          <a:bodyPr>
            <a:normAutofit fontScale="94358"/>
          </a:bodyPr>
          <a:lstStyle/>
          <a:p>
            <a:r>
              <a:rPr sz="4300" dirty="0">
                <a:solidFill>
                  <a:srgbClr val="333333"/>
                </a:solidFill>
              </a:rPr>
              <a:t>YOLO </a:t>
            </a:r>
            <a:r>
              <a:rPr sz="4300" dirty="0" err="1">
                <a:solidFill>
                  <a:srgbClr val="333333"/>
                </a:solidFill>
              </a:rPr>
              <a:t>单卡训练与性能调优</a:t>
            </a:r>
            <a:endParaRPr sz="4300" dirty="0">
              <a:solidFill>
                <a:srgbClr val="333333"/>
              </a:solidFill>
            </a:endParaRPr>
          </a:p>
        </p:txBody>
      </p:sp>
    </p:spTree>
    <p:extLst>
      <p:ext uri="{BB962C8B-B14F-4D97-AF65-F5344CB8AC3E}">
        <p14:creationId xmlns:p14="http://schemas.microsoft.com/office/powerpoint/2010/main" val="1565156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YOLO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单卡训练流程</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AMP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与训练参数调优</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Profiling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与实验验收</a:t>
            </a:r>
          </a:p>
          <a:p>
            <a:r>
              <a:rPr lang="zh-CN" altLang="en-US" dirty="0">
                <a:solidFill>
                  <a:schemeClr val="bg1">
                    <a:lumMod val="75000"/>
                  </a:schemeClr>
                </a:solidFill>
                <a:sym typeface="+mn-ea"/>
              </a:rPr>
              <a:t>实验总结与多卡扩展</a:t>
            </a:r>
          </a:p>
          <a:p>
            <a:r>
              <a:rPr lang="zh-CN" altLang="en-US" dirty="0">
                <a:solidFill>
                  <a:schemeClr val="bg1">
                    <a:lumMod val="75000"/>
                  </a:schemeClr>
                </a:solidFill>
              </a:rPr>
              <a:t>课后习题</a:t>
            </a:r>
            <a:endParaRPr lang="en-US" dirty="0">
              <a:solidFill>
                <a:schemeClr val="bg1">
                  <a:lumMod val="75000"/>
                </a:schemeClr>
              </a:solidFill>
            </a:endParaRPr>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sz="1800" dirty="0">
                <a:sym typeface="+mn-ea"/>
              </a:rPr>
              <a:t>目标检测是计算机视觉中的核心任务之一，</a:t>
            </a:r>
            <a:r>
              <a:rPr lang="en-US" altLang="zh-CN" sz="1800" dirty="0">
                <a:sym typeface="+mn-ea"/>
              </a:rPr>
              <a:t>YOLO </a:t>
            </a:r>
            <a:r>
              <a:rPr lang="zh-CN" altLang="en-US" sz="1800" dirty="0">
                <a:sym typeface="+mn-ea"/>
              </a:rPr>
              <a:t>系列模型能够在一次前向计算中同时完成目标位置回归与类别预测，适合端侧部署和实时检测场景。</a:t>
            </a:r>
            <a:endParaRPr lang="en-US" altLang="zh-CN" sz="1800" dirty="0">
              <a:sym typeface="+mn-ea"/>
            </a:endParaRPr>
          </a:p>
          <a:p>
            <a:r>
              <a:rPr lang="zh-CN" altLang="en-US" sz="1800" dirty="0">
                <a:sym typeface="+mn-ea"/>
              </a:rPr>
              <a:t>本实验基于 </a:t>
            </a:r>
            <a:r>
              <a:rPr lang="en-US" altLang="zh-CN" sz="1800" dirty="0" err="1">
                <a:sym typeface="+mn-ea"/>
              </a:rPr>
              <a:t>CANNLab</a:t>
            </a:r>
            <a:r>
              <a:rPr lang="en-US" altLang="zh-CN" sz="1800" dirty="0">
                <a:sym typeface="+mn-ea"/>
              </a:rPr>
              <a:t> </a:t>
            </a:r>
            <a:r>
              <a:rPr lang="zh-CN" altLang="en-US" sz="1800" dirty="0">
                <a:sym typeface="+mn-ea"/>
              </a:rPr>
              <a:t>平台上的 </a:t>
            </a:r>
            <a:r>
              <a:rPr lang="en-US" altLang="zh-CN" sz="1800" dirty="0">
                <a:sym typeface="+mn-ea"/>
              </a:rPr>
              <a:t>Ascend NPU </a:t>
            </a:r>
            <a:r>
              <a:rPr lang="zh-CN" altLang="en-US" sz="1800" dirty="0">
                <a:sym typeface="+mn-ea"/>
              </a:rPr>
              <a:t>环境，重点掌握 </a:t>
            </a:r>
            <a:r>
              <a:rPr lang="en-US" altLang="zh-CN" sz="1800" dirty="0" err="1">
                <a:sym typeface="+mn-ea"/>
              </a:rPr>
              <a:t>torch_npu</a:t>
            </a:r>
            <a:r>
              <a:rPr lang="en-US" altLang="zh-CN" sz="1800" dirty="0">
                <a:sym typeface="+mn-ea"/>
              </a:rPr>
              <a:t> </a:t>
            </a:r>
            <a:r>
              <a:rPr lang="zh-CN" altLang="en-US" sz="1800" dirty="0">
                <a:sym typeface="+mn-ea"/>
              </a:rPr>
              <a:t>适配、单卡训练脚本运行、</a:t>
            </a:r>
            <a:r>
              <a:rPr lang="en-US" altLang="zh-CN" sz="1800" dirty="0">
                <a:sym typeface="+mn-ea"/>
              </a:rPr>
              <a:t>AMP </a:t>
            </a:r>
            <a:r>
              <a:rPr lang="zh-CN" altLang="en-US" sz="1800" dirty="0">
                <a:sym typeface="+mn-ea"/>
              </a:rPr>
              <a:t>混合精度、</a:t>
            </a:r>
            <a:r>
              <a:rPr lang="en-US" altLang="zh-CN" sz="1800" dirty="0">
                <a:sym typeface="+mn-ea"/>
              </a:rPr>
              <a:t>Warmup</a:t>
            </a:r>
            <a:r>
              <a:rPr lang="zh-CN" altLang="en-US" sz="1800" dirty="0">
                <a:sym typeface="+mn-ea"/>
              </a:rPr>
              <a:t>、</a:t>
            </a:r>
            <a:r>
              <a:rPr lang="en-US" altLang="zh-CN" sz="1800" dirty="0">
                <a:sym typeface="+mn-ea"/>
              </a:rPr>
              <a:t>Batch Size </a:t>
            </a:r>
            <a:r>
              <a:rPr lang="zh-CN" altLang="en-US" sz="1800" dirty="0">
                <a:sym typeface="+mn-ea"/>
              </a:rPr>
              <a:t>与 </a:t>
            </a:r>
            <a:r>
              <a:rPr lang="en-US" altLang="zh-CN" sz="1800" dirty="0" err="1">
                <a:sym typeface="+mn-ea"/>
              </a:rPr>
              <a:t>DataLoader</a:t>
            </a:r>
            <a:r>
              <a:rPr lang="en-US" altLang="zh-CN" sz="1800" dirty="0">
                <a:sym typeface="+mn-ea"/>
              </a:rPr>
              <a:t> workers </a:t>
            </a:r>
            <a:r>
              <a:rPr lang="zh-CN" altLang="en-US" sz="1800" dirty="0">
                <a:sym typeface="+mn-ea"/>
              </a:rPr>
              <a:t>等常见训练调优手段，并结合训练日志观察 </a:t>
            </a:r>
            <a:r>
              <a:rPr lang="en-US" altLang="zh-CN" sz="1800" dirty="0">
                <a:sym typeface="+mn-ea"/>
              </a:rPr>
              <a:t>loss</a:t>
            </a:r>
            <a:r>
              <a:rPr lang="zh-CN" altLang="en-US" sz="1800" dirty="0">
                <a:sym typeface="+mn-ea"/>
              </a:rPr>
              <a:t>、</a:t>
            </a:r>
            <a:r>
              <a:rPr lang="en-US" altLang="zh-CN" sz="1800" dirty="0">
                <a:sym typeface="+mn-ea"/>
              </a:rPr>
              <a:t>learning rate</a:t>
            </a:r>
            <a:r>
              <a:rPr lang="zh-CN" altLang="en-US" sz="1800" dirty="0">
                <a:sym typeface="+mn-ea"/>
              </a:rPr>
              <a:t>、</a:t>
            </a:r>
            <a:r>
              <a:rPr lang="en-US" altLang="zh-CN" sz="1800" dirty="0">
                <a:sym typeface="+mn-ea"/>
              </a:rPr>
              <a:t>throughput </a:t>
            </a:r>
            <a:r>
              <a:rPr lang="zh-CN" altLang="en-US" sz="1800" dirty="0">
                <a:sym typeface="+mn-ea"/>
              </a:rPr>
              <a:t>和 </a:t>
            </a:r>
            <a:r>
              <a:rPr lang="en-US" altLang="zh-CN" sz="1800" dirty="0">
                <a:sym typeface="+mn-ea"/>
              </a:rPr>
              <a:t>checkpoint </a:t>
            </a:r>
            <a:r>
              <a:rPr lang="zh-CN" altLang="en-US" sz="1800" dirty="0">
                <a:sym typeface="+mn-ea"/>
              </a:rPr>
              <a:t>输出。通过本节学习，学生能够独立完成 </a:t>
            </a:r>
            <a:r>
              <a:rPr lang="en-US" altLang="zh-CN" sz="1800" dirty="0">
                <a:sym typeface="+mn-ea"/>
              </a:rPr>
              <a:t>YOLO </a:t>
            </a:r>
            <a:r>
              <a:rPr lang="zh-CN" altLang="en-US" sz="1800" dirty="0">
                <a:sym typeface="+mn-ea"/>
              </a:rPr>
              <a:t>在 </a:t>
            </a:r>
            <a:r>
              <a:rPr lang="en-US" altLang="zh-CN" sz="1800" dirty="0">
                <a:sym typeface="+mn-ea"/>
              </a:rPr>
              <a:t>Ascend NPU </a:t>
            </a:r>
            <a:r>
              <a:rPr lang="zh-CN" altLang="en-US" sz="1800" dirty="0">
                <a:sym typeface="+mn-ea"/>
              </a:rPr>
              <a:t>上的单卡训练流程，理解性能瓶颈定位思路，并了解多卡 </a:t>
            </a:r>
            <a:r>
              <a:rPr lang="en-US" altLang="zh-CN" sz="1800" dirty="0">
                <a:sym typeface="+mn-ea"/>
              </a:rPr>
              <a:t>DDP </a:t>
            </a:r>
            <a:r>
              <a:rPr lang="zh-CN" altLang="en-US" sz="1800" dirty="0">
                <a:sym typeface="+mn-ea"/>
              </a:rPr>
              <a:t>训练作为后续扩展方向的基本启动方式。</a:t>
            </a:r>
            <a:endParaRPr lang="zh-CN" alt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D1BDAB2-5795-4D76-8CCA-9A3036F110F6}"/>
              </a:ext>
            </a:extLst>
          </p:cNvPr>
          <p:cNvSpPr>
            <a:spLocks noGrp="1"/>
          </p:cNvSpPr>
          <p:nvPr/>
        </p:nvSpPr>
        <p:spPr>
          <a:xfrm>
            <a:off x="1588" y="0"/>
            <a:ext cx="12188952" cy="73152"/>
          </a:xfrm>
          <a:prstGeom prst="rect">
            <a:avLst/>
          </a:prstGeom>
          <a:solidFill>
            <a:srgbClr val="C7000B"/>
          </a:solidFill>
        </p:spPr>
      </p:sp>
      <p:sp>
        <p:nvSpPr>
          <p:cNvPr id="3" name="Text 1">
            <a:extLst>
              <a:ext uri="{FF2B5EF4-FFF2-40B4-BE49-F238E27FC236}">
                <a16:creationId xmlns:a16="http://schemas.microsoft.com/office/drawing/2014/main" id="{A0CF5C7E-684D-4D03-BCBB-B7FC46FFBAF0}"/>
              </a:ext>
            </a:extLst>
          </p:cNvPr>
          <p:cNvSpPr>
            <a:spLocks noGrp="1"/>
          </p:cNvSpPr>
          <p:nvPr/>
        </p:nvSpPr>
        <p:spPr>
          <a:xfrm>
            <a:off x="733108" y="274320"/>
            <a:ext cx="10058400" cy="640080"/>
          </a:xfrm>
          <a:prstGeom prst="rect">
            <a:avLst/>
          </a:prstGeom>
          <a:noFill/>
        </p:spPr>
        <p:txBody>
          <a:bodyPr wrap="square" anchor="ctr"/>
          <a:lstStyle/>
          <a:p>
            <a:r>
              <a:rPr lang="zh-CN" altLang="en-US" sz="3200" b="1" dirty="0">
                <a:latin typeface="Microsoft YaHei"/>
                <a:ea typeface="Microsoft YaHei"/>
              </a:rPr>
              <a:t>学习目标</a:t>
            </a:r>
          </a:p>
        </p:txBody>
      </p:sp>
      <p:sp>
        <p:nvSpPr>
          <p:cNvPr id="4" name="Shape 2">
            <a:extLst>
              <a:ext uri="{FF2B5EF4-FFF2-40B4-BE49-F238E27FC236}">
                <a16:creationId xmlns:a16="http://schemas.microsoft.com/office/drawing/2014/main" id="{DF1F52E8-36F8-45CF-8C11-53BB4E3603EC}"/>
              </a:ext>
            </a:extLst>
          </p:cNvPr>
          <p:cNvSpPr>
            <a:spLocks noGrp="1"/>
          </p:cNvSpPr>
          <p:nvPr/>
        </p:nvSpPr>
        <p:spPr>
          <a:xfrm>
            <a:off x="733108" y="1234440"/>
            <a:ext cx="10515600" cy="27432"/>
          </a:xfrm>
          <a:prstGeom prst="rect">
            <a:avLst/>
          </a:prstGeom>
          <a:solidFill>
            <a:srgbClr val="0072C6"/>
          </a:solidFill>
        </p:spPr>
      </p:sp>
      <p:sp>
        <p:nvSpPr>
          <p:cNvPr id="5" name="Text 3">
            <a:extLst>
              <a:ext uri="{FF2B5EF4-FFF2-40B4-BE49-F238E27FC236}">
                <a16:creationId xmlns:a16="http://schemas.microsoft.com/office/drawing/2014/main" id="{2D041850-282F-41D4-AC14-B5D4EE9764D3}"/>
              </a:ext>
            </a:extLst>
          </p:cNvPr>
          <p:cNvSpPr>
            <a:spLocks noGrp="1"/>
          </p:cNvSpPr>
          <p:nvPr/>
        </p:nvSpPr>
        <p:spPr>
          <a:xfrm>
            <a:off x="733108" y="1463040"/>
            <a:ext cx="10515600" cy="4754880"/>
          </a:xfrm>
          <a:prstGeom prst="rect">
            <a:avLst/>
          </a:prstGeom>
          <a:noFill/>
        </p:spPr>
        <p:txBody>
          <a:bodyPr wrap="square" anchor="t"/>
          <a:lstStyle/>
          <a:p>
            <a:pPr marL="0" indent="0">
              <a:lnSpc>
                <a:spcPct val="150000"/>
              </a:lnSpc>
              <a:buNone/>
            </a:pPr>
            <a:r>
              <a:rPr sz="1600" dirty="0" err="1">
                <a:solidFill>
                  <a:srgbClr val="333333"/>
                </a:solidFill>
                <a:latin typeface="微软雅黑"/>
                <a:ea typeface="微软雅黑"/>
                <a:cs typeface="微软雅黑"/>
              </a:rPr>
              <a:t>完成本实验后，你应该能够</a:t>
            </a:r>
            <a:r>
              <a:rPr sz="1600" dirty="0">
                <a:solidFill>
                  <a:srgbClr val="333333"/>
                </a:solidFill>
                <a:latin typeface="微软雅黑"/>
                <a:ea typeface="微软雅黑"/>
                <a:cs typeface="微软雅黑"/>
              </a:rPr>
              <a:t>：</a:t>
            </a:r>
            <a:endParaRPr sz="1600" dirty="0"/>
          </a:p>
          <a:p>
            <a:pPr marL="0" indent="0">
              <a:lnSpc>
                <a:spcPct val="150000"/>
              </a:lnSpc>
              <a:buNone/>
            </a:pPr>
            <a:r>
              <a:rPr sz="1600" dirty="0">
                <a:solidFill>
                  <a:srgbClr val="333333"/>
                </a:solidFill>
                <a:latin typeface="微软雅黑"/>
                <a:ea typeface="微软雅黑"/>
                <a:cs typeface="微软雅黑"/>
              </a:rPr>
              <a:t>1) </a:t>
            </a:r>
            <a:r>
              <a:rPr sz="1600" dirty="0" err="1">
                <a:solidFill>
                  <a:srgbClr val="333333"/>
                </a:solidFill>
                <a:latin typeface="微软雅黑"/>
                <a:ea typeface="微软雅黑"/>
                <a:cs typeface="微软雅黑"/>
              </a:rPr>
              <a:t>理解</a:t>
            </a:r>
            <a:r>
              <a:rPr sz="1600" dirty="0">
                <a:solidFill>
                  <a:srgbClr val="333333"/>
                </a:solidFill>
                <a:latin typeface="微软雅黑"/>
                <a:ea typeface="微软雅黑"/>
                <a:cs typeface="微软雅黑"/>
              </a:rPr>
              <a:t> YOLO </a:t>
            </a:r>
            <a:r>
              <a:rPr sz="1600" dirty="0" err="1">
                <a:solidFill>
                  <a:srgbClr val="333333"/>
                </a:solidFill>
                <a:latin typeface="微软雅黑"/>
                <a:ea typeface="微软雅黑"/>
                <a:cs typeface="微软雅黑"/>
              </a:rPr>
              <a:t>目标检测任务的数据输入、标签格式和训练输出</a:t>
            </a:r>
            <a:r>
              <a:rPr sz="1600" dirty="0">
                <a:solidFill>
                  <a:srgbClr val="333333"/>
                </a:solidFill>
                <a:latin typeface="微软雅黑"/>
                <a:ea typeface="微软雅黑"/>
                <a:cs typeface="微软雅黑"/>
              </a:rPr>
              <a:t>；</a:t>
            </a:r>
          </a:p>
          <a:p>
            <a:pPr marL="0" indent="0">
              <a:lnSpc>
                <a:spcPct val="150000"/>
              </a:lnSpc>
              <a:buNone/>
            </a:pPr>
            <a:r>
              <a:rPr sz="1600" dirty="0">
                <a:solidFill>
                  <a:srgbClr val="333333"/>
                </a:solidFill>
                <a:latin typeface="微软雅黑"/>
                <a:ea typeface="微软雅黑"/>
                <a:cs typeface="微软雅黑"/>
              </a:rPr>
              <a:t>2) </a:t>
            </a:r>
            <a:r>
              <a:rPr sz="1600" dirty="0" err="1">
                <a:solidFill>
                  <a:srgbClr val="333333"/>
                </a:solidFill>
                <a:latin typeface="微软雅黑"/>
                <a:ea typeface="微软雅黑"/>
                <a:cs typeface="微软雅黑"/>
              </a:rPr>
              <a:t>掌握</a:t>
            </a:r>
            <a:r>
              <a:rPr sz="1600" dirty="0">
                <a:solidFill>
                  <a:srgbClr val="333333"/>
                </a:solidFill>
                <a:latin typeface="微软雅黑"/>
                <a:ea typeface="微软雅黑"/>
                <a:cs typeface="微软雅黑"/>
              </a:rPr>
              <a:t> PASCAL VOC XML </a:t>
            </a:r>
            <a:r>
              <a:rPr sz="1600" dirty="0" err="1">
                <a:solidFill>
                  <a:srgbClr val="333333"/>
                </a:solidFill>
                <a:latin typeface="微软雅黑"/>
                <a:ea typeface="微软雅黑"/>
                <a:cs typeface="微软雅黑"/>
              </a:rPr>
              <a:t>标注到</a:t>
            </a:r>
            <a:r>
              <a:rPr sz="1600" dirty="0">
                <a:solidFill>
                  <a:srgbClr val="333333"/>
                </a:solidFill>
                <a:latin typeface="微软雅黑"/>
                <a:ea typeface="微软雅黑"/>
                <a:cs typeface="微软雅黑"/>
              </a:rPr>
              <a:t> YOLO txt </a:t>
            </a:r>
            <a:r>
              <a:rPr sz="1600" dirty="0" err="1">
                <a:solidFill>
                  <a:srgbClr val="333333"/>
                </a:solidFill>
                <a:latin typeface="微软雅黑"/>
                <a:ea typeface="微软雅黑"/>
                <a:cs typeface="微软雅黑"/>
              </a:rPr>
              <a:t>标注的转换方法</a:t>
            </a:r>
            <a:r>
              <a:rPr sz="1600" dirty="0">
                <a:solidFill>
                  <a:srgbClr val="333333"/>
                </a:solidFill>
                <a:latin typeface="微软雅黑"/>
                <a:ea typeface="微软雅黑"/>
                <a:cs typeface="微软雅黑"/>
              </a:rPr>
              <a:t>；</a:t>
            </a:r>
          </a:p>
          <a:p>
            <a:pPr marL="0" indent="0">
              <a:lnSpc>
                <a:spcPct val="150000"/>
              </a:lnSpc>
              <a:buNone/>
            </a:pPr>
            <a:r>
              <a:rPr sz="1600" dirty="0">
                <a:solidFill>
                  <a:srgbClr val="333333"/>
                </a:solidFill>
                <a:latin typeface="微软雅黑"/>
                <a:ea typeface="微软雅黑"/>
                <a:cs typeface="微软雅黑"/>
              </a:rPr>
              <a:t>3) </a:t>
            </a:r>
            <a:r>
              <a:rPr sz="1600" dirty="0" err="1">
                <a:solidFill>
                  <a:srgbClr val="333333"/>
                </a:solidFill>
                <a:latin typeface="微软雅黑"/>
                <a:ea typeface="微软雅黑"/>
                <a:cs typeface="微软雅黑"/>
              </a:rPr>
              <a:t>能够检查</a:t>
            </a:r>
            <a:r>
              <a:rPr sz="1600" dirty="0">
                <a:solidFill>
                  <a:srgbClr val="333333"/>
                </a:solidFill>
                <a:latin typeface="微软雅黑"/>
                <a:ea typeface="微软雅黑"/>
                <a:cs typeface="微软雅黑"/>
              </a:rPr>
              <a:t> Ascend 910 </a:t>
            </a:r>
            <a:r>
              <a:rPr sz="1600" dirty="0" err="1">
                <a:solidFill>
                  <a:srgbClr val="333333"/>
                </a:solidFill>
                <a:latin typeface="微软雅黑"/>
                <a:ea typeface="微软雅黑"/>
                <a:cs typeface="微软雅黑"/>
              </a:rPr>
              <a:t>单卡</a:t>
            </a:r>
            <a:r>
              <a:rPr sz="1600" dirty="0">
                <a:solidFill>
                  <a:srgbClr val="333333"/>
                </a:solidFill>
                <a:latin typeface="微软雅黑"/>
                <a:ea typeface="微软雅黑"/>
                <a:cs typeface="微软雅黑"/>
              </a:rPr>
              <a:t> NPU </a:t>
            </a:r>
            <a:r>
              <a:rPr sz="1600" dirty="0" err="1">
                <a:solidFill>
                  <a:srgbClr val="333333"/>
                </a:solidFill>
                <a:latin typeface="微软雅黑"/>
                <a:ea typeface="微软雅黑"/>
                <a:cs typeface="微软雅黑"/>
              </a:rPr>
              <a:t>环境，确认</a:t>
            </a:r>
            <a:r>
              <a:rPr sz="1600" dirty="0">
                <a:solidFill>
                  <a:srgbClr val="333333"/>
                </a:solidFill>
                <a:latin typeface="微软雅黑"/>
                <a:ea typeface="微软雅黑"/>
                <a:cs typeface="微软雅黑"/>
              </a:rPr>
              <a:t> </a:t>
            </a:r>
            <a:r>
              <a:rPr sz="1600" dirty="0" err="1">
                <a:solidFill>
                  <a:srgbClr val="333333"/>
                </a:solidFill>
                <a:latin typeface="微软雅黑"/>
                <a:ea typeface="微软雅黑"/>
                <a:cs typeface="微软雅黑"/>
              </a:rPr>
              <a:t>PyTorch</a:t>
            </a:r>
            <a:r>
              <a:rPr sz="1600" dirty="0">
                <a:solidFill>
                  <a:srgbClr val="333333"/>
                </a:solidFill>
                <a:latin typeface="微软雅黑"/>
                <a:ea typeface="微软雅黑"/>
                <a:cs typeface="微软雅黑"/>
              </a:rPr>
              <a:t> 与 </a:t>
            </a:r>
            <a:r>
              <a:rPr sz="1600" dirty="0" err="1">
                <a:solidFill>
                  <a:srgbClr val="333333"/>
                </a:solidFill>
                <a:latin typeface="微软雅黑"/>
                <a:ea typeface="微软雅黑"/>
                <a:cs typeface="微软雅黑"/>
              </a:rPr>
              <a:t>torch_npu</a:t>
            </a:r>
            <a:r>
              <a:rPr sz="1600" dirty="0">
                <a:solidFill>
                  <a:srgbClr val="333333"/>
                </a:solidFill>
                <a:latin typeface="微软雅黑"/>
                <a:ea typeface="微软雅黑"/>
                <a:cs typeface="微软雅黑"/>
              </a:rPr>
              <a:t> </a:t>
            </a:r>
            <a:r>
              <a:rPr sz="1600" dirty="0" err="1">
                <a:solidFill>
                  <a:srgbClr val="333333"/>
                </a:solidFill>
                <a:latin typeface="微软雅黑"/>
                <a:ea typeface="微软雅黑"/>
                <a:cs typeface="微软雅黑"/>
              </a:rPr>
              <a:t>后端可用</a:t>
            </a:r>
            <a:r>
              <a:rPr sz="1600" dirty="0">
                <a:solidFill>
                  <a:srgbClr val="333333"/>
                </a:solidFill>
                <a:latin typeface="微软雅黑"/>
                <a:ea typeface="微软雅黑"/>
                <a:cs typeface="微软雅黑"/>
              </a:rPr>
              <a:t>；</a:t>
            </a:r>
          </a:p>
          <a:p>
            <a:pPr marL="0" indent="0">
              <a:lnSpc>
                <a:spcPct val="150000"/>
              </a:lnSpc>
              <a:buNone/>
            </a:pPr>
            <a:r>
              <a:rPr sz="1600" dirty="0">
                <a:solidFill>
                  <a:srgbClr val="333333"/>
                </a:solidFill>
                <a:latin typeface="微软雅黑"/>
                <a:ea typeface="微软雅黑"/>
                <a:cs typeface="微软雅黑"/>
              </a:rPr>
              <a:t>4) </a:t>
            </a:r>
            <a:r>
              <a:rPr sz="1600" dirty="0" err="1">
                <a:solidFill>
                  <a:srgbClr val="333333"/>
                </a:solidFill>
                <a:latin typeface="微软雅黑"/>
                <a:ea typeface="微软雅黑"/>
                <a:cs typeface="微软雅黑"/>
              </a:rPr>
              <a:t>能够使用脚本启动单卡</a:t>
            </a:r>
            <a:r>
              <a:rPr sz="1600" dirty="0">
                <a:solidFill>
                  <a:srgbClr val="333333"/>
                </a:solidFill>
                <a:latin typeface="微软雅黑"/>
                <a:ea typeface="微软雅黑"/>
                <a:cs typeface="微软雅黑"/>
              </a:rPr>
              <a:t> NPU </a:t>
            </a:r>
            <a:r>
              <a:rPr sz="1600" dirty="0" err="1">
                <a:solidFill>
                  <a:srgbClr val="333333"/>
                </a:solidFill>
                <a:latin typeface="微软雅黑"/>
                <a:ea typeface="微软雅黑"/>
                <a:cs typeface="微软雅黑"/>
              </a:rPr>
              <a:t>训练，并根据日志判断</a:t>
            </a:r>
            <a:r>
              <a:rPr sz="1600" dirty="0">
                <a:solidFill>
                  <a:srgbClr val="333333"/>
                </a:solidFill>
                <a:latin typeface="微软雅黑"/>
                <a:ea typeface="微软雅黑"/>
                <a:cs typeface="微软雅黑"/>
              </a:rPr>
              <a:t> </a:t>
            </a:r>
            <a:r>
              <a:rPr sz="1600" dirty="0" err="1">
                <a:solidFill>
                  <a:srgbClr val="333333"/>
                </a:solidFill>
                <a:latin typeface="微软雅黑"/>
                <a:ea typeface="微软雅黑"/>
                <a:cs typeface="微软雅黑"/>
              </a:rPr>
              <a:t>device、loss、lr、throughput</a:t>
            </a:r>
            <a:r>
              <a:rPr sz="1600" dirty="0">
                <a:solidFill>
                  <a:srgbClr val="333333"/>
                </a:solidFill>
                <a:latin typeface="微软雅黑"/>
                <a:ea typeface="微软雅黑"/>
                <a:cs typeface="微软雅黑"/>
              </a:rPr>
              <a:t> 与 checkpoint </a:t>
            </a:r>
            <a:r>
              <a:rPr sz="1600" dirty="0" err="1">
                <a:solidFill>
                  <a:srgbClr val="333333"/>
                </a:solidFill>
                <a:latin typeface="微软雅黑"/>
                <a:ea typeface="微软雅黑"/>
                <a:cs typeface="微软雅黑"/>
              </a:rPr>
              <a:t>是否正常</a:t>
            </a:r>
            <a:r>
              <a:rPr sz="1600" dirty="0">
                <a:solidFill>
                  <a:srgbClr val="333333"/>
                </a:solidFill>
                <a:latin typeface="微软雅黑"/>
                <a:ea typeface="微软雅黑"/>
                <a:cs typeface="微软雅黑"/>
              </a:rPr>
              <a:t>；</a:t>
            </a:r>
          </a:p>
          <a:p>
            <a:pPr marL="0" indent="0">
              <a:lnSpc>
                <a:spcPct val="150000"/>
              </a:lnSpc>
              <a:buNone/>
            </a:pPr>
            <a:r>
              <a:rPr sz="1600" dirty="0">
                <a:solidFill>
                  <a:srgbClr val="333333"/>
                </a:solidFill>
                <a:latin typeface="微软雅黑"/>
                <a:ea typeface="微软雅黑"/>
                <a:cs typeface="微软雅黑"/>
              </a:rPr>
              <a:t>5) </a:t>
            </a:r>
            <a:r>
              <a:rPr sz="1600" dirty="0" err="1">
                <a:solidFill>
                  <a:srgbClr val="333333"/>
                </a:solidFill>
                <a:latin typeface="微软雅黑"/>
                <a:ea typeface="微软雅黑"/>
                <a:cs typeface="微软雅黑"/>
              </a:rPr>
              <a:t>能够理解</a:t>
            </a:r>
            <a:r>
              <a:rPr sz="1600" dirty="0">
                <a:solidFill>
                  <a:srgbClr val="333333"/>
                </a:solidFill>
                <a:latin typeface="微软雅黑"/>
                <a:ea typeface="微软雅黑"/>
                <a:cs typeface="微软雅黑"/>
              </a:rPr>
              <a:t> batch </a:t>
            </a:r>
            <a:r>
              <a:rPr sz="1600" dirty="0" err="1">
                <a:solidFill>
                  <a:srgbClr val="333333"/>
                </a:solidFill>
                <a:latin typeface="微软雅黑"/>
                <a:ea typeface="微软雅黑"/>
                <a:cs typeface="微软雅黑"/>
              </a:rPr>
              <a:t>size、DataLoader</a:t>
            </a:r>
            <a:r>
              <a:rPr sz="1600" dirty="0">
                <a:solidFill>
                  <a:srgbClr val="333333"/>
                </a:solidFill>
                <a:latin typeface="微软雅黑"/>
                <a:ea typeface="微软雅黑"/>
                <a:cs typeface="微软雅黑"/>
              </a:rPr>
              <a:t> </a:t>
            </a:r>
            <a:r>
              <a:rPr sz="1600" dirty="0" err="1">
                <a:solidFill>
                  <a:srgbClr val="333333"/>
                </a:solidFill>
                <a:latin typeface="微软雅黑"/>
                <a:ea typeface="微软雅黑"/>
                <a:cs typeface="微软雅黑"/>
              </a:rPr>
              <a:t>workers、Warmup</a:t>
            </a:r>
            <a:r>
              <a:rPr sz="1600" dirty="0">
                <a:solidFill>
                  <a:srgbClr val="333333"/>
                </a:solidFill>
                <a:latin typeface="微软雅黑"/>
                <a:ea typeface="微软雅黑"/>
                <a:cs typeface="微软雅黑"/>
              </a:rPr>
              <a:t> </a:t>
            </a:r>
            <a:r>
              <a:rPr sz="1600" dirty="0" err="1">
                <a:solidFill>
                  <a:srgbClr val="333333"/>
                </a:solidFill>
                <a:latin typeface="微软雅黑"/>
                <a:ea typeface="微软雅黑"/>
                <a:cs typeface="微软雅黑"/>
              </a:rPr>
              <a:t>等参数对训练稳定性和吞吐的影响</a:t>
            </a:r>
            <a:r>
              <a:rPr sz="1600" dirty="0">
                <a:solidFill>
                  <a:srgbClr val="333333"/>
                </a:solidFill>
                <a:latin typeface="微软雅黑"/>
                <a:ea typeface="微软雅黑"/>
                <a:cs typeface="微软雅黑"/>
              </a:rPr>
              <a:t>；</a:t>
            </a:r>
          </a:p>
          <a:p>
            <a:pPr marL="0" indent="0">
              <a:lnSpc>
                <a:spcPct val="150000"/>
              </a:lnSpc>
              <a:buNone/>
            </a:pPr>
            <a:r>
              <a:rPr sz="1600" dirty="0">
                <a:solidFill>
                  <a:srgbClr val="333333"/>
                </a:solidFill>
                <a:latin typeface="微软雅黑"/>
                <a:ea typeface="微软雅黑"/>
                <a:cs typeface="微软雅黑"/>
              </a:rPr>
              <a:t>6) </a:t>
            </a:r>
            <a:r>
              <a:rPr sz="1600" dirty="0" err="1">
                <a:solidFill>
                  <a:srgbClr val="333333"/>
                </a:solidFill>
                <a:latin typeface="微软雅黑"/>
                <a:ea typeface="微软雅黑"/>
                <a:cs typeface="微软雅黑"/>
              </a:rPr>
              <a:t>能够使用</a:t>
            </a:r>
            <a:r>
              <a:rPr sz="1600" dirty="0">
                <a:solidFill>
                  <a:srgbClr val="333333"/>
                </a:solidFill>
                <a:latin typeface="微软雅黑"/>
                <a:ea typeface="微软雅黑"/>
                <a:cs typeface="微软雅黑"/>
              </a:rPr>
              <a:t> AMP </a:t>
            </a:r>
            <a:r>
              <a:rPr sz="1600" dirty="0" err="1">
                <a:solidFill>
                  <a:srgbClr val="333333"/>
                </a:solidFill>
                <a:latin typeface="微软雅黑"/>
                <a:ea typeface="微软雅黑"/>
                <a:cs typeface="微软雅黑"/>
              </a:rPr>
              <a:t>混合精度提升训练吞吐，并观察显存占用和</a:t>
            </a:r>
            <a:r>
              <a:rPr sz="1600" dirty="0">
                <a:solidFill>
                  <a:srgbClr val="333333"/>
                </a:solidFill>
                <a:latin typeface="微软雅黑"/>
                <a:ea typeface="微软雅黑"/>
                <a:cs typeface="微软雅黑"/>
              </a:rPr>
              <a:t> loss </a:t>
            </a:r>
            <a:r>
              <a:rPr sz="1600" dirty="0" err="1">
                <a:solidFill>
                  <a:srgbClr val="333333"/>
                </a:solidFill>
                <a:latin typeface="微软雅黑"/>
                <a:ea typeface="微软雅黑"/>
                <a:cs typeface="微软雅黑"/>
              </a:rPr>
              <a:t>稳定性</a:t>
            </a:r>
            <a:r>
              <a:rPr sz="1600" dirty="0">
                <a:solidFill>
                  <a:srgbClr val="333333"/>
                </a:solidFill>
                <a:latin typeface="微软雅黑"/>
                <a:ea typeface="微软雅黑"/>
                <a:cs typeface="微软雅黑"/>
              </a:rPr>
              <a:t>；</a:t>
            </a:r>
          </a:p>
          <a:p>
            <a:pPr marL="0" indent="0">
              <a:lnSpc>
                <a:spcPct val="150000"/>
              </a:lnSpc>
              <a:buNone/>
            </a:pPr>
            <a:r>
              <a:rPr sz="1600" dirty="0">
                <a:solidFill>
                  <a:srgbClr val="333333"/>
                </a:solidFill>
                <a:latin typeface="微软雅黑"/>
                <a:ea typeface="微软雅黑"/>
                <a:cs typeface="微软雅黑"/>
              </a:rPr>
              <a:t>7) </a:t>
            </a:r>
            <a:r>
              <a:rPr sz="1600" dirty="0" err="1">
                <a:solidFill>
                  <a:srgbClr val="333333"/>
                </a:solidFill>
                <a:latin typeface="微软雅黑"/>
                <a:ea typeface="微软雅黑"/>
                <a:cs typeface="微软雅黑"/>
              </a:rPr>
              <a:t>能够使用</a:t>
            </a:r>
            <a:r>
              <a:rPr sz="1600" dirty="0">
                <a:solidFill>
                  <a:srgbClr val="333333"/>
                </a:solidFill>
                <a:latin typeface="微软雅黑"/>
                <a:ea typeface="微软雅黑"/>
                <a:cs typeface="微软雅黑"/>
              </a:rPr>
              <a:t> MSPROF </a:t>
            </a:r>
            <a:r>
              <a:rPr sz="1600" dirty="0" err="1">
                <a:solidFill>
                  <a:srgbClr val="333333"/>
                </a:solidFill>
                <a:latin typeface="微软雅黑"/>
                <a:ea typeface="微软雅黑"/>
                <a:cs typeface="微软雅黑"/>
              </a:rPr>
              <a:t>分析数据加载、前向</a:t>
            </a:r>
            <a:r>
              <a:rPr sz="1600" dirty="0">
                <a:solidFill>
                  <a:srgbClr val="333333"/>
                </a:solidFill>
                <a:latin typeface="微软雅黑"/>
                <a:ea typeface="微软雅黑"/>
                <a:cs typeface="微软雅黑"/>
              </a:rPr>
              <a:t>/</a:t>
            </a:r>
            <a:r>
              <a:rPr sz="1600" dirty="0" err="1">
                <a:solidFill>
                  <a:srgbClr val="333333"/>
                </a:solidFill>
                <a:latin typeface="微软雅黑"/>
                <a:ea typeface="微软雅黑"/>
                <a:cs typeface="微软雅黑"/>
              </a:rPr>
              <a:t>反向计算、算子耗时和</a:t>
            </a:r>
            <a:r>
              <a:rPr sz="1600" dirty="0">
                <a:solidFill>
                  <a:srgbClr val="333333"/>
                </a:solidFill>
                <a:latin typeface="微软雅黑"/>
                <a:ea typeface="微软雅黑"/>
                <a:cs typeface="微软雅黑"/>
              </a:rPr>
              <a:t> Host </a:t>
            </a:r>
            <a:r>
              <a:rPr sz="1600" dirty="0" err="1">
                <a:solidFill>
                  <a:srgbClr val="333333"/>
                </a:solidFill>
                <a:latin typeface="微软雅黑"/>
                <a:ea typeface="微软雅黑"/>
                <a:cs typeface="微软雅黑"/>
              </a:rPr>
              <a:t>侧瓶颈</a:t>
            </a:r>
            <a:r>
              <a:rPr sz="1600" dirty="0">
                <a:solidFill>
                  <a:srgbClr val="333333"/>
                </a:solidFill>
                <a:latin typeface="微软雅黑"/>
                <a:ea typeface="微软雅黑"/>
                <a:cs typeface="微软雅黑"/>
              </a:rPr>
              <a:t>。</a:t>
            </a:r>
          </a:p>
        </p:txBody>
      </p:sp>
    </p:spTree>
    <p:extLst>
      <p:ext uri="{BB962C8B-B14F-4D97-AF65-F5344CB8AC3E}">
        <p14:creationId xmlns:p14="http://schemas.microsoft.com/office/powerpoint/2010/main" val="804041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B37DFE3-28F7-4DED-B09B-C1D070E21CCF}"/>
              </a:ext>
            </a:extLst>
          </p:cNvPr>
          <p:cNvSpPr>
            <a:spLocks noGrp="1"/>
          </p:cNvSpPr>
          <p:nvPr/>
        </p:nvSpPr>
        <p:spPr>
          <a:xfrm>
            <a:off x="0" y="0"/>
            <a:ext cx="12191695" cy="128016"/>
          </a:xfrm>
          <a:prstGeom prst="rect">
            <a:avLst/>
          </a:prstGeom>
          <a:solidFill>
            <a:srgbClr val="F58220"/>
          </a:solidFill>
          <a:ln w="12700">
            <a:solidFill>
              <a:srgbClr val="F58220"/>
            </a:solidFill>
            <a:prstDash val="solid"/>
          </a:ln>
        </p:spPr>
      </p:sp>
      <p:sp>
        <p:nvSpPr>
          <p:cNvPr id="3" name="Text 1">
            <a:extLst>
              <a:ext uri="{FF2B5EF4-FFF2-40B4-BE49-F238E27FC236}">
                <a16:creationId xmlns:a16="http://schemas.microsoft.com/office/drawing/2014/main" id="{AE5AB97A-AC46-4F34-97CF-854FF908B0E8}"/>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5</a:t>
            </a:r>
            <a:endParaRPr sz="800"/>
          </a:p>
        </p:txBody>
      </p:sp>
      <p:sp>
        <p:nvSpPr>
          <p:cNvPr id="4" name="Text 2">
            <a:extLst>
              <a:ext uri="{FF2B5EF4-FFF2-40B4-BE49-F238E27FC236}">
                <a16:creationId xmlns:a16="http://schemas.microsoft.com/office/drawing/2014/main" id="{45BAE830-73E5-40A8-BD6C-41CE30DD14F7}"/>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sz="3200" b="1" dirty="0" err="1">
                <a:latin typeface="Microsoft YaHei"/>
                <a:ea typeface="Microsoft YaHei"/>
              </a:rPr>
              <a:t>实验流程总览</a:t>
            </a:r>
            <a:endParaRPr sz="3200" b="1" dirty="0">
              <a:latin typeface="Microsoft YaHei"/>
              <a:ea typeface="Microsoft YaHei"/>
            </a:endParaRPr>
          </a:p>
        </p:txBody>
      </p:sp>
      <p:sp>
        <p:nvSpPr>
          <p:cNvPr id="5" name="Shape 3">
            <a:extLst>
              <a:ext uri="{FF2B5EF4-FFF2-40B4-BE49-F238E27FC236}">
                <a16:creationId xmlns:a16="http://schemas.microsoft.com/office/drawing/2014/main" id="{FDBAAC47-E854-42E7-A55D-6B4911C9D40C}"/>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Shape 4">
            <a:extLst>
              <a:ext uri="{FF2B5EF4-FFF2-40B4-BE49-F238E27FC236}">
                <a16:creationId xmlns:a16="http://schemas.microsoft.com/office/drawing/2014/main" id="{F3E0E53D-CCD0-4F1B-AC95-6582BB9A74B9}"/>
              </a:ext>
            </a:extLst>
          </p:cNvPr>
          <p:cNvSpPr>
            <a:spLocks noGrp="1"/>
          </p:cNvSpPr>
          <p:nvPr/>
        </p:nvSpPr>
        <p:spPr>
          <a:xfrm>
            <a:off x="640080" y="2029968"/>
            <a:ext cx="1572768" cy="960120"/>
          </a:xfrm>
          <a:prstGeom prst="roundRect">
            <a:avLst>
              <a:gd name="adj" fmla="val 5714"/>
            </a:avLst>
          </a:prstGeom>
          <a:solidFill>
            <a:srgbClr val="879596"/>
          </a:solidFill>
          <a:ln w="12700">
            <a:solidFill>
              <a:srgbClr val="879596"/>
            </a:solidFill>
            <a:prstDash val="solid"/>
          </a:ln>
        </p:spPr>
      </p:sp>
      <p:sp>
        <p:nvSpPr>
          <p:cNvPr id="7" name="Text 5">
            <a:extLst>
              <a:ext uri="{FF2B5EF4-FFF2-40B4-BE49-F238E27FC236}">
                <a16:creationId xmlns:a16="http://schemas.microsoft.com/office/drawing/2014/main" id="{6A6E5D81-0157-4F8D-8492-50DBA9BC35A8}"/>
              </a:ext>
            </a:extLst>
          </p:cNvPr>
          <p:cNvSpPr>
            <a:spLocks noGrp="1"/>
          </p:cNvSpPr>
          <p:nvPr/>
        </p:nvSpPr>
        <p:spPr>
          <a:xfrm>
            <a:off x="749808" y="2139696"/>
            <a:ext cx="1353312" cy="246888"/>
          </a:xfrm>
          <a:prstGeom prst="rect">
            <a:avLst/>
          </a:prstGeom>
          <a:noFill/>
        </p:spPr>
        <p:txBody>
          <a:bodyPr wrap="square" lIns="0" tIns="0" rIns="0" bIns="0" anchor="ctr"/>
          <a:lstStyle/>
          <a:p>
            <a:pPr marL="0" indent="0" algn="ctr">
              <a:buNone/>
            </a:pPr>
            <a:r>
              <a:rPr sz="1350" b="1">
                <a:solidFill>
                  <a:srgbClr val="FFFFFF"/>
                </a:solidFill>
                <a:latin typeface="Microsoft YaHei"/>
                <a:ea typeface="Microsoft YaHei"/>
                <a:cs typeface="Microsoft YaHei"/>
              </a:rPr>
              <a:t>环境检查</a:t>
            </a:r>
            <a:endParaRPr sz="1350"/>
          </a:p>
        </p:txBody>
      </p:sp>
      <p:sp>
        <p:nvSpPr>
          <p:cNvPr id="8" name="Text 6">
            <a:extLst>
              <a:ext uri="{FF2B5EF4-FFF2-40B4-BE49-F238E27FC236}">
                <a16:creationId xmlns:a16="http://schemas.microsoft.com/office/drawing/2014/main" id="{DB19495C-7323-4131-86C5-1A707E8811B3}"/>
              </a:ext>
            </a:extLst>
          </p:cNvPr>
          <p:cNvSpPr>
            <a:spLocks noGrp="1"/>
          </p:cNvSpPr>
          <p:nvPr/>
        </p:nvSpPr>
        <p:spPr>
          <a:xfrm>
            <a:off x="768096" y="2423160"/>
            <a:ext cx="1316736" cy="521208"/>
          </a:xfrm>
          <a:prstGeom prst="rect">
            <a:avLst/>
          </a:prstGeom>
          <a:noFill/>
        </p:spPr>
        <p:txBody>
          <a:bodyPr wrap="square" lIns="127" tIns="127" rIns="127" bIns="127" anchor="ctr">
            <a:normAutofit/>
          </a:bodyPr>
          <a:lstStyle/>
          <a:p>
            <a:pPr marL="0" indent="0" algn="ctr">
              <a:buNone/>
            </a:pPr>
            <a:r>
              <a:rPr sz="1150">
                <a:solidFill>
                  <a:srgbClr val="FFFFFF"/>
                </a:solidFill>
                <a:latin typeface="Microsoft YaHei"/>
                <a:ea typeface="Microsoft YaHei"/>
                <a:cs typeface="Microsoft YaHei"/>
              </a:rPr>
              <a:t>npu-smi</a:t>
            </a:r>
            <a:endParaRPr sz="1150"/>
          </a:p>
          <a:p>
            <a:pPr marL="0" indent="0" algn="ctr">
              <a:buNone/>
            </a:pPr>
            <a:r>
              <a:rPr sz="1150">
                <a:solidFill>
                  <a:srgbClr val="FFFFFF"/>
                </a:solidFill>
                <a:latin typeface="Microsoft YaHei"/>
                <a:ea typeface="Microsoft YaHei"/>
                <a:cs typeface="Microsoft YaHei"/>
              </a:rPr>
              <a:t>torch_npu</a:t>
            </a:r>
            <a:endParaRPr sz="1150"/>
          </a:p>
        </p:txBody>
      </p:sp>
      <p:sp>
        <p:nvSpPr>
          <p:cNvPr id="9" name="Shape 7">
            <a:extLst>
              <a:ext uri="{FF2B5EF4-FFF2-40B4-BE49-F238E27FC236}">
                <a16:creationId xmlns:a16="http://schemas.microsoft.com/office/drawing/2014/main" id="{A0E0F542-3D66-4FAA-BEAC-BA86BC1E221A}"/>
              </a:ext>
            </a:extLst>
          </p:cNvPr>
          <p:cNvSpPr>
            <a:spLocks noGrp="1"/>
          </p:cNvSpPr>
          <p:nvPr/>
        </p:nvSpPr>
        <p:spPr>
          <a:xfrm>
            <a:off x="2276856" y="2510028"/>
            <a:ext cx="182880" cy="0"/>
          </a:xfrm>
          <a:prstGeom prst="line">
            <a:avLst/>
          </a:prstGeom>
          <a:noFill/>
          <a:ln w="25400">
            <a:solidFill>
              <a:srgbClr val="1F4E79"/>
            </a:solidFill>
            <a:prstDash val="solid"/>
            <a:headEnd type="none"/>
            <a:tailEnd type="triangle"/>
          </a:ln>
        </p:spPr>
      </p:sp>
      <p:sp>
        <p:nvSpPr>
          <p:cNvPr id="10" name="Shape 8">
            <a:extLst>
              <a:ext uri="{FF2B5EF4-FFF2-40B4-BE49-F238E27FC236}">
                <a16:creationId xmlns:a16="http://schemas.microsoft.com/office/drawing/2014/main" id="{AACD0B89-8EE6-4F0C-AA0B-00DE7C8E58E7}"/>
              </a:ext>
            </a:extLst>
          </p:cNvPr>
          <p:cNvSpPr>
            <a:spLocks noGrp="1"/>
          </p:cNvSpPr>
          <p:nvPr/>
        </p:nvSpPr>
        <p:spPr>
          <a:xfrm>
            <a:off x="2532888" y="2029968"/>
            <a:ext cx="1572768" cy="960120"/>
          </a:xfrm>
          <a:prstGeom prst="roundRect">
            <a:avLst>
              <a:gd name="adj" fmla="val 5714"/>
            </a:avLst>
          </a:prstGeom>
          <a:solidFill>
            <a:srgbClr val="308FAE"/>
          </a:solidFill>
          <a:ln w="12700">
            <a:solidFill>
              <a:srgbClr val="308FAE"/>
            </a:solidFill>
            <a:prstDash val="solid"/>
          </a:ln>
        </p:spPr>
      </p:sp>
      <p:sp>
        <p:nvSpPr>
          <p:cNvPr id="11" name="Text 9">
            <a:extLst>
              <a:ext uri="{FF2B5EF4-FFF2-40B4-BE49-F238E27FC236}">
                <a16:creationId xmlns:a16="http://schemas.microsoft.com/office/drawing/2014/main" id="{99CBD55E-A9F9-4C03-8BDB-B8BE518B4CA9}"/>
              </a:ext>
            </a:extLst>
          </p:cNvPr>
          <p:cNvSpPr>
            <a:spLocks noGrp="1"/>
          </p:cNvSpPr>
          <p:nvPr/>
        </p:nvSpPr>
        <p:spPr>
          <a:xfrm>
            <a:off x="2642616" y="2139696"/>
            <a:ext cx="1353312" cy="246888"/>
          </a:xfrm>
          <a:prstGeom prst="rect">
            <a:avLst/>
          </a:prstGeom>
          <a:noFill/>
        </p:spPr>
        <p:txBody>
          <a:bodyPr wrap="square" lIns="0" tIns="0" rIns="0" bIns="0" anchor="ctr"/>
          <a:lstStyle/>
          <a:p>
            <a:pPr marL="0" indent="0" algn="ctr">
              <a:buNone/>
            </a:pPr>
            <a:r>
              <a:rPr sz="1350" b="1">
                <a:solidFill>
                  <a:srgbClr val="FFFFFF"/>
                </a:solidFill>
                <a:latin typeface="Microsoft YaHei"/>
                <a:ea typeface="Microsoft YaHei"/>
                <a:cs typeface="Microsoft YaHei"/>
              </a:rPr>
              <a:t>数据准备</a:t>
            </a:r>
            <a:endParaRPr sz="1350"/>
          </a:p>
        </p:txBody>
      </p:sp>
      <p:sp>
        <p:nvSpPr>
          <p:cNvPr id="12" name="Text 10">
            <a:extLst>
              <a:ext uri="{FF2B5EF4-FFF2-40B4-BE49-F238E27FC236}">
                <a16:creationId xmlns:a16="http://schemas.microsoft.com/office/drawing/2014/main" id="{84F45522-F845-4A2B-B5A9-A351B318EAF0}"/>
              </a:ext>
            </a:extLst>
          </p:cNvPr>
          <p:cNvSpPr>
            <a:spLocks noGrp="1"/>
          </p:cNvSpPr>
          <p:nvPr/>
        </p:nvSpPr>
        <p:spPr>
          <a:xfrm>
            <a:off x="2660904" y="2423160"/>
            <a:ext cx="1316736" cy="521208"/>
          </a:xfrm>
          <a:prstGeom prst="rect">
            <a:avLst/>
          </a:prstGeom>
          <a:noFill/>
        </p:spPr>
        <p:txBody>
          <a:bodyPr wrap="square" lIns="127" tIns="127" rIns="127" bIns="127" anchor="ctr">
            <a:normAutofit/>
          </a:bodyPr>
          <a:lstStyle/>
          <a:p>
            <a:pPr marL="0" indent="0" algn="ctr">
              <a:buNone/>
            </a:pPr>
            <a:r>
              <a:rPr sz="1150">
                <a:solidFill>
                  <a:srgbClr val="FFFFFF"/>
                </a:solidFill>
                <a:latin typeface="Microsoft YaHei"/>
                <a:ea typeface="Microsoft YaHei"/>
                <a:cs typeface="Microsoft YaHei"/>
              </a:rPr>
              <a:t>YOLO 数据集</a:t>
            </a:r>
            <a:endParaRPr sz="1150"/>
          </a:p>
          <a:p>
            <a:pPr marL="0" indent="0" algn="ctr">
              <a:buNone/>
            </a:pPr>
            <a:r>
              <a:rPr sz="1150">
                <a:solidFill>
                  <a:srgbClr val="FFFFFF"/>
                </a:solidFill>
                <a:latin typeface="Microsoft YaHei"/>
                <a:ea typeface="Microsoft YaHei"/>
                <a:cs typeface="Microsoft YaHei"/>
              </a:rPr>
              <a:t>配置文件</a:t>
            </a:r>
            <a:endParaRPr sz="1150"/>
          </a:p>
        </p:txBody>
      </p:sp>
      <p:sp>
        <p:nvSpPr>
          <p:cNvPr id="13" name="Shape 11">
            <a:extLst>
              <a:ext uri="{FF2B5EF4-FFF2-40B4-BE49-F238E27FC236}">
                <a16:creationId xmlns:a16="http://schemas.microsoft.com/office/drawing/2014/main" id="{C9F1C7A4-AF0B-42B0-8B55-4243789A33B7}"/>
              </a:ext>
            </a:extLst>
          </p:cNvPr>
          <p:cNvSpPr>
            <a:spLocks noGrp="1"/>
          </p:cNvSpPr>
          <p:nvPr/>
        </p:nvSpPr>
        <p:spPr>
          <a:xfrm>
            <a:off x="4169664" y="2510028"/>
            <a:ext cx="182880" cy="0"/>
          </a:xfrm>
          <a:prstGeom prst="line">
            <a:avLst/>
          </a:prstGeom>
          <a:noFill/>
          <a:ln w="25400">
            <a:solidFill>
              <a:srgbClr val="1F4E79"/>
            </a:solidFill>
            <a:prstDash val="solid"/>
            <a:headEnd type="none"/>
            <a:tailEnd type="triangle"/>
          </a:ln>
        </p:spPr>
      </p:sp>
      <p:sp>
        <p:nvSpPr>
          <p:cNvPr id="14" name="Shape 12">
            <a:extLst>
              <a:ext uri="{FF2B5EF4-FFF2-40B4-BE49-F238E27FC236}">
                <a16:creationId xmlns:a16="http://schemas.microsoft.com/office/drawing/2014/main" id="{7E9C44CE-A043-49C2-8660-3D8209A2CC4C}"/>
              </a:ext>
            </a:extLst>
          </p:cNvPr>
          <p:cNvSpPr>
            <a:spLocks noGrp="1"/>
          </p:cNvSpPr>
          <p:nvPr/>
        </p:nvSpPr>
        <p:spPr>
          <a:xfrm>
            <a:off x="4425696" y="2029968"/>
            <a:ext cx="1572768" cy="960120"/>
          </a:xfrm>
          <a:prstGeom prst="roundRect">
            <a:avLst>
              <a:gd name="adj" fmla="val 5714"/>
            </a:avLst>
          </a:prstGeom>
          <a:solidFill>
            <a:srgbClr val="F58220"/>
          </a:solidFill>
          <a:ln w="12700">
            <a:solidFill>
              <a:srgbClr val="F58220"/>
            </a:solidFill>
            <a:prstDash val="solid"/>
          </a:ln>
        </p:spPr>
      </p:sp>
      <p:sp>
        <p:nvSpPr>
          <p:cNvPr id="15" name="Text 13">
            <a:extLst>
              <a:ext uri="{FF2B5EF4-FFF2-40B4-BE49-F238E27FC236}">
                <a16:creationId xmlns:a16="http://schemas.microsoft.com/office/drawing/2014/main" id="{C04599D1-ABF5-486B-AC32-32C3EFD2DC82}"/>
              </a:ext>
            </a:extLst>
          </p:cNvPr>
          <p:cNvSpPr>
            <a:spLocks noGrp="1"/>
          </p:cNvSpPr>
          <p:nvPr/>
        </p:nvSpPr>
        <p:spPr>
          <a:xfrm>
            <a:off x="4535424" y="2139696"/>
            <a:ext cx="1353312" cy="246888"/>
          </a:xfrm>
          <a:prstGeom prst="rect">
            <a:avLst/>
          </a:prstGeom>
          <a:noFill/>
        </p:spPr>
        <p:txBody>
          <a:bodyPr wrap="square" lIns="0" tIns="0" rIns="0" bIns="0" anchor="ctr"/>
          <a:lstStyle/>
          <a:p>
            <a:pPr marL="0" indent="0" algn="ctr">
              <a:buNone/>
            </a:pPr>
            <a:r>
              <a:rPr sz="1350" b="1">
                <a:solidFill>
                  <a:srgbClr val="FFFFFF"/>
                </a:solidFill>
                <a:latin typeface="Microsoft YaHei"/>
                <a:ea typeface="Microsoft YaHei"/>
                <a:cs typeface="Microsoft YaHei"/>
              </a:rPr>
              <a:t>启动训练</a:t>
            </a:r>
            <a:endParaRPr sz="1350"/>
          </a:p>
        </p:txBody>
      </p:sp>
      <p:sp>
        <p:nvSpPr>
          <p:cNvPr id="16" name="Text 14">
            <a:extLst>
              <a:ext uri="{FF2B5EF4-FFF2-40B4-BE49-F238E27FC236}">
                <a16:creationId xmlns:a16="http://schemas.microsoft.com/office/drawing/2014/main" id="{99ECBC44-4F41-4031-90E5-4DB1B8AF8039}"/>
              </a:ext>
            </a:extLst>
          </p:cNvPr>
          <p:cNvSpPr>
            <a:spLocks noGrp="1"/>
          </p:cNvSpPr>
          <p:nvPr/>
        </p:nvSpPr>
        <p:spPr>
          <a:xfrm>
            <a:off x="4553712" y="2423160"/>
            <a:ext cx="1316736" cy="521208"/>
          </a:xfrm>
          <a:prstGeom prst="rect">
            <a:avLst/>
          </a:prstGeom>
          <a:noFill/>
        </p:spPr>
        <p:txBody>
          <a:bodyPr wrap="square" lIns="127" tIns="127" rIns="127" bIns="127" anchor="ctr">
            <a:normAutofit/>
          </a:bodyPr>
          <a:lstStyle/>
          <a:p>
            <a:pPr marL="0" indent="0" algn="ctr">
              <a:buNone/>
            </a:pPr>
            <a:r>
              <a:rPr sz="1150">
                <a:solidFill>
                  <a:srgbClr val="FFFFFF"/>
                </a:solidFill>
                <a:latin typeface="Microsoft YaHei"/>
                <a:ea typeface="Microsoft YaHei"/>
                <a:cs typeface="Microsoft YaHei"/>
              </a:rPr>
              <a:t>单进程</a:t>
            </a:r>
            <a:endParaRPr sz="1150"/>
          </a:p>
          <a:p>
            <a:pPr marL="0" indent="0" algn="ctr">
              <a:buNone/>
            </a:pPr>
            <a:r>
              <a:rPr sz="1150">
                <a:solidFill>
                  <a:srgbClr val="FFFFFF"/>
                </a:solidFill>
                <a:latin typeface="Microsoft YaHei"/>
                <a:ea typeface="Microsoft YaHei"/>
                <a:cs typeface="Microsoft YaHei"/>
              </a:rPr>
              <a:t>单 NPU</a:t>
            </a:r>
            <a:endParaRPr sz="1150"/>
          </a:p>
        </p:txBody>
      </p:sp>
      <p:sp>
        <p:nvSpPr>
          <p:cNvPr id="17" name="Shape 15">
            <a:extLst>
              <a:ext uri="{FF2B5EF4-FFF2-40B4-BE49-F238E27FC236}">
                <a16:creationId xmlns:a16="http://schemas.microsoft.com/office/drawing/2014/main" id="{FB46C12A-A852-4BCD-B869-0BD147BCB144}"/>
              </a:ext>
            </a:extLst>
          </p:cNvPr>
          <p:cNvSpPr>
            <a:spLocks noGrp="1"/>
          </p:cNvSpPr>
          <p:nvPr/>
        </p:nvSpPr>
        <p:spPr>
          <a:xfrm>
            <a:off x="6062472" y="2510028"/>
            <a:ext cx="182880" cy="0"/>
          </a:xfrm>
          <a:prstGeom prst="line">
            <a:avLst/>
          </a:prstGeom>
          <a:noFill/>
          <a:ln w="25400">
            <a:solidFill>
              <a:srgbClr val="1F4E79"/>
            </a:solidFill>
            <a:prstDash val="solid"/>
            <a:headEnd type="none"/>
            <a:tailEnd type="triangle"/>
          </a:ln>
        </p:spPr>
      </p:sp>
      <p:sp>
        <p:nvSpPr>
          <p:cNvPr id="18" name="Shape 16">
            <a:extLst>
              <a:ext uri="{FF2B5EF4-FFF2-40B4-BE49-F238E27FC236}">
                <a16:creationId xmlns:a16="http://schemas.microsoft.com/office/drawing/2014/main" id="{2A3318DE-0419-44CF-B28E-F6CA8025B5C6}"/>
              </a:ext>
            </a:extLst>
          </p:cNvPr>
          <p:cNvSpPr>
            <a:spLocks noGrp="1"/>
          </p:cNvSpPr>
          <p:nvPr/>
        </p:nvSpPr>
        <p:spPr>
          <a:xfrm>
            <a:off x="6318504" y="2029968"/>
            <a:ext cx="1572768" cy="960120"/>
          </a:xfrm>
          <a:prstGeom prst="roundRect">
            <a:avLst>
              <a:gd name="adj" fmla="val 5714"/>
            </a:avLst>
          </a:prstGeom>
          <a:solidFill>
            <a:srgbClr val="27AE60"/>
          </a:solidFill>
          <a:ln w="12700">
            <a:solidFill>
              <a:srgbClr val="27AE60"/>
            </a:solidFill>
            <a:prstDash val="solid"/>
          </a:ln>
        </p:spPr>
      </p:sp>
      <p:sp>
        <p:nvSpPr>
          <p:cNvPr id="19" name="Text 17">
            <a:extLst>
              <a:ext uri="{FF2B5EF4-FFF2-40B4-BE49-F238E27FC236}">
                <a16:creationId xmlns:a16="http://schemas.microsoft.com/office/drawing/2014/main" id="{D09CD630-EDB8-45AD-A160-F27A18469DC8}"/>
              </a:ext>
            </a:extLst>
          </p:cNvPr>
          <p:cNvSpPr>
            <a:spLocks noGrp="1"/>
          </p:cNvSpPr>
          <p:nvPr/>
        </p:nvSpPr>
        <p:spPr>
          <a:xfrm>
            <a:off x="6428232" y="2139696"/>
            <a:ext cx="1353312" cy="246888"/>
          </a:xfrm>
          <a:prstGeom prst="rect">
            <a:avLst/>
          </a:prstGeom>
          <a:noFill/>
        </p:spPr>
        <p:txBody>
          <a:bodyPr wrap="square" lIns="0" tIns="0" rIns="0" bIns="0" anchor="ctr"/>
          <a:lstStyle/>
          <a:p>
            <a:pPr marL="0" indent="0" algn="ctr">
              <a:buNone/>
            </a:pPr>
            <a:r>
              <a:rPr sz="1350" b="1">
                <a:solidFill>
                  <a:srgbClr val="FFFFFF"/>
                </a:solidFill>
                <a:latin typeface="Microsoft YaHei"/>
                <a:ea typeface="Microsoft YaHei"/>
                <a:cs typeface="Microsoft YaHei"/>
              </a:rPr>
              <a:t>训练循环</a:t>
            </a:r>
            <a:endParaRPr sz="1350"/>
          </a:p>
        </p:txBody>
      </p:sp>
      <p:sp>
        <p:nvSpPr>
          <p:cNvPr id="20" name="Text 18">
            <a:extLst>
              <a:ext uri="{FF2B5EF4-FFF2-40B4-BE49-F238E27FC236}">
                <a16:creationId xmlns:a16="http://schemas.microsoft.com/office/drawing/2014/main" id="{64BDDBB3-6C0A-4E7F-99FF-DDEFB8AEA4DF}"/>
              </a:ext>
            </a:extLst>
          </p:cNvPr>
          <p:cNvSpPr>
            <a:spLocks noGrp="1"/>
          </p:cNvSpPr>
          <p:nvPr/>
        </p:nvSpPr>
        <p:spPr>
          <a:xfrm>
            <a:off x="6446520" y="2423160"/>
            <a:ext cx="1316736" cy="521208"/>
          </a:xfrm>
          <a:prstGeom prst="rect">
            <a:avLst/>
          </a:prstGeom>
          <a:noFill/>
        </p:spPr>
        <p:txBody>
          <a:bodyPr wrap="square" lIns="127" tIns="127" rIns="127" bIns="127" anchor="ctr">
            <a:normAutofit fontScale="99082"/>
          </a:bodyPr>
          <a:lstStyle/>
          <a:p>
            <a:pPr marL="0" indent="0" algn="ctr">
              <a:buNone/>
            </a:pPr>
            <a:r>
              <a:rPr sz="1150">
                <a:solidFill>
                  <a:srgbClr val="FFFFFF"/>
                </a:solidFill>
                <a:latin typeface="Microsoft YaHei"/>
                <a:ea typeface="Microsoft YaHei"/>
                <a:cs typeface="Microsoft YaHei"/>
              </a:rPr>
              <a:t>forward</a:t>
            </a:r>
            <a:endParaRPr sz="1150"/>
          </a:p>
          <a:p>
            <a:pPr marL="0" indent="0" algn="ctr">
              <a:buNone/>
            </a:pPr>
            <a:r>
              <a:rPr sz="1150">
                <a:solidFill>
                  <a:srgbClr val="FFFFFF"/>
                </a:solidFill>
                <a:latin typeface="Microsoft YaHei"/>
                <a:ea typeface="Microsoft YaHei"/>
                <a:cs typeface="Microsoft YaHei"/>
              </a:rPr>
              <a:t>backward</a:t>
            </a:r>
            <a:endParaRPr sz="1150"/>
          </a:p>
          <a:p>
            <a:pPr marL="0" indent="0" algn="ctr">
              <a:buNone/>
            </a:pPr>
            <a:r>
              <a:rPr sz="1150">
                <a:solidFill>
                  <a:srgbClr val="FFFFFF"/>
                </a:solidFill>
                <a:latin typeface="Microsoft YaHei"/>
                <a:ea typeface="Microsoft YaHei"/>
                <a:cs typeface="Microsoft YaHei"/>
              </a:rPr>
              <a:t>optimizer</a:t>
            </a:r>
            <a:endParaRPr sz="1150"/>
          </a:p>
        </p:txBody>
      </p:sp>
      <p:sp>
        <p:nvSpPr>
          <p:cNvPr id="21" name="Shape 19">
            <a:extLst>
              <a:ext uri="{FF2B5EF4-FFF2-40B4-BE49-F238E27FC236}">
                <a16:creationId xmlns:a16="http://schemas.microsoft.com/office/drawing/2014/main" id="{5050544A-A9F1-4496-8DEE-360367DBEDBC}"/>
              </a:ext>
            </a:extLst>
          </p:cNvPr>
          <p:cNvSpPr>
            <a:spLocks noGrp="1"/>
          </p:cNvSpPr>
          <p:nvPr/>
        </p:nvSpPr>
        <p:spPr>
          <a:xfrm>
            <a:off x="7955280" y="2510028"/>
            <a:ext cx="182880" cy="0"/>
          </a:xfrm>
          <a:prstGeom prst="line">
            <a:avLst/>
          </a:prstGeom>
          <a:noFill/>
          <a:ln w="25400">
            <a:solidFill>
              <a:srgbClr val="1F4E79"/>
            </a:solidFill>
            <a:prstDash val="solid"/>
            <a:headEnd type="none"/>
            <a:tailEnd type="triangle"/>
          </a:ln>
        </p:spPr>
      </p:sp>
      <p:sp>
        <p:nvSpPr>
          <p:cNvPr id="22" name="Shape 20">
            <a:extLst>
              <a:ext uri="{FF2B5EF4-FFF2-40B4-BE49-F238E27FC236}">
                <a16:creationId xmlns:a16="http://schemas.microsoft.com/office/drawing/2014/main" id="{E6AC2ADC-D6C0-45FD-AA18-F29219E02F48}"/>
              </a:ext>
            </a:extLst>
          </p:cNvPr>
          <p:cNvSpPr>
            <a:spLocks noGrp="1"/>
          </p:cNvSpPr>
          <p:nvPr/>
        </p:nvSpPr>
        <p:spPr>
          <a:xfrm>
            <a:off x="8211312" y="2029968"/>
            <a:ext cx="1572768" cy="960120"/>
          </a:xfrm>
          <a:prstGeom prst="roundRect">
            <a:avLst>
              <a:gd name="adj" fmla="val 5714"/>
            </a:avLst>
          </a:prstGeom>
          <a:solidFill>
            <a:srgbClr val="8E44AD"/>
          </a:solidFill>
          <a:ln w="12700">
            <a:solidFill>
              <a:srgbClr val="8E44AD"/>
            </a:solidFill>
            <a:prstDash val="solid"/>
          </a:ln>
        </p:spPr>
      </p:sp>
      <p:sp>
        <p:nvSpPr>
          <p:cNvPr id="23" name="Text 21">
            <a:extLst>
              <a:ext uri="{FF2B5EF4-FFF2-40B4-BE49-F238E27FC236}">
                <a16:creationId xmlns:a16="http://schemas.microsoft.com/office/drawing/2014/main" id="{1F7AEA89-6E48-43B2-8D32-5F14C29889FB}"/>
              </a:ext>
            </a:extLst>
          </p:cNvPr>
          <p:cNvSpPr>
            <a:spLocks noGrp="1"/>
          </p:cNvSpPr>
          <p:nvPr/>
        </p:nvSpPr>
        <p:spPr>
          <a:xfrm>
            <a:off x="8321040" y="2139696"/>
            <a:ext cx="1353312" cy="246888"/>
          </a:xfrm>
          <a:prstGeom prst="rect">
            <a:avLst/>
          </a:prstGeom>
          <a:noFill/>
        </p:spPr>
        <p:txBody>
          <a:bodyPr wrap="square" lIns="0" tIns="0" rIns="0" bIns="0" anchor="ctr"/>
          <a:lstStyle/>
          <a:p>
            <a:pPr marL="0" indent="0" algn="ctr">
              <a:buNone/>
            </a:pPr>
            <a:r>
              <a:rPr sz="1350" b="1">
                <a:solidFill>
                  <a:srgbClr val="FFFFFF"/>
                </a:solidFill>
                <a:latin typeface="Microsoft YaHei"/>
                <a:ea typeface="Microsoft YaHei"/>
                <a:cs typeface="Microsoft YaHei"/>
              </a:rPr>
              <a:t>AMP调优</a:t>
            </a:r>
            <a:endParaRPr sz="1350"/>
          </a:p>
        </p:txBody>
      </p:sp>
      <p:sp>
        <p:nvSpPr>
          <p:cNvPr id="24" name="Text 22">
            <a:extLst>
              <a:ext uri="{FF2B5EF4-FFF2-40B4-BE49-F238E27FC236}">
                <a16:creationId xmlns:a16="http://schemas.microsoft.com/office/drawing/2014/main" id="{23184C8B-BD50-4077-A154-DBA720A2D667}"/>
              </a:ext>
            </a:extLst>
          </p:cNvPr>
          <p:cNvSpPr>
            <a:spLocks noGrp="1"/>
          </p:cNvSpPr>
          <p:nvPr/>
        </p:nvSpPr>
        <p:spPr>
          <a:xfrm>
            <a:off x="8339328" y="2423160"/>
            <a:ext cx="1316736" cy="521208"/>
          </a:xfrm>
          <a:prstGeom prst="rect">
            <a:avLst/>
          </a:prstGeom>
          <a:noFill/>
        </p:spPr>
        <p:txBody>
          <a:bodyPr wrap="square" lIns="127" tIns="127" rIns="127" bIns="127" anchor="ctr">
            <a:normAutofit/>
          </a:bodyPr>
          <a:lstStyle/>
          <a:p>
            <a:pPr marL="0" indent="0" algn="ctr">
              <a:buNone/>
            </a:pPr>
            <a:r>
              <a:rPr sz="1150">
                <a:solidFill>
                  <a:srgbClr val="FFFFFF"/>
                </a:solidFill>
                <a:latin typeface="Microsoft YaHei"/>
                <a:ea typeface="Microsoft YaHei"/>
                <a:cs typeface="Microsoft YaHei"/>
              </a:rPr>
              <a:t>混合精度</a:t>
            </a:r>
            <a:endParaRPr sz="1150"/>
          </a:p>
          <a:p>
            <a:pPr marL="0" indent="0" algn="ctr">
              <a:buNone/>
            </a:pPr>
            <a:r>
              <a:rPr sz="1150">
                <a:solidFill>
                  <a:srgbClr val="FFFFFF"/>
                </a:solidFill>
                <a:latin typeface="Microsoft YaHei"/>
                <a:ea typeface="Microsoft YaHei"/>
                <a:cs typeface="Microsoft YaHei"/>
              </a:rPr>
              <a:t>吞吐观察</a:t>
            </a:r>
            <a:endParaRPr sz="1150"/>
          </a:p>
        </p:txBody>
      </p:sp>
      <p:sp>
        <p:nvSpPr>
          <p:cNvPr id="25" name="Shape 23">
            <a:extLst>
              <a:ext uri="{FF2B5EF4-FFF2-40B4-BE49-F238E27FC236}">
                <a16:creationId xmlns:a16="http://schemas.microsoft.com/office/drawing/2014/main" id="{1B386120-F7D0-4F34-AB28-60757DFD1CB8}"/>
              </a:ext>
            </a:extLst>
          </p:cNvPr>
          <p:cNvSpPr>
            <a:spLocks noGrp="1"/>
          </p:cNvSpPr>
          <p:nvPr/>
        </p:nvSpPr>
        <p:spPr>
          <a:xfrm>
            <a:off x="9848088" y="2510028"/>
            <a:ext cx="182880" cy="0"/>
          </a:xfrm>
          <a:prstGeom prst="line">
            <a:avLst/>
          </a:prstGeom>
          <a:noFill/>
          <a:ln w="25400">
            <a:solidFill>
              <a:srgbClr val="1F4E79"/>
            </a:solidFill>
            <a:prstDash val="solid"/>
            <a:headEnd type="none"/>
            <a:tailEnd type="triangle"/>
          </a:ln>
        </p:spPr>
      </p:sp>
      <p:sp>
        <p:nvSpPr>
          <p:cNvPr id="26" name="Shape 24">
            <a:extLst>
              <a:ext uri="{FF2B5EF4-FFF2-40B4-BE49-F238E27FC236}">
                <a16:creationId xmlns:a16="http://schemas.microsoft.com/office/drawing/2014/main" id="{3301A823-3537-4437-9B26-96B6BC030C80}"/>
              </a:ext>
            </a:extLst>
          </p:cNvPr>
          <p:cNvSpPr>
            <a:spLocks noGrp="1"/>
          </p:cNvSpPr>
          <p:nvPr/>
        </p:nvSpPr>
        <p:spPr>
          <a:xfrm>
            <a:off x="10104120" y="2029968"/>
            <a:ext cx="1572768" cy="960120"/>
          </a:xfrm>
          <a:prstGeom prst="roundRect">
            <a:avLst>
              <a:gd name="adj" fmla="val 5714"/>
            </a:avLst>
          </a:prstGeom>
          <a:solidFill>
            <a:srgbClr val="1F4E79"/>
          </a:solidFill>
          <a:ln w="12700">
            <a:solidFill>
              <a:srgbClr val="1F4E79"/>
            </a:solidFill>
            <a:prstDash val="solid"/>
          </a:ln>
        </p:spPr>
      </p:sp>
      <p:sp>
        <p:nvSpPr>
          <p:cNvPr id="27" name="Text 25">
            <a:extLst>
              <a:ext uri="{FF2B5EF4-FFF2-40B4-BE49-F238E27FC236}">
                <a16:creationId xmlns:a16="http://schemas.microsoft.com/office/drawing/2014/main" id="{B84E5577-3156-4E50-A22E-3899E065F491}"/>
              </a:ext>
            </a:extLst>
          </p:cNvPr>
          <p:cNvSpPr>
            <a:spLocks noGrp="1"/>
          </p:cNvSpPr>
          <p:nvPr/>
        </p:nvSpPr>
        <p:spPr>
          <a:xfrm>
            <a:off x="10213848" y="2139696"/>
            <a:ext cx="1353312" cy="246888"/>
          </a:xfrm>
          <a:prstGeom prst="rect">
            <a:avLst/>
          </a:prstGeom>
          <a:noFill/>
        </p:spPr>
        <p:txBody>
          <a:bodyPr wrap="square" lIns="0" tIns="0" rIns="0" bIns="0" anchor="ctr"/>
          <a:lstStyle/>
          <a:p>
            <a:pPr marL="0" indent="0" algn="ctr">
              <a:buNone/>
            </a:pPr>
            <a:r>
              <a:rPr sz="1350" b="1">
                <a:solidFill>
                  <a:srgbClr val="FFFFFF"/>
                </a:solidFill>
                <a:latin typeface="Microsoft YaHei"/>
                <a:ea typeface="Microsoft YaHei"/>
                <a:cs typeface="Microsoft YaHei"/>
              </a:rPr>
              <a:t>Profiling</a:t>
            </a:r>
            <a:endParaRPr sz="1350"/>
          </a:p>
        </p:txBody>
      </p:sp>
      <p:sp>
        <p:nvSpPr>
          <p:cNvPr id="28" name="Text 26">
            <a:extLst>
              <a:ext uri="{FF2B5EF4-FFF2-40B4-BE49-F238E27FC236}">
                <a16:creationId xmlns:a16="http://schemas.microsoft.com/office/drawing/2014/main" id="{B2D55B6C-1922-4052-BF84-B24FFDAF7A08}"/>
              </a:ext>
            </a:extLst>
          </p:cNvPr>
          <p:cNvSpPr>
            <a:spLocks noGrp="1"/>
          </p:cNvSpPr>
          <p:nvPr/>
        </p:nvSpPr>
        <p:spPr>
          <a:xfrm>
            <a:off x="10232136" y="2423160"/>
            <a:ext cx="1316736" cy="521208"/>
          </a:xfrm>
          <a:prstGeom prst="rect">
            <a:avLst/>
          </a:prstGeom>
          <a:noFill/>
        </p:spPr>
        <p:txBody>
          <a:bodyPr wrap="square" lIns="127" tIns="127" rIns="127" bIns="127" anchor="ctr">
            <a:normAutofit/>
          </a:bodyPr>
          <a:lstStyle/>
          <a:p>
            <a:pPr marL="0" indent="0" algn="ctr">
              <a:buNone/>
            </a:pPr>
            <a:r>
              <a:rPr sz="1150">
                <a:solidFill>
                  <a:srgbClr val="FFFFFF"/>
                </a:solidFill>
                <a:latin typeface="Microsoft YaHei"/>
                <a:ea typeface="Microsoft YaHei"/>
                <a:cs typeface="Microsoft YaHei"/>
              </a:rPr>
              <a:t>MSPROF</a:t>
            </a:r>
            <a:endParaRPr sz="1150"/>
          </a:p>
          <a:p>
            <a:pPr marL="0" indent="0" algn="ctr">
              <a:buNone/>
            </a:pPr>
            <a:r>
              <a:rPr sz="1150">
                <a:solidFill>
                  <a:srgbClr val="FFFFFF"/>
                </a:solidFill>
                <a:latin typeface="Microsoft YaHei"/>
                <a:ea typeface="Microsoft YaHei"/>
                <a:cs typeface="Microsoft YaHei"/>
              </a:rPr>
              <a:t>瓶颈定位</a:t>
            </a:r>
            <a:endParaRPr sz="1150"/>
          </a:p>
        </p:txBody>
      </p:sp>
      <p:sp>
        <p:nvSpPr>
          <p:cNvPr id="29" name="Text 27">
            <a:extLst>
              <a:ext uri="{FF2B5EF4-FFF2-40B4-BE49-F238E27FC236}">
                <a16:creationId xmlns:a16="http://schemas.microsoft.com/office/drawing/2014/main" id="{8A4B6381-8C62-45BD-82CF-38D464401936}"/>
              </a:ext>
            </a:extLst>
          </p:cNvPr>
          <p:cNvSpPr>
            <a:spLocks noGrp="1"/>
          </p:cNvSpPr>
          <p:nvPr/>
        </p:nvSpPr>
        <p:spPr>
          <a:xfrm>
            <a:off x="914400" y="3840480"/>
            <a:ext cx="10058400" cy="566928"/>
          </a:xfrm>
          <a:prstGeom prst="rect">
            <a:avLst/>
          </a:prstGeom>
          <a:noFill/>
        </p:spPr>
        <p:txBody>
          <a:bodyPr wrap="square" lIns="254" tIns="254" rIns="254" bIns="254" anchor="t">
            <a:normAutofit/>
          </a:bodyPr>
          <a:lstStyle/>
          <a:p>
            <a:pPr marL="0" indent="0">
              <a:buNone/>
            </a:pPr>
            <a:r>
              <a:rPr sz="1800" b="1" dirty="0" err="1">
                <a:solidFill>
                  <a:srgbClr val="1F4E79"/>
                </a:solidFill>
                <a:latin typeface="Microsoft YaHei"/>
                <a:ea typeface="Microsoft YaHei"/>
                <a:cs typeface="Microsoft YaHei"/>
              </a:rPr>
              <a:t>主线解决“单卡</a:t>
            </a:r>
            <a:r>
              <a:rPr sz="1800" b="1" dirty="0">
                <a:solidFill>
                  <a:srgbClr val="1F4E79"/>
                </a:solidFill>
                <a:latin typeface="Microsoft YaHei"/>
                <a:ea typeface="Microsoft YaHei"/>
                <a:cs typeface="Microsoft YaHei"/>
              </a:rPr>
              <a:t> NPU </a:t>
            </a:r>
            <a:r>
              <a:rPr sz="1800" b="1" dirty="0" err="1">
                <a:solidFill>
                  <a:srgbClr val="1F4E79"/>
                </a:solidFill>
                <a:latin typeface="Microsoft YaHei"/>
                <a:ea typeface="Microsoft YaHei"/>
                <a:cs typeface="Microsoft YaHei"/>
              </a:rPr>
              <a:t>能否稳定完成</a:t>
            </a:r>
            <a:r>
              <a:rPr sz="1800" b="1" dirty="0">
                <a:solidFill>
                  <a:srgbClr val="1F4E79"/>
                </a:solidFill>
                <a:latin typeface="Microsoft YaHei"/>
                <a:ea typeface="Microsoft YaHei"/>
                <a:cs typeface="Microsoft YaHei"/>
              </a:rPr>
              <a:t> YOLO </a:t>
            </a:r>
            <a:r>
              <a:rPr sz="1800" b="1" dirty="0" err="1">
                <a:solidFill>
                  <a:srgbClr val="1F4E79"/>
                </a:solidFill>
                <a:latin typeface="Microsoft YaHei"/>
                <a:ea typeface="Microsoft YaHei"/>
                <a:cs typeface="Microsoft YaHei"/>
              </a:rPr>
              <a:t>训练</a:t>
            </a:r>
            <a:r>
              <a:rPr sz="1800" b="1" dirty="0">
                <a:solidFill>
                  <a:srgbClr val="1F4E79"/>
                </a:solidFill>
                <a:latin typeface="Microsoft YaHei"/>
                <a:ea typeface="Microsoft YaHei"/>
                <a:cs typeface="Microsoft YaHei"/>
              </a:rPr>
              <a:t>”，</a:t>
            </a:r>
            <a:r>
              <a:rPr sz="1800" b="1" dirty="0" err="1">
                <a:solidFill>
                  <a:srgbClr val="1F4E79"/>
                </a:solidFill>
                <a:latin typeface="Microsoft YaHei"/>
                <a:ea typeface="Microsoft YaHei"/>
                <a:cs typeface="Microsoft YaHei"/>
              </a:rPr>
              <a:t>并通过</a:t>
            </a:r>
            <a:r>
              <a:rPr sz="1800" b="1" dirty="0">
                <a:solidFill>
                  <a:srgbClr val="1F4E79"/>
                </a:solidFill>
                <a:latin typeface="Microsoft YaHei"/>
                <a:ea typeface="Microsoft YaHei"/>
                <a:cs typeface="Microsoft YaHei"/>
              </a:rPr>
              <a:t> </a:t>
            </a:r>
            <a:r>
              <a:rPr sz="1800" b="1" dirty="0" err="1">
                <a:solidFill>
                  <a:srgbClr val="1F4E79"/>
                </a:solidFill>
                <a:latin typeface="Microsoft YaHei"/>
                <a:ea typeface="Microsoft YaHei"/>
                <a:cs typeface="Microsoft YaHei"/>
              </a:rPr>
              <a:t>loss、checkpoint、吞吐和</a:t>
            </a:r>
            <a:r>
              <a:rPr sz="1800" b="1" dirty="0">
                <a:solidFill>
                  <a:srgbClr val="1F4E79"/>
                </a:solidFill>
                <a:latin typeface="Microsoft YaHei"/>
                <a:ea typeface="Microsoft YaHei"/>
                <a:cs typeface="Microsoft YaHei"/>
              </a:rPr>
              <a:t> Profiling </a:t>
            </a:r>
            <a:r>
              <a:rPr sz="1800" b="1" dirty="0" err="1">
                <a:solidFill>
                  <a:srgbClr val="1F4E79"/>
                </a:solidFill>
                <a:latin typeface="Microsoft YaHei"/>
                <a:ea typeface="Microsoft YaHei"/>
                <a:cs typeface="Microsoft YaHei"/>
              </a:rPr>
              <a:t>结果完成验收</a:t>
            </a:r>
            <a:r>
              <a:rPr sz="1800" b="1" dirty="0">
                <a:solidFill>
                  <a:srgbClr val="1F4E79"/>
                </a:solidFill>
                <a:latin typeface="Microsoft YaHei"/>
                <a:ea typeface="Microsoft YaHei"/>
                <a:cs typeface="Microsoft YaHei"/>
              </a:rPr>
              <a:t>。</a:t>
            </a:r>
            <a:endParaRPr sz="1800" dirty="0"/>
          </a:p>
        </p:txBody>
      </p:sp>
      <p:sp>
        <p:nvSpPr>
          <p:cNvPr id="30" name="Text 28">
            <a:extLst>
              <a:ext uri="{FF2B5EF4-FFF2-40B4-BE49-F238E27FC236}">
                <a16:creationId xmlns:a16="http://schemas.microsoft.com/office/drawing/2014/main" id="{6F55F2D0-6FB8-4A74-97E5-8984EDF8442C}"/>
              </a:ext>
            </a:extLst>
          </p:cNvPr>
          <p:cNvSpPr>
            <a:spLocks noGrp="1"/>
          </p:cNvSpPr>
          <p:nvPr/>
        </p:nvSpPr>
        <p:spPr>
          <a:xfrm>
            <a:off x="914400" y="4681728"/>
            <a:ext cx="9875520" cy="548640"/>
          </a:xfrm>
          <a:prstGeom prst="rect">
            <a:avLst/>
          </a:prstGeom>
          <a:noFill/>
        </p:spPr>
        <p:txBody>
          <a:bodyPr wrap="square" lIns="254" tIns="254" rIns="254" bIns="254" anchor="t">
            <a:normAutofit/>
          </a:bodyPr>
          <a:lstStyle/>
          <a:p>
            <a:pPr marL="0" indent="0">
              <a:buNone/>
            </a:pPr>
            <a:endParaRPr sz="1750" dirty="0"/>
          </a:p>
        </p:txBody>
      </p:sp>
    </p:spTree>
    <p:extLst>
      <p:ext uri="{BB962C8B-B14F-4D97-AF65-F5344CB8AC3E}">
        <p14:creationId xmlns:p14="http://schemas.microsoft.com/office/powerpoint/2010/main" val="691595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64EB-D443-5271-D509-9C81CCBCD06D}"/>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16BB365-E746-EC7D-2321-C18684ACDEEC}"/>
              </a:ext>
            </a:extLst>
          </p:cNvPr>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sym typeface="+mn-ea"/>
              </a:rPr>
              <a:t>学习目标</a:t>
            </a:r>
          </a:p>
          <a:p>
            <a:r>
              <a:rPr lang="en-US" b="1" dirty="0" err="1">
                <a:latin typeface="微软雅黑" panose="020B0503020204020204" pitchFamily="34" charset="-122"/>
                <a:ea typeface="微软雅黑" panose="020B0503020204020204" pitchFamily="34" charset="-122"/>
                <a:sym typeface="+mn-ea"/>
              </a:rPr>
              <a:t>实验环境准备</a:t>
            </a:r>
            <a:endParaRPr lang="en-US" b="1" dirty="0">
              <a:latin typeface="微软雅黑" panose="020B0503020204020204" pitchFamily="34" charset="-122"/>
              <a:ea typeface="微软雅黑" panose="020B0503020204020204" pitchFamily="34" charset="-122"/>
              <a:sym typeface="+mn-ea"/>
            </a:endParaRP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YOLO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单卡训练流程</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AMP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与训练参数调优</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Profiling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与实验验收</a:t>
            </a:r>
          </a:p>
          <a:p>
            <a:r>
              <a:rPr lang="zh-CN" altLang="en-US" dirty="0">
                <a:solidFill>
                  <a:schemeClr val="bg1">
                    <a:lumMod val="75000"/>
                  </a:schemeClr>
                </a:solidFill>
                <a:sym typeface="+mn-ea"/>
              </a:rPr>
              <a:t>实验总结与多卡扩展</a:t>
            </a:r>
          </a:p>
          <a:p>
            <a:r>
              <a:rPr lang="zh-CN" altLang="en-US" dirty="0">
                <a:solidFill>
                  <a:schemeClr val="bg1">
                    <a:lumMod val="75000"/>
                  </a:schemeClr>
                </a:solidFill>
              </a:rPr>
              <a:t>课后习题</a:t>
            </a:r>
            <a:endParaRPr lang="en-US" dirty="0">
              <a:solidFill>
                <a:schemeClr val="bg1">
                  <a:lumMod val="75000"/>
                </a:schemeClr>
              </a:solidFill>
            </a:endParaRPr>
          </a:p>
          <a:p>
            <a:endParaRPr lang="zh-CN" altLang="en-US" dirty="0"/>
          </a:p>
        </p:txBody>
      </p:sp>
    </p:spTree>
    <p:extLst>
      <p:ext uri="{BB962C8B-B14F-4D97-AF65-F5344CB8AC3E}">
        <p14:creationId xmlns:p14="http://schemas.microsoft.com/office/powerpoint/2010/main" val="1180193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4A21EF4-3A7A-4512-8B4E-BCCFBB8290DC}"/>
              </a:ext>
            </a:extLst>
          </p:cNvPr>
          <p:cNvSpPr>
            <a:spLocks noGrp="1"/>
          </p:cNvSpPr>
          <p:nvPr/>
        </p:nvSpPr>
        <p:spPr>
          <a:xfrm>
            <a:off x="0" y="0"/>
            <a:ext cx="12191695" cy="128016"/>
          </a:xfrm>
          <a:prstGeom prst="rect">
            <a:avLst/>
          </a:prstGeom>
          <a:solidFill>
            <a:srgbClr val="27AE60"/>
          </a:solidFill>
          <a:ln w="12700">
            <a:solidFill>
              <a:srgbClr val="27AE60"/>
            </a:solidFill>
            <a:prstDash val="solid"/>
          </a:ln>
        </p:spPr>
      </p:sp>
      <p:sp>
        <p:nvSpPr>
          <p:cNvPr id="3" name="Text 1">
            <a:extLst>
              <a:ext uri="{FF2B5EF4-FFF2-40B4-BE49-F238E27FC236}">
                <a16:creationId xmlns:a16="http://schemas.microsoft.com/office/drawing/2014/main" id="{6F836A6E-0859-40AA-954D-66EC991D8592}"/>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6</a:t>
            </a:r>
            <a:endParaRPr sz="800"/>
          </a:p>
        </p:txBody>
      </p:sp>
      <p:sp>
        <p:nvSpPr>
          <p:cNvPr id="4" name="Text 2">
            <a:extLst>
              <a:ext uri="{FF2B5EF4-FFF2-40B4-BE49-F238E27FC236}">
                <a16:creationId xmlns:a16="http://schemas.microsoft.com/office/drawing/2014/main" id="{E7D63465-47A0-4FD2-893E-C8EB6108E4BE}"/>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lang="zh-CN" altLang="en-US" sz="3200" b="1" dirty="0">
                <a:latin typeface="Microsoft YaHei"/>
                <a:ea typeface="Microsoft YaHei"/>
              </a:rPr>
              <a:t>实验环境准备</a:t>
            </a:r>
            <a:endParaRPr sz="3200" b="1" dirty="0">
              <a:latin typeface="Microsoft YaHei"/>
              <a:ea typeface="Microsoft YaHei"/>
            </a:endParaRPr>
          </a:p>
        </p:txBody>
      </p:sp>
      <p:sp>
        <p:nvSpPr>
          <p:cNvPr id="5" name="Shape 3">
            <a:extLst>
              <a:ext uri="{FF2B5EF4-FFF2-40B4-BE49-F238E27FC236}">
                <a16:creationId xmlns:a16="http://schemas.microsoft.com/office/drawing/2014/main" id="{4965F58F-53CD-4251-8C09-513212D5DD7F}"/>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Text 4">
            <a:extLst>
              <a:ext uri="{FF2B5EF4-FFF2-40B4-BE49-F238E27FC236}">
                <a16:creationId xmlns:a16="http://schemas.microsoft.com/office/drawing/2014/main" id="{1FEFE2E1-2577-4EB0-B96A-8008BB9EF10F}"/>
              </a:ext>
            </a:extLst>
          </p:cNvPr>
          <p:cNvSpPr>
            <a:spLocks noGrp="1"/>
          </p:cNvSpPr>
          <p:nvPr/>
        </p:nvSpPr>
        <p:spPr>
          <a:xfrm>
            <a:off x="914400" y="1540764"/>
            <a:ext cx="10058400" cy="457200"/>
          </a:xfrm>
          <a:prstGeom prst="rect">
            <a:avLst/>
          </a:prstGeom>
          <a:noFill/>
        </p:spPr>
        <p:txBody>
          <a:bodyPr wrap="square" lIns="254" tIns="254" rIns="254" bIns="254" anchor="t">
            <a:normAutofit fontScale="90741" lnSpcReduction="10000"/>
          </a:bodyPr>
          <a:lstStyle/>
          <a:p>
            <a:pPr marL="0" indent="0">
              <a:buNone/>
            </a:pPr>
            <a:r>
              <a:rPr sz="1800" b="1" dirty="0" err="1">
                <a:solidFill>
                  <a:srgbClr val="1F4E79"/>
                </a:solidFill>
                <a:latin typeface="Microsoft YaHei"/>
                <a:ea typeface="Microsoft YaHei"/>
                <a:cs typeface="Microsoft YaHei"/>
              </a:rPr>
              <a:t>本实验默认使用单张</a:t>
            </a:r>
            <a:r>
              <a:rPr sz="1800" b="1" dirty="0">
                <a:solidFill>
                  <a:srgbClr val="1F4E79"/>
                </a:solidFill>
                <a:latin typeface="Microsoft YaHei"/>
                <a:ea typeface="Microsoft YaHei"/>
                <a:cs typeface="Microsoft YaHei"/>
              </a:rPr>
              <a:t> Ascend 910 </a:t>
            </a:r>
            <a:r>
              <a:rPr sz="1800" b="1" dirty="0" err="1">
                <a:solidFill>
                  <a:srgbClr val="1F4E79"/>
                </a:solidFill>
                <a:latin typeface="Microsoft YaHei"/>
                <a:ea typeface="Microsoft YaHei"/>
                <a:cs typeface="Microsoft YaHei"/>
              </a:rPr>
              <a:t>NPU，重点确认设备可见、框架后端可用、训练脚本能启动，以及日志和</a:t>
            </a:r>
            <a:r>
              <a:rPr sz="1800" b="1" dirty="0">
                <a:solidFill>
                  <a:srgbClr val="1F4E79"/>
                </a:solidFill>
                <a:latin typeface="Microsoft YaHei"/>
                <a:ea typeface="Microsoft YaHei"/>
                <a:cs typeface="Microsoft YaHei"/>
              </a:rPr>
              <a:t> checkpoint </a:t>
            </a:r>
            <a:r>
              <a:rPr sz="1800" b="1" dirty="0" err="1">
                <a:solidFill>
                  <a:srgbClr val="1F4E79"/>
                </a:solidFill>
                <a:latin typeface="Microsoft YaHei"/>
                <a:ea typeface="Microsoft YaHei"/>
                <a:cs typeface="Microsoft YaHei"/>
              </a:rPr>
              <a:t>可用于验收</a:t>
            </a:r>
            <a:r>
              <a:rPr sz="1800" b="1" dirty="0">
                <a:solidFill>
                  <a:srgbClr val="1F4E79"/>
                </a:solidFill>
                <a:latin typeface="Microsoft YaHei"/>
                <a:ea typeface="Microsoft YaHei"/>
                <a:cs typeface="Microsoft YaHei"/>
              </a:rPr>
              <a:t>。</a:t>
            </a:r>
            <a:endParaRPr sz="1800" dirty="0"/>
          </a:p>
        </p:txBody>
      </p:sp>
      <p:sp>
        <p:nvSpPr>
          <p:cNvPr id="7" name="Shape 5">
            <a:extLst>
              <a:ext uri="{FF2B5EF4-FFF2-40B4-BE49-F238E27FC236}">
                <a16:creationId xmlns:a16="http://schemas.microsoft.com/office/drawing/2014/main" id="{87021A72-902D-4473-9F43-3DF92904AEC2}"/>
              </a:ext>
            </a:extLst>
          </p:cNvPr>
          <p:cNvSpPr>
            <a:spLocks noGrp="1"/>
          </p:cNvSpPr>
          <p:nvPr/>
        </p:nvSpPr>
        <p:spPr>
          <a:xfrm>
            <a:off x="914400" y="2084832"/>
            <a:ext cx="2194560" cy="502920"/>
          </a:xfrm>
          <a:prstGeom prst="rect">
            <a:avLst/>
          </a:prstGeom>
          <a:solidFill>
            <a:srgbClr val="1F4E79"/>
          </a:solidFill>
          <a:ln w="7620">
            <a:solidFill>
              <a:srgbClr val="DDE6ED"/>
            </a:solidFill>
            <a:prstDash val="solid"/>
          </a:ln>
        </p:spPr>
      </p:sp>
      <p:sp>
        <p:nvSpPr>
          <p:cNvPr id="8" name="Text 6">
            <a:extLst>
              <a:ext uri="{FF2B5EF4-FFF2-40B4-BE49-F238E27FC236}">
                <a16:creationId xmlns:a16="http://schemas.microsoft.com/office/drawing/2014/main" id="{2926EB79-75C2-42AB-A559-DBD4E6ECFB0C}"/>
              </a:ext>
            </a:extLst>
          </p:cNvPr>
          <p:cNvSpPr>
            <a:spLocks noGrp="1"/>
          </p:cNvSpPr>
          <p:nvPr/>
        </p:nvSpPr>
        <p:spPr>
          <a:xfrm>
            <a:off x="987552" y="2194560"/>
            <a:ext cx="2048256" cy="256032"/>
          </a:xfrm>
          <a:prstGeom prst="rect">
            <a:avLst/>
          </a:prstGeom>
          <a:noFill/>
        </p:spPr>
        <p:txBody>
          <a:bodyPr wrap="square" lIns="127" tIns="127" rIns="127" bIns="127" anchor="ctr">
            <a:normAutofit/>
          </a:bodyPr>
          <a:lstStyle/>
          <a:p>
            <a:pPr marL="0" indent="0">
              <a:buNone/>
            </a:pPr>
            <a:r>
              <a:rPr sz="1250" b="1">
                <a:solidFill>
                  <a:srgbClr val="FFFFFF"/>
                </a:solidFill>
                <a:latin typeface="Microsoft YaHei"/>
                <a:ea typeface="Microsoft YaHei"/>
                <a:cs typeface="Microsoft YaHei"/>
              </a:rPr>
              <a:t>检查项</a:t>
            </a:r>
            <a:endParaRPr sz="1250"/>
          </a:p>
        </p:txBody>
      </p:sp>
      <p:sp>
        <p:nvSpPr>
          <p:cNvPr id="9" name="Shape 7">
            <a:extLst>
              <a:ext uri="{FF2B5EF4-FFF2-40B4-BE49-F238E27FC236}">
                <a16:creationId xmlns:a16="http://schemas.microsoft.com/office/drawing/2014/main" id="{7A803299-7635-422C-A500-3FC30E15B5DB}"/>
              </a:ext>
            </a:extLst>
          </p:cNvPr>
          <p:cNvSpPr>
            <a:spLocks noGrp="1"/>
          </p:cNvSpPr>
          <p:nvPr/>
        </p:nvSpPr>
        <p:spPr>
          <a:xfrm>
            <a:off x="3108960" y="2084832"/>
            <a:ext cx="3657600" cy="502920"/>
          </a:xfrm>
          <a:prstGeom prst="rect">
            <a:avLst/>
          </a:prstGeom>
          <a:solidFill>
            <a:srgbClr val="1F4E79"/>
          </a:solidFill>
          <a:ln w="7620">
            <a:solidFill>
              <a:srgbClr val="DDE6ED"/>
            </a:solidFill>
            <a:prstDash val="solid"/>
          </a:ln>
        </p:spPr>
      </p:sp>
      <p:sp>
        <p:nvSpPr>
          <p:cNvPr id="10" name="Text 8">
            <a:extLst>
              <a:ext uri="{FF2B5EF4-FFF2-40B4-BE49-F238E27FC236}">
                <a16:creationId xmlns:a16="http://schemas.microsoft.com/office/drawing/2014/main" id="{2E4EABE1-5275-4EAB-AD2B-7B63AD56A90A}"/>
              </a:ext>
            </a:extLst>
          </p:cNvPr>
          <p:cNvSpPr>
            <a:spLocks noGrp="1"/>
          </p:cNvSpPr>
          <p:nvPr/>
        </p:nvSpPr>
        <p:spPr>
          <a:xfrm>
            <a:off x="3182112" y="2194560"/>
            <a:ext cx="3511296" cy="256032"/>
          </a:xfrm>
          <a:prstGeom prst="rect">
            <a:avLst/>
          </a:prstGeom>
          <a:noFill/>
        </p:spPr>
        <p:txBody>
          <a:bodyPr wrap="square" lIns="127" tIns="127" rIns="127" bIns="127" anchor="ctr">
            <a:normAutofit/>
          </a:bodyPr>
          <a:lstStyle/>
          <a:p>
            <a:pPr marL="0" indent="0">
              <a:buNone/>
            </a:pPr>
            <a:r>
              <a:rPr sz="1250" b="1">
                <a:solidFill>
                  <a:srgbClr val="FFFFFF"/>
                </a:solidFill>
                <a:latin typeface="Microsoft YaHei"/>
                <a:ea typeface="Microsoft YaHei"/>
                <a:cs typeface="Microsoft YaHei"/>
              </a:rPr>
              <a:t>推荐命令 / 现象</a:t>
            </a:r>
            <a:endParaRPr sz="1250"/>
          </a:p>
        </p:txBody>
      </p:sp>
      <p:sp>
        <p:nvSpPr>
          <p:cNvPr id="11" name="Shape 9">
            <a:extLst>
              <a:ext uri="{FF2B5EF4-FFF2-40B4-BE49-F238E27FC236}">
                <a16:creationId xmlns:a16="http://schemas.microsoft.com/office/drawing/2014/main" id="{A0FB516B-4B73-4627-839F-F6E29AD4D373}"/>
              </a:ext>
            </a:extLst>
          </p:cNvPr>
          <p:cNvSpPr>
            <a:spLocks noGrp="1"/>
          </p:cNvSpPr>
          <p:nvPr/>
        </p:nvSpPr>
        <p:spPr>
          <a:xfrm>
            <a:off x="6766560" y="2084832"/>
            <a:ext cx="3657600" cy="502920"/>
          </a:xfrm>
          <a:prstGeom prst="rect">
            <a:avLst/>
          </a:prstGeom>
          <a:solidFill>
            <a:srgbClr val="1F4E79"/>
          </a:solidFill>
          <a:ln w="7620">
            <a:solidFill>
              <a:srgbClr val="DDE6ED"/>
            </a:solidFill>
            <a:prstDash val="solid"/>
          </a:ln>
        </p:spPr>
      </p:sp>
      <p:sp>
        <p:nvSpPr>
          <p:cNvPr id="12" name="Text 10">
            <a:extLst>
              <a:ext uri="{FF2B5EF4-FFF2-40B4-BE49-F238E27FC236}">
                <a16:creationId xmlns:a16="http://schemas.microsoft.com/office/drawing/2014/main" id="{F50FF925-AFBA-4B1A-A15B-ECC77EB0AB3F}"/>
              </a:ext>
            </a:extLst>
          </p:cNvPr>
          <p:cNvSpPr>
            <a:spLocks noGrp="1"/>
          </p:cNvSpPr>
          <p:nvPr/>
        </p:nvSpPr>
        <p:spPr>
          <a:xfrm>
            <a:off x="6839712" y="2194560"/>
            <a:ext cx="3511296" cy="256032"/>
          </a:xfrm>
          <a:prstGeom prst="rect">
            <a:avLst/>
          </a:prstGeom>
          <a:noFill/>
        </p:spPr>
        <p:txBody>
          <a:bodyPr wrap="square" lIns="127" tIns="127" rIns="127" bIns="127" anchor="ctr">
            <a:normAutofit/>
          </a:bodyPr>
          <a:lstStyle/>
          <a:p>
            <a:pPr marL="0" indent="0">
              <a:buNone/>
            </a:pPr>
            <a:r>
              <a:rPr sz="1250" b="1">
                <a:solidFill>
                  <a:srgbClr val="FFFFFF"/>
                </a:solidFill>
                <a:latin typeface="Microsoft YaHei"/>
                <a:ea typeface="Microsoft YaHei"/>
                <a:cs typeface="Microsoft YaHei"/>
              </a:rPr>
              <a:t>判断目标</a:t>
            </a:r>
            <a:endParaRPr sz="1250"/>
          </a:p>
        </p:txBody>
      </p:sp>
      <p:sp>
        <p:nvSpPr>
          <p:cNvPr id="13" name="Shape 11">
            <a:extLst>
              <a:ext uri="{FF2B5EF4-FFF2-40B4-BE49-F238E27FC236}">
                <a16:creationId xmlns:a16="http://schemas.microsoft.com/office/drawing/2014/main" id="{634CAAF9-EB24-4038-881C-AA24EDB340B5}"/>
              </a:ext>
            </a:extLst>
          </p:cNvPr>
          <p:cNvSpPr>
            <a:spLocks noGrp="1"/>
          </p:cNvSpPr>
          <p:nvPr/>
        </p:nvSpPr>
        <p:spPr>
          <a:xfrm>
            <a:off x="914400" y="2587752"/>
            <a:ext cx="2194560" cy="502920"/>
          </a:xfrm>
          <a:prstGeom prst="rect">
            <a:avLst/>
          </a:prstGeom>
          <a:solidFill>
            <a:srgbClr val="F7FAFC"/>
          </a:solidFill>
          <a:ln w="7620">
            <a:solidFill>
              <a:srgbClr val="DDE6ED"/>
            </a:solidFill>
            <a:prstDash val="solid"/>
          </a:ln>
        </p:spPr>
      </p:sp>
      <p:sp>
        <p:nvSpPr>
          <p:cNvPr id="14" name="Text 12">
            <a:extLst>
              <a:ext uri="{FF2B5EF4-FFF2-40B4-BE49-F238E27FC236}">
                <a16:creationId xmlns:a16="http://schemas.microsoft.com/office/drawing/2014/main" id="{36F3572C-A002-434B-91B3-91FB16355C2E}"/>
              </a:ext>
            </a:extLst>
          </p:cNvPr>
          <p:cNvSpPr>
            <a:spLocks noGrp="1"/>
          </p:cNvSpPr>
          <p:nvPr/>
        </p:nvSpPr>
        <p:spPr>
          <a:xfrm>
            <a:off x="987552" y="2697480"/>
            <a:ext cx="204825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NPU设备</a:t>
            </a:r>
            <a:endParaRPr sz="1150"/>
          </a:p>
        </p:txBody>
      </p:sp>
      <p:sp>
        <p:nvSpPr>
          <p:cNvPr id="15" name="Shape 13">
            <a:extLst>
              <a:ext uri="{FF2B5EF4-FFF2-40B4-BE49-F238E27FC236}">
                <a16:creationId xmlns:a16="http://schemas.microsoft.com/office/drawing/2014/main" id="{D78C4894-FB3F-4F84-BEB2-69CBB526F52E}"/>
              </a:ext>
            </a:extLst>
          </p:cNvPr>
          <p:cNvSpPr>
            <a:spLocks noGrp="1"/>
          </p:cNvSpPr>
          <p:nvPr/>
        </p:nvSpPr>
        <p:spPr>
          <a:xfrm>
            <a:off x="3108960" y="2587752"/>
            <a:ext cx="3657600" cy="502920"/>
          </a:xfrm>
          <a:prstGeom prst="rect">
            <a:avLst/>
          </a:prstGeom>
          <a:solidFill>
            <a:srgbClr val="F7FAFC"/>
          </a:solidFill>
          <a:ln w="7620">
            <a:solidFill>
              <a:srgbClr val="DDE6ED"/>
            </a:solidFill>
            <a:prstDash val="solid"/>
          </a:ln>
        </p:spPr>
      </p:sp>
      <p:sp>
        <p:nvSpPr>
          <p:cNvPr id="16" name="Text 14">
            <a:extLst>
              <a:ext uri="{FF2B5EF4-FFF2-40B4-BE49-F238E27FC236}">
                <a16:creationId xmlns:a16="http://schemas.microsoft.com/office/drawing/2014/main" id="{93504CD5-FF4E-4387-83CD-363B360FE409}"/>
              </a:ext>
            </a:extLst>
          </p:cNvPr>
          <p:cNvSpPr>
            <a:spLocks noGrp="1"/>
          </p:cNvSpPr>
          <p:nvPr/>
        </p:nvSpPr>
        <p:spPr>
          <a:xfrm>
            <a:off x="3182112" y="269748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npu-smi info</a:t>
            </a:r>
            <a:endParaRPr sz="1150"/>
          </a:p>
        </p:txBody>
      </p:sp>
      <p:sp>
        <p:nvSpPr>
          <p:cNvPr id="17" name="Shape 15">
            <a:extLst>
              <a:ext uri="{FF2B5EF4-FFF2-40B4-BE49-F238E27FC236}">
                <a16:creationId xmlns:a16="http://schemas.microsoft.com/office/drawing/2014/main" id="{E78C9D64-7EF8-41A1-9874-8F6D2F8EBC4F}"/>
              </a:ext>
            </a:extLst>
          </p:cNvPr>
          <p:cNvSpPr>
            <a:spLocks noGrp="1"/>
          </p:cNvSpPr>
          <p:nvPr/>
        </p:nvSpPr>
        <p:spPr>
          <a:xfrm>
            <a:off x="6766560" y="2587752"/>
            <a:ext cx="3657600" cy="502920"/>
          </a:xfrm>
          <a:prstGeom prst="rect">
            <a:avLst/>
          </a:prstGeom>
          <a:solidFill>
            <a:srgbClr val="F7FAFC"/>
          </a:solidFill>
          <a:ln w="7620">
            <a:solidFill>
              <a:srgbClr val="DDE6ED"/>
            </a:solidFill>
            <a:prstDash val="solid"/>
          </a:ln>
        </p:spPr>
      </p:sp>
      <p:sp>
        <p:nvSpPr>
          <p:cNvPr id="18" name="Text 16">
            <a:extLst>
              <a:ext uri="{FF2B5EF4-FFF2-40B4-BE49-F238E27FC236}">
                <a16:creationId xmlns:a16="http://schemas.microsoft.com/office/drawing/2014/main" id="{DD18B50A-7438-4171-B81F-0E984FAE75BD}"/>
              </a:ext>
            </a:extLst>
          </p:cNvPr>
          <p:cNvSpPr>
            <a:spLocks noGrp="1"/>
          </p:cNvSpPr>
          <p:nvPr/>
        </p:nvSpPr>
        <p:spPr>
          <a:xfrm>
            <a:off x="6839712" y="269748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看到 1 张可用 Ascend 910 / 910B</a:t>
            </a:r>
            <a:endParaRPr sz="1150"/>
          </a:p>
        </p:txBody>
      </p:sp>
      <p:sp>
        <p:nvSpPr>
          <p:cNvPr id="19" name="Shape 17">
            <a:extLst>
              <a:ext uri="{FF2B5EF4-FFF2-40B4-BE49-F238E27FC236}">
                <a16:creationId xmlns:a16="http://schemas.microsoft.com/office/drawing/2014/main" id="{075F7279-BD2F-489E-A87A-A33D85973AD8}"/>
              </a:ext>
            </a:extLst>
          </p:cNvPr>
          <p:cNvSpPr>
            <a:spLocks noGrp="1"/>
          </p:cNvSpPr>
          <p:nvPr/>
        </p:nvSpPr>
        <p:spPr>
          <a:xfrm>
            <a:off x="914400" y="3090672"/>
            <a:ext cx="2194560" cy="502920"/>
          </a:xfrm>
          <a:prstGeom prst="rect">
            <a:avLst/>
          </a:prstGeom>
          <a:solidFill>
            <a:srgbClr val="FFFFFF"/>
          </a:solidFill>
          <a:ln w="7620">
            <a:solidFill>
              <a:srgbClr val="DDE6ED"/>
            </a:solidFill>
            <a:prstDash val="solid"/>
          </a:ln>
        </p:spPr>
      </p:sp>
      <p:sp>
        <p:nvSpPr>
          <p:cNvPr id="20" name="Text 18">
            <a:extLst>
              <a:ext uri="{FF2B5EF4-FFF2-40B4-BE49-F238E27FC236}">
                <a16:creationId xmlns:a16="http://schemas.microsoft.com/office/drawing/2014/main" id="{E7EFF416-18EB-4542-B25D-7BBDEFEB59F2}"/>
              </a:ext>
            </a:extLst>
          </p:cNvPr>
          <p:cNvSpPr>
            <a:spLocks noGrp="1"/>
          </p:cNvSpPr>
          <p:nvPr/>
        </p:nvSpPr>
        <p:spPr>
          <a:xfrm>
            <a:off x="987552" y="3200400"/>
            <a:ext cx="204825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框架后端</a:t>
            </a:r>
            <a:endParaRPr sz="1150"/>
          </a:p>
        </p:txBody>
      </p:sp>
      <p:sp>
        <p:nvSpPr>
          <p:cNvPr id="21" name="Shape 19">
            <a:extLst>
              <a:ext uri="{FF2B5EF4-FFF2-40B4-BE49-F238E27FC236}">
                <a16:creationId xmlns:a16="http://schemas.microsoft.com/office/drawing/2014/main" id="{C72E16B8-6652-4980-8192-7FD699B78B8F}"/>
              </a:ext>
            </a:extLst>
          </p:cNvPr>
          <p:cNvSpPr>
            <a:spLocks noGrp="1"/>
          </p:cNvSpPr>
          <p:nvPr/>
        </p:nvSpPr>
        <p:spPr>
          <a:xfrm>
            <a:off x="3108960" y="3090672"/>
            <a:ext cx="3657600" cy="502920"/>
          </a:xfrm>
          <a:prstGeom prst="rect">
            <a:avLst/>
          </a:prstGeom>
          <a:solidFill>
            <a:srgbClr val="FFFFFF"/>
          </a:solidFill>
          <a:ln w="7620">
            <a:solidFill>
              <a:srgbClr val="DDE6ED"/>
            </a:solidFill>
            <a:prstDash val="solid"/>
          </a:ln>
        </p:spPr>
      </p:sp>
      <p:sp>
        <p:nvSpPr>
          <p:cNvPr id="22" name="Text 20">
            <a:extLst>
              <a:ext uri="{FF2B5EF4-FFF2-40B4-BE49-F238E27FC236}">
                <a16:creationId xmlns:a16="http://schemas.microsoft.com/office/drawing/2014/main" id="{086F2D38-3617-4017-98DC-6E78F9147DFB}"/>
              </a:ext>
            </a:extLst>
          </p:cNvPr>
          <p:cNvSpPr>
            <a:spLocks noGrp="1"/>
          </p:cNvSpPr>
          <p:nvPr/>
        </p:nvSpPr>
        <p:spPr>
          <a:xfrm>
            <a:off x="3182112" y="320040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import torch_npu; device_count()</a:t>
            </a:r>
            <a:endParaRPr sz="1150"/>
          </a:p>
        </p:txBody>
      </p:sp>
      <p:sp>
        <p:nvSpPr>
          <p:cNvPr id="23" name="Shape 21">
            <a:extLst>
              <a:ext uri="{FF2B5EF4-FFF2-40B4-BE49-F238E27FC236}">
                <a16:creationId xmlns:a16="http://schemas.microsoft.com/office/drawing/2014/main" id="{444C2493-14F2-4512-AE9C-4A28A6C09C31}"/>
              </a:ext>
            </a:extLst>
          </p:cNvPr>
          <p:cNvSpPr>
            <a:spLocks noGrp="1"/>
          </p:cNvSpPr>
          <p:nvPr/>
        </p:nvSpPr>
        <p:spPr>
          <a:xfrm>
            <a:off x="6766560" y="3090672"/>
            <a:ext cx="3657600" cy="502920"/>
          </a:xfrm>
          <a:prstGeom prst="rect">
            <a:avLst/>
          </a:prstGeom>
          <a:solidFill>
            <a:srgbClr val="FFFFFF"/>
          </a:solidFill>
          <a:ln w="7620">
            <a:solidFill>
              <a:srgbClr val="DDE6ED"/>
            </a:solidFill>
            <a:prstDash val="solid"/>
          </a:ln>
        </p:spPr>
      </p:sp>
      <p:sp>
        <p:nvSpPr>
          <p:cNvPr id="24" name="Text 22">
            <a:extLst>
              <a:ext uri="{FF2B5EF4-FFF2-40B4-BE49-F238E27FC236}">
                <a16:creationId xmlns:a16="http://schemas.microsoft.com/office/drawing/2014/main" id="{1E751DB1-EAA4-454D-9864-0436FEE1C85A}"/>
              </a:ext>
            </a:extLst>
          </p:cNvPr>
          <p:cNvSpPr>
            <a:spLocks noGrp="1"/>
          </p:cNvSpPr>
          <p:nvPr/>
        </p:nvSpPr>
        <p:spPr>
          <a:xfrm>
            <a:off x="6839712" y="320040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PyTorch 与 torch_npu 可正常导入</a:t>
            </a:r>
            <a:endParaRPr sz="1150"/>
          </a:p>
        </p:txBody>
      </p:sp>
      <p:sp>
        <p:nvSpPr>
          <p:cNvPr id="25" name="Shape 23">
            <a:extLst>
              <a:ext uri="{FF2B5EF4-FFF2-40B4-BE49-F238E27FC236}">
                <a16:creationId xmlns:a16="http://schemas.microsoft.com/office/drawing/2014/main" id="{FE62F090-962C-4E70-8A54-5793AAA20213}"/>
              </a:ext>
            </a:extLst>
          </p:cNvPr>
          <p:cNvSpPr>
            <a:spLocks noGrp="1"/>
          </p:cNvSpPr>
          <p:nvPr/>
        </p:nvSpPr>
        <p:spPr>
          <a:xfrm>
            <a:off x="914400" y="3593592"/>
            <a:ext cx="2194560" cy="502920"/>
          </a:xfrm>
          <a:prstGeom prst="rect">
            <a:avLst/>
          </a:prstGeom>
          <a:solidFill>
            <a:srgbClr val="F7FAFC"/>
          </a:solidFill>
          <a:ln w="7620">
            <a:solidFill>
              <a:srgbClr val="DDE6ED"/>
            </a:solidFill>
            <a:prstDash val="solid"/>
          </a:ln>
        </p:spPr>
      </p:sp>
      <p:sp>
        <p:nvSpPr>
          <p:cNvPr id="26" name="Text 24">
            <a:extLst>
              <a:ext uri="{FF2B5EF4-FFF2-40B4-BE49-F238E27FC236}">
                <a16:creationId xmlns:a16="http://schemas.microsoft.com/office/drawing/2014/main" id="{F8046FBB-5A34-4D94-A635-D4B2663CF4A7}"/>
              </a:ext>
            </a:extLst>
          </p:cNvPr>
          <p:cNvSpPr>
            <a:spLocks noGrp="1"/>
          </p:cNvSpPr>
          <p:nvPr/>
        </p:nvSpPr>
        <p:spPr>
          <a:xfrm>
            <a:off x="987552" y="3703320"/>
            <a:ext cx="204825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训练启动</a:t>
            </a:r>
            <a:endParaRPr sz="1150"/>
          </a:p>
        </p:txBody>
      </p:sp>
      <p:sp>
        <p:nvSpPr>
          <p:cNvPr id="27" name="Shape 25">
            <a:extLst>
              <a:ext uri="{FF2B5EF4-FFF2-40B4-BE49-F238E27FC236}">
                <a16:creationId xmlns:a16="http://schemas.microsoft.com/office/drawing/2014/main" id="{5FAA969C-8FD9-4982-A664-5289EE191ED9}"/>
              </a:ext>
            </a:extLst>
          </p:cNvPr>
          <p:cNvSpPr>
            <a:spLocks noGrp="1"/>
          </p:cNvSpPr>
          <p:nvPr/>
        </p:nvSpPr>
        <p:spPr>
          <a:xfrm>
            <a:off x="3108960" y="3593592"/>
            <a:ext cx="3657600" cy="502920"/>
          </a:xfrm>
          <a:prstGeom prst="rect">
            <a:avLst/>
          </a:prstGeom>
          <a:solidFill>
            <a:srgbClr val="F7FAFC"/>
          </a:solidFill>
          <a:ln w="7620">
            <a:solidFill>
              <a:srgbClr val="DDE6ED"/>
            </a:solidFill>
            <a:prstDash val="solid"/>
          </a:ln>
        </p:spPr>
      </p:sp>
      <p:sp>
        <p:nvSpPr>
          <p:cNvPr id="28" name="Text 26">
            <a:extLst>
              <a:ext uri="{FF2B5EF4-FFF2-40B4-BE49-F238E27FC236}">
                <a16:creationId xmlns:a16="http://schemas.microsoft.com/office/drawing/2014/main" id="{53419EE0-7072-4C41-85BB-19B0DE69AE16}"/>
              </a:ext>
            </a:extLst>
          </p:cNvPr>
          <p:cNvSpPr>
            <a:spLocks noGrp="1"/>
          </p:cNvSpPr>
          <p:nvPr/>
        </p:nvSpPr>
        <p:spPr>
          <a:xfrm>
            <a:off x="3182112" y="370332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bash scripts/launch_1npu.sh</a:t>
            </a:r>
            <a:endParaRPr sz="1150"/>
          </a:p>
        </p:txBody>
      </p:sp>
      <p:sp>
        <p:nvSpPr>
          <p:cNvPr id="29" name="Shape 27">
            <a:extLst>
              <a:ext uri="{FF2B5EF4-FFF2-40B4-BE49-F238E27FC236}">
                <a16:creationId xmlns:a16="http://schemas.microsoft.com/office/drawing/2014/main" id="{54983F16-0A62-451A-833C-9B5A09C8AB4D}"/>
              </a:ext>
            </a:extLst>
          </p:cNvPr>
          <p:cNvSpPr>
            <a:spLocks noGrp="1"/>
          </p:cNvSpPr>
          <p:nvPr/>
        </p:nvSpPr>
        <p:spPr>
          <a:xfrm>
            <a:off x="6766560" y="3593592"/>
            <a:ext cx="3657600" cy="502920"/>
          </a:xfrm>
          <a:prstGeom prst="rect">
            <a:avLst/>
          </a:prstGeom>
          <a:solidFill>
            <a:srgbClr val="F7FAFC"/>
          </a:solidFill>
          <a:ln w="7620">
            <a:solidFill>
              <a:srgbClr val="DDE6ED"/>
            </a:solidFill>
            <a:prstDash val="solid"/>
          </a:ln>
        </p:spPr>
      </p:sp>
      <p:sp>
        <p:nvSpPr>
          <p:cNvPr id="30" name="Text 28">
            <a:extLst>
              <a:ext uri="{FF2B5EF4-FFF2-40B4-BE49-F238E27FC236}">
                <a16:creationId xmlns:a16="http://schemas.microsoft.com/office/drawing/2014/main" id="{03FBD22F-E99F-42E6-B781-8849BE121934}"/>
              </a:ext>
            </a:extLst>
          </p:cNvPr>
          <p:cNvSpPr>
            <a:spLocks noGrp="1"/>
          </p:cNvSpPr>
          <p:nvPr/>
        </p:nvSpPr>
        <p:spPr>
          <a:xfrm>
            <a:off x="6839712" y="370332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单进程绑定 NPU 0，训练循环正常</a:t>
            </a:r>
            <a:endParaRPr sz="1150"/>
          </a:p>
        </p:txBody>
      </p:sp>
      <p:sp>
        <p:nvSpPr>
          <p:cNvPr id="31" name="Shape 29">
            <a:extLst>
              <a:ext uri="{FF2B5EF4-FFF2-40B4-BE49-F238E27FC236}">
                <a16:creationId xmlns:a16="http://schemas.microsoft.com/office/drawing/2014/main" id="{D1F100CC-C1F0-411E-8B6C-EB7067B8783B}"/>
              </a:ext>
            </a:extLst>
          </p:cNvPr>
          <p:cNvSpPr>
            <a:spLocks noGrp="1"/>
          </p:cNvSpPr>
          <p:nvPr/>
        </p:nvSpPr>
        <p:spPr>
          <a:xfrm>
            <a:off x="914400" y="4096512"/>
            <a:ext cx="2194560" cy="502920"/>
          </a:xfrm>
          <a:prstGeom prst="rect">
            <a:avLst/>
          </a:prstGeom>
          <a:solidFill>
            <a:srgbClr val="FFFFFF"/>
          </a:solidFill>
          <a:ln w="7620">
            <a:solidFill>
              <a:srgbClr val="DDE6ED"/>
            </a:solidFill>
            <a:prstDash val="solid"/>
          </a:ln>
        </p:spPr>
      </p:sp>
      <p:sp>
        <p:nvSpPr>
          <p:cNvPr id="32" name="Text 30">
            <a:extLst>
              <a:ext uri="{FF2B5EF4-FFF2-40B4-BE49-F238E27FC236}">
                <a16:creationId xmlns:a16="http://schemas.microsoft.com/office/drawing/2014/main" id="{92EB04FA-B4C9-4362-8BC6-E5F41500D567}"/>
              </a:ext>
            </a:extLst>
          </p:cNvPr>
          <p:cNvSpPr>
            <a:spLocks noGrp="1"/>
          </p:cNvSpPr>
          <p:nvPr/>
        </p:nvSpPr>
        <p:spPr>
          <a:xfrm>
            <a:off x="987552" y="4206240"/>
            <a:ext cx="204825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训练日志</a:t>
            </a:r>
            <a:endParaRPr sz="1150"/>
          </a:p>
        </p:txBody>
      </p:sp>
      <p:sp>
        <p:nvSpPr>
          <p:cNvPr id="33" name="Shape 31">
            <a:extLst>
              <a:ext uri="{FF2B5EF4-FFF2-40B4-BE49-F238E27FC236}">
                <a16:creationId xmlns:a16="http://schemas.microsoft.com/office/drawing/2014/main" id="{052D3E5D-931C-438C-B01D-B0C71F29CA95}"/>
              </a:ext>
            </a:extLst>
          </p:cNvPr>
          <p:cNvSpPr>
            <a:spLocks noGrp="1"/>
          </p:cNvSpPr>
          <p:nvPr/>
        </p:nvSpPr>
        <p:spPr>
          <a:xfrm>
            <a:off x="3108960" y="4096512"/>
            <a:ext cx="3657600" cy="502920"/>
          </a:xfrm>
          <a:prstGeom prst="rect">
            <a:avLst/>
          </a:prstGeom>
          <a:solidFill>
            <a:srgbClr val="FFFFFF"/>
          </a:solidFill>
          <a:ln w="7620">
            <a:solidFill>
              <a:srgbClr val="DDE6ED"/>
            </a:solidFill>
            <a:prstDash val="solid"/>
          </a:ln>
        </p:spPr>
      </p:sp>
      <p:sp>
        <p:nvSpPr>
          <p:cNvPr id="34" name="Text 32">
            <a:extLst>
              <a:ext uri="{FF2B5EF4-FFF2-40B4-BE49-F238E27FC236}">
                <a16:creationId xmlns:a16="http://schemas.microsoft.com/office/drawing/2014/main" id="{98B216C4-884D-42E7-AADD-515AABDA44FE}"/>
              </a:ext>
            </a:extLst>
          </p:cNvPr>
          <p:cNvSpPr>
            <a:spLocks noGrp="1"/>
          </p:cNvSpPr>
          <p:nvPr/>
        </p:nvSpPr>
        <p:spPr>
          <a:xfrm>
            <a:off x="3182112" y="420624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loss / lr / throughput / checkpoint</a:t>
            </a:r>
            <a:endParaRPr sz="1150"/>
          </a:p>
        </p:txBody>
      </p:sp>
      <p:sp>
        <p:nvSpPr>
          <p:cNvPr id="35" name="Shape 33">
            <a:extLst>
              <a:ext uri="{FF2B5EF4-FFF2-40B4-BE49-F238E27FC236}">
                <a16:creationId xmlns:a16="http://schemas.microsoft.com/office/drawing/2014/main" id="{6A69EFF5-6E86-42B0-BC2D-05E128ECF501}"/>
              </a:ext>
            </a:extLst>
          </p:cNvPr>
          <p:cNvSpPr>
            <a:spLocks noGrp="1"/>
          </p:cNvSpPr>
          <p:nvPr/>
        </p:nvSpPr>
        <p:spPr>
          <a:xfrm>
            <a:off x="6766560" y="4096512"/>
            <a:ext cx="3657600" cy="502920"/>
          </a:xfrm>
          <a:prstGeom prst="rect">
            <a:avLst/>
          </a:prstGeom>
          <a:solidFill>
            <a:srgbClr val="FFFFFF"/>
          </a:solidFill>
          <a:ln w="7620">
            <a:solidFill>
              <a:srgbClr val="DDE6ED"/>
            </a:solidFill>
            <a:prstDash val="solid"/>
          </a:ln>
        </p:spPr>
      </p:sp>
      <p:sp>
        <p:nvSpPr>
          <p:cNvPr id="36" name="Text 34">
            <a:extLst>
              <a:ext uri="{FF2B5EF4-FFF2-40B4-BE49-F238E27FC236}">
                <a16:creationId xmlns:a16="http://schemas.microsoft.com/office/drawing/2014/main" id="{9BA3456F-E7DF-4750-BEFE-5D226C83F752}"/>
              </a:ext>
            </a:extLst>
          </p:cNvPr>
          <p:cNvSpPr>
            <a:spLocks noGrp="1"/>
          </p:cNvSpPr>
          <p:nvPr/>
        </p:nvSpPr>
        <p:spPr>
          <a:xfrm>
            <a:off x="6839712" y="4206240"/>
            <a:ext cx="3511296" cy="256032"/>
          </a:xfrm>
          <a:prstGeom prst="rect">
            <a:avLst/>
          </a:prstGeom>
          <a:noFill/>
        </p:spPr>
        <p:txBody>
          <a:bodyPr wrap="square" lIns="127" tIns="127" rIns="127" bIns="127" anchor="ctr">
            <a:normAutofit/>
          </a:bodyPr>
          <a:lstStyle/>
          <a:p>
            <a:pPr marL="0" indent="0">
              <a:buNone/>
            </a:pPr>
            <a:r>
              <a:rPr sz="1150">
                <a:solidFill>
                  <a:srgbClr val="2D3E50"/>
                </a:solidFill>
                <a:latin typeface="Microsoft YaHei"/>
                <a:ea typeface="Microsoft YaHei"/>
                <a:cs typeface="Microsoft YaHei"/>
              </a:rPr>
              <a:t>loss 可观察，权重文件正常保存</a:t>
            </a:r>
            <a:endParaRPr sz="1150"/>
          </a:p>
        </p:txBody>
      </p:sp>
      <p:sp>
        <p:nvSpPr>
          <p:cNvPr id="37" name="Shape 35">
            <a:extLst>
              <a:ext uri="{FF2B5EF4-FFF2-40B4-BE49-F238E27FC236}">
                <a16:creationId xmlns:a16="http://schemas.microsoft.com/office/drawing/2014/main" id="{4D864B21-5E2C-468C-8709-F55130DE7813}"/>
              </a:ext>
            </a:extLst>
          </p:cNvPr>
          <p:cNvSpPr>
            <a:spLocks noGrp="1"/>
          </p:cNvSpPr>
          <p:nvPr/>
        </p:nvSpPr>
        <p:spPr>
          <a:xfrm>
            <a:off x="960120" y="5074920"/>
            <a:ext cx="2606040" cy="658368"/>
          </a:xfrm>
          <a:prstGeom prst="roundRect">
            <a:avLst>
              <a:gd name="adj" fmla="val 11111"/>
            </a:avLst>
          </a:prstGeom>
          <a:solidFill>
            <a:srgbClr val="308FAE"/>
          </a:solidFill>
          <a:ln w="12700">
            <a:solidFill>
              <a:srgbClr val="308FAE"/>
            </a:solidFill>
            <a:prstDash val="solid"/>
          </a:ln>
        </p:spPr>
      </p:sp>
      <p:sp>
        <p:nvSpPr>
          <p:cNvPr id="38" name="Text 36">
            <a:extLst>
              <a:ext uri="{FF2B5EF4-FFF2-40B4-BE49-F238E27FC236}">
                <a16:creationId xmlns:a16="http://schemas.microsoft.com/office/drawing/2014/main" id="{4C463D81-6B8C-4D20-ABE6-CDDD13AA9682}"/>
              </a:ext>
            </a:extLst>
          </p:cNvPr>
          <p:cNvSpPr>
            <a:spLocks noGrp="1"/>
          </p:cNvSpPr>
          <p:nvPr/>
        </p:nvSpPr>
        <p:spPr>
          <a:xfrm>
            <a:off x="1124712" y="5248656"/>
            <a:ext cx="2276856" cy="329184"/>
          </a:xfrm>
          <a:prstGeom prst="rect">
            <a:avLst/>
          </a:prstGeom>
          <a:noFill/>
        </p:spPr>
        <p:txBody>
          <a:bodyPr wrap="square" lIns="254" tIns="254" rIns="254" bIns="254" anchor="ctr">
            <a:normAutofit/>
          </a:bodyPr>
          <a:lstStyle/>
          <a:p>
            <a:pPr marL="0" indent="0" algn="ctr">
              <a:buNone/>
            </a:pPr>
            <a:r>
              <a:rPr sz="1500" b="1">
                <a:solidFill>
                  <a:srgbClr val="FFFFFF"/>
                </a:solidFill>
                <a:latin typeface="Microsoft YaHei"/>
                <a:ea typeface="Microsoft YaHei"/>
                <a:cs typeface="Microsoft YaHei"/>
              </a:rPr>
              <a:t>设备可见</a:t>
            </a:r>
            <a:endParaRPr sz="1500"/>
          </a:p>
        </p:txBody>
      </p:sp>
      <p:sp>
        <p:nvSpPr>
          <p:cNvPr id="39" name="Text 37">
            <a:extLst>
              <a:ext uri="{FF2B5EF4-FFF2-40B4-BE49-F238E27FC236}">
                <a16:creationId xmlns:a16="http://schemas.microsoft.com/office/drawing/2014/main" id="{2F29AC54-2076-4FF0-A1EA-C9191838B866}"/>
              </a:ext>
            </a:extLst>
          </p:cNvPr>
          <p:cNvSpPr>
            <a:spLocks noGrp="1"/>
          </p:cNvSpPr>
          <p:nvPr/>
        </p:nvSpPr>
        <p:spPr>
          <a:xfrm>
            <a:off x="1106424" y="5605272"/>
            <a:ext cx="2313432" cy="0"/>
          </a:xfrm>
          <a:prstGeom prst="rect">
            <a:avLst/>
          </a:prstGeom>
          <a:noFill/>
        </p:spPr>
        <p:txBody>
          <a:bodyPr wrap="square" lIns="127" tIns="127" rIns="127" bIns="127" anchor="ctr">
            <a:normAutofit fontScale="25000" lnSpcReduction="20000"/>
          </a:bodyPr>
          <a:lstStyle>
            <a:lvl1pPr algn="l">
              <a:buNone/>
              <a:defRPr/>
            </a:lvl1pPr>
          </a:lstStyle>
          <a:p>
            <a:pPr marL="0" indent="0" algn="ctr">
              <a:buNone/>
            </a:pPr>
            <a:endParaRPr sz="1100" dirty="0"/>
          </a:p>
        </p:txBody>
      </p:sp>
      <p:sp>
        <p:nvSpPr>
          <p:cNvPr id="40" name="Shape 38">
            <a:extLst>
              <a:ext uri="{FF2B5EF4-FFF2-40B4-BE49-F238E27FC236}">
                <a16:creationId xmlns:a16="http://schemas.microsoft.com/office/drawing/2014/main" id="{BAE50BD5-DDE3-45A2-8AC8-8B7DF9941CB7}"/>
              </a:ext>
            </a:extLst>
          </p:cNvPr>
          <p:cNvSpPr>
            <a:spLocks noGrp="1"/>
          </p:cNvSpPr>
          <p:nvPr/>
        </p:nvSpPr>
        <p:spPr>
          <a:xfrm>
            <a:off x="4354830" y="5074920"/>
            <a:ext cx="2606040" cy="658368"/>
          </a:xfrm>
          <a:prstGeom prst="roundRect">
            <a:avLst>
              <a:gd name="adj" fmla="val 11111"/>
            </a:avLst>
          </a:prstGeom>
          <a:solidFill>
            <a:srgbClr val="F58220"/>
          </a:solidFill>
          <a:ln w="12700">
            <a:solidFill>
              <a:srgbClr val="F58220"/>
            </a:solidFill>
            <a:prstDash val="solid"/>
          </a:ln>
        </p:spPr>
      </p:sp>
      <p:sp>
        <p:nvSpPr>
          <p:cNvPr id="41" name="Text 39">
            <a:extLst>
              <a:ext uri="{FF2B5EF4-FFF2-40B4-BE49-F238E27FC236}">
                <a16:creationId xmlns:a16="http://schemas.microsoft.com/office/drawing/2014/main" id="{604DEF9A-E112-46FF-9184-B5835726EB0D}"/>
              </a:ext>
            </a:extLst>
          </p:cNvPr>
          <p:cNvSpPr>
            <a:spLocks noGrp="1"/>
          </p:cNvSpPr>
          <p:nvPr/>
        </p:nvSpPr>
        <p:spPr>
          <a:xfrm>
            <a:off x="4519422" y="5248656"/>
            <a:ext cx="2276856" cy="329184"/>
          </a:xfrm>
          <a:prstGeom prst="rect">
            <a:avLst/>
          </a:prstGeom>
          <a:noFill/>
        </p:spPr>
        <p:txBody>
          <a:bodyPr wrap="square" lIns="254" tIns="254" rIns="254" bIns="254" anchor="ctr">
            <a:normAutofit/>
          </a:bodyPr>
          <a:lstStyle/>
          <a:p>
            <a:pPr marL="0" indent="0" algn="ctr">
              <a:buNone/>
            </a:pPr>
            <a:r>
              <a:rPr sz="1500" b="1">
                <a:solidFill>
                  <a:srgbClr val="FFFFFF"/>
                </a:solidFill>
                <a:latin typeface="Microsoft YaHei"/>
                <a:ea typeface="Microsoft YaHei"/>
                <a:cs typeface="Microsoft YaHei"/>
              </a:rPr>
              <a:t>框架可用</a:t>
            </a:r>
            <a:endParaRPr sz="1500"/>
          </a:p>
        </p:txBody>
      </p:sp>
      <p:sp>
        <p:nvSpPr>
          <p:cNvPr id="42" name="Text 40">
            <a:extLst>
              <a:ext uri="{FF2B5EF4-FFF2-40B4-BE49-F238E27FC236}">
                <a16:creationId xmlns:a16="http://schemas.microsoft.com/office/drawing/2014/main" id="{B2C7D5AF-6B5E-4A91-8C3D-055CB1FD4C7D}"/>
              </a:ext>
            </a:extLst>
          </p:cNvPr>
          <p:cNvSpPr>
            <a:spLocks noGrp="1"/>
          </p:cNvSpPr>
          <p:nvPr/>
        </p:nvSpPr>
        <p:spPr>
          <a:xfrm>
            <a:off x="4501134" y="5605272"/>
            <a:ext cx="2313432" cy="0"/>
          </a:xfrm>
          <a:prstGeom prst="rect">
            <a:avLst/>
          </a:prstGeom>
          <a:noFill/>
        </p:spPr>
        <p:txBody>
          <a:bodyPr wrap="square" lIns="127" tIns="127" rIns="127" bIns="127" anchor="ctr">
            <a:normAutofit fontScale="25000" lnSpcReduction="20000"/>
          </a:bodyPr>
          <a:lstStyle>
            <a:lvl1pPr algn="l">
              <a:buNone/>
              <a:defRPr/>
            </a:lvl1pPr>
          </a:lstStyle>
          <a:p>
            <a:pPr marL="0" indent="0" algn="ctr">
              <a:buNone/>
            </a:pPr>
            <a:endParaRPr sz="1100" dirty="0"/>
          </a:p>
        </p:txBody>
      </p:sp>
      <p:sp>
        <p:nvSpPr>
          <p:cNvPr id="43" name="Shape 41">
            <a:extLst>
              <a:ext uri="{FF2B5EF4-FFF2-40B4-BE49-F238E27FC236}">
                <a16:creationId xmlns:a16="http://schemas.microsoft.com/office/drawing/2014/main" id="{8BE5AB2F-BE5A-4491-9B23-9F1D14E85588}"/>
              </a:ext>
            </a:extLst>
          </p:cNvPr>
          <p:cNvSpPr>
            <a:spLocks noGrp="1"/>
          </p:cNvSpPr>
          <p:nvPr/>
        </p:nvSpPr>
        <p:spPr>
          <a:xfrm>
            <a:off x="7679690" y="5074920"/>
            <a:ext cx="2606040" cy="658368"/>
          </a:xfrm>
          <a:prstGeom prst="roundRect">
            <a:avLst>
              <a:gd name="adj" fmla="val 11111"/>
            </a:avLst>
          </a:prstGeom>
          <a:solidFill>
            <a:srgbClr val="27AE60"/>
          </a:solidFill>
          <a:ln w="12700">
            <a:solidFill>
              <a:srgbClr val="27AE60"/>
            </a:solidFill>
            <a:prstDash val="solid"/>
          </a:ln>
        </p:spPr>
      </p:sp>
      <p:sp>
        <p:nvSpPr>
          <p:cNvPr id="44" name="Text 42">
            <a:extLst>
              <a:ext uri="{FF2B5EF4-FFF2-40B4-BE49-F238E27FC236}">
                <a16:creationId xmlns:a16="http://schemas.microsoft.com/office/drawing/2014/main" id="{7C971F2B-B75C-4F60-B87F-D2EA58B268DE}"/>
              </a:ext>
            </a:extLst>
          </p:cNvPr>
          <p:cNvSpPr>
            <a:spLocks noGrp="1"/>
          </p:cNvSpPr>
          <p:nvPr/>
        </p:nvSpPr>
        <p:spPr>
          <a:xfrm>
            <a:off x="7844282" y="5248656"/>
            <a:ext cx="2276856" cy="329184"/>
          </a:xfrm>
          <a:prstGeom prst="rect">
            <a:avLst/>
          </a:prstGeom>
          <a:noFill/>
        </p:spPr>
        <p:txBody>
          <a:bodyPr wrap="square" lIns="254" tIns="254" rIns="254" bIns="254" anchor="ctr">
            <a:normAutofit/>
          </a:bodyPr>
          <a:lstStyle/>
          <a:p>
            <a:pPr marL="0" indent="0" algn="ctr">
              <a:buNone/>
            </a:pPr>
            <a:r>
              <a:rPr sz="1500" b="1">
                <a:solidFill>
                  <a:srgbClr val="FFFFFF"/>
                </a:solidFill>
                <a:latin typeface="Microsoft YaHei"/>
                <a:ea typeface="Microsoft YaHei"/>
                <a:cs typeface="Microsoft YaHei"/>
              </a:rPr>
              <a:t>日志可验收</a:t>
            </a:r>
            <a:endParaRPr sz="1500"/>
          </a:p>
        </p:txBody>
      </p:sp>
      <p:sp>
        <p:nvSpPr>
          <p:cNvPr id="45" name="Text 43">
            <a:extLst>
              <a:ext uri="{FF2B5EF4-FFF2-40B4-BE49-F238E27FC236}">
                <a16:creationId xmlns:a16="http://schemas.microsoft.com/office/drawing/2014/main" id="{38C3D19D-4F7A-4D7B-9DED-E5940742E263}"/>
              </a:ext>
            </a:extLst>
          </p:cNvPr>
          <p:cNvSpPr>
            <a:spLocks noGrp="1"/>
          </p:cNvSpPr>
          <p:nvPr/>
        </p:nvSpPr>
        <p:spPr>
          <a:xfrm>
            <a:off x="7825994" y="5605272"/>
            <a:ext cx="2313432" cy="0"/>
          </a:xfrm>
          <a:prstGeom prst="rect">
            <a:avLst/>
          </a:prstGeom>
          <a:noFill/>
        </p:spPr>
        <p:txBody>
          <a:bodyPr wrap="square" lIns="127" tIns="127" rIns="127" bIns="127" anchor="ctr">
            <a:normAutofit fontScale="25000" lnSpcReduction="20000"/>
          </a:bodyPr>
          <a:lstStyle>
            <a:lvl1pPr algn="l">
              <a:buNone/>
              <a:defRPr/>
            </a:lvl1pPr>
          </a:lstStyle>
          <a:p>
            <a:pPr marL="0" indent="0" algn="ctr">
              <a:buNone/>
            </a:pPr>
            <a:endParaRPr sz="1100" dirty="0"/>
          </a:p>
        </p:txBody>
      </p:sp>
    </p:spTree>
    <p:extLst>
      <p:ext uri="{BB962C8B-B14F-4D97-AF65-F5344CB8AC3E}">
        <p14:creationId xmlns:p14="http://schemas.microsoft.com/office/powerpoint/2010/main" val="491999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93FE728-2687-4597-97EB-DE8E5B6C7957}"/>
              </a:ext>
            </a:extLst>
          </p:cNvPr>
          <p:cNvSpPr>
            <a:spLocks noGrp="1"/>
          </p:cNvSpPr>
          <p:nvPr/>
        </p:nvSpPr>
        <p:spPr>
          <a:xfrm>
            <a:off x="0" y="0"/>
            <a:ext cx="12192000" cy="146304"/>
          </a:xfrm>
          <a:prstGeom prst="rect">
            <a:avLst/>
          </a:prstGeom>
          <a:solidFill>
            <a:srgbClr val="1F4E79"/>
          </a:solidFill>
        </p:spPr>
      </p:sp>
      <p:sp>
        <p:nvSpPr>
          <p:cNvPr id="3" name="Text 1">
            <a:extLst>
              <a:ext uri="{FF2B5EF4-FFF2-40B4-BE49-F238E27FC236}">
                <a16:creationId xmlns:a16="http://schemas.microsoft.com/office/drawing/2014/main" id="{A9AC8AA1-9F30-4C3E-B63C-8EF1F05A8024}"/>
              </a:ext>
            </a:extLst>
          </p:cNvPr>
          <p:cNvSpPr>
            <a:spLocks noGrp="1"/>
          </p:cNvSpPr>
          <p:nvPr/>
        </p:nvSpPr>
        <p:spPr>
          <a:xfrm>
            <a:off x="731520" y="304800"/>
            <a:ext cx="10728960" cy="853440"/>
          </a:xfrm>
          <a:prstGeom prst="rect">
            <a:avLst/>
          </a:prstGeom>
          <a:noFill/>
        </p:spPr>
        <p:txBody>
          <a:bodyPr wrap="square" anchor="ctr"/>
          <a:lstStyle/>
          <a:p>
            <a:r>
              <a:rPr sz="3200" b="1" dirty="0" err="1">
                <a:latin typeface="Microsoft YaHei"/>
                <a:ea typeface="Microsoft YaHei"/>
              </a:rPr>
              <a:t>准备数据集：PASCAL</a:t>
            </a:r>
            <a:r>
              <a:rPr sz="3200" b="1" dirty="0">
                <a:latin typeface="Microsoft YaHei"/>
                <a:ea typeface="Microsoft YaHei"/>
              </a:rPr>
              <a:t> VOC</a:t>
            </a:r>
          </a:p>
        </p:txBody>
      </p:sp>
      <p:sp>
        <p:nvSpPr>
          <p:cNvPr id="4" name="Shape 2">
            <a:extLst>
              <a:ext uri="{FF2B5EF4-FFF2-40B4-BE49-F238E27FC236}">
                <a16:creationId xmlns:a16="http://schemas.microsoft.com/office/drawing/2014/main" id="{8A0501E5-5959-41C7-98E6-DC1A1C58A106}"/>
              </a:ext>
            </a:extLst>
          </p:cNvPr>
          <p:cNvSpPr>
            <a:spLocks noGrp="1"/>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30F82FBF-93B4-48F0-9CD2-F94FF10EE906}"/>
              </a:ext>
            </a:extLst>
          </p:cNvPr>
          <p:cNvSpPr>
            <a:spLocks noGrp="1"/>
          </p:cNvSpPr>
          <p:nvPr/>
        </p:nvSpPr>
        <p:spPr>
          <a:xfrm>
            <a:off x="853440" y="1524000"/>
            <a:ext cx="10485120" cy="731520"/>
          </a:xfrm>
          <a:prstGeom prst="rect">
            <a:avLst/>
          </a:prstGeom>
          <a:noFill/>
        </p:spPr>
        <p:txBody>
          <a:bodyPr wrap="square" anchor="t"/>
          <a:lstStyle/>
          <a:p>
            <a:pPr marL="0" indent="0">
              <a:lnSpc>
                <a:spcPct val="115000"/>
              </a:lnSpc>
              <a:buNone/>
            </a:pPr>
            <a:r>
              <a:rPr sz="2665" b="1">
                <a:solidFill>
                  <a:srgbClr val="1F4E79"/>
                </a:solidFill>
                <a:latin typeface="微软雅黑"/>
                <a:ea typeface="微软雅黑"/>
                <a:cs typeface="微软雅黑"/>
              </a:rPr>
              <a:t>训练一个好模型，数据质量和方法同样重要。</a:t>
            </a:r>
            <a:endParaRPr sz="2665"/>
          </a:p>
        </p:txBody>
      </p:sp>
      <p:sp>
        <p:nvSpPr>
          <p:cNvPr id="6" name="Text 4">
            <a:extLst>
              <a:ext uri="{FF2B5EF4-FFF2-40B4-BE49-F238E27FC236}">
                <a16:creationId xmlns:a16="http://schemas.microsoft.com/office/drawing/2014/main" id="{165B5E07-950F-458B-83B3-B217C322F466}"/>
              </a:ext>
            </a:extLst>
          </p:cNvPr>
          <p:cNvSpPr>
            <a:spLocks noGrp="1"/>
          </p:cNvSpPr>
          <p:nvPr/>
        </p:nvSpPr>
        <p:spPr>
          <a:xfrm>
            <a:off x="853440" y="2377440"/>
            <a:ext cx="10485120" cy="609600"/>
          </a:xfrm>
          <a:prstGeom prst="rect">
            <a:avLst/>
          </a:prstGeom>
          <a:noFill/>
        </p:spPr>
        <p:txBody>
          <a:bodyPr wrap="square" anchor="t"/>
          <a:lstStyle/>
          <a:p>
            <a:pPr marL="0" indent="0">
              <a:lnSpc>
                <a:spcPct val="115000"/>
              </a:lnSpc>
              <a:buNone/>
            </a:pPr>
            <a:endParaRPr sz="2135"/>
          </a:p>
        </p:txBody>
      </p:sp>
      <p:sp>
        <p:nvSpPr>
          <p:cNvPr id="7" name="Text 5">
            <a:extLst>
              <a:ext uri="{FF2B5EF4-FFF2-40B4-BE49-F238E27FC236}">
                <a16:creationId xmlns:a16="http://schemas.microsoft.com/office/drawing/2014/main" id="{69C2BC12-6FC7-4280-95FB-C0E45DC15A5C}"/>
              </a:ext>
            </a:extLst>
          </p:cNvPr>
          <p:cNvSpPr>
            <a:spLocks noGrp="1"/>
          </p:cNvSpPr>
          <p:nvPr/>
        </p:nvSpPr>
        <p:spPr>
          <a:xfrm>
            <a:off x="731520" y="2218944"/>
            <a:ext cx="10485120" cy="609600"/>
          </a:xfrm>
          <a:prstGeom prst="rect">
            <a:avLst/>
          </a:prstGeom>
          <a:noFill/>
        </p:spPr>
        <p:txBody>
          <a:bodyPr wrap="square" anchor="t"/>
          <a:lstStyle/>
          <a:p>
            <a:pPr marL="0" indent="0">
              <a:lnSpc>
                <a:spcPct val="115000"/>
              </a:lnSpc>
              <a:buNone/>
            </a:pPr>
            <a:r>
              <a:rPr sz="2135">
                <a:solidFill>
                  <a:srgbClr val="2C3E50"/>
                </a:solidFill>
                <a:latin typeface="微软雅黑"/>
                <a:ea typeface="微软雅黑"/>
                <a:cs typeface="微软雅黑"/>
              </a:rPr>
              <a:t>PASCAL VOC 是目标检测领域的经典数据集，常用于检测算法入门、训练流程验证和轻量调优。它包含 20 个类别，既有 person、car 这类常见目标，也有 bottle、chair、dog 等不同尺度的目标。</a:t>
            </a:r>
            <a:endParaRPr sz="2135"/>
          </a:p>
        </p:txBody>
      </p:sp>
      <p:pic>
        <p:nvPicPr>
          <p:cNvPr id="15" name="图片 15"/>
          <p:cNvPicPr>
            <a:picLocks noChangeAspect="1"/>
          </p:cNvPicPr>
          <p:nvPr/>
        </p:nvPicPr>
        <p:blipFill>
          <a:blip r:embed="rId3"/>
          <a:stretch>
            <a:fillRect/>
          </a:stretch>
        </p:blipFill>
        <p:spPr>
          <a:xfrm>
            <a:off x="853440" y="3523487"/>
            <a:ext cx="10249931" cy="2423589"/>
          </a:xfrm>
          <a:prstGeom prst="rect">
            <a:avLst/>
          </a:prstGeom>
        </p:spPr>
      </p:pic>
    </p:spTree>
    <p:extLst>
      <p:ext uri="{BB962C8B-B14F-4D97-AF65-F5344CB8AC3E}">
        <p14:creationId xmlns:p14="http://schemas.microsoft.com/office/powerpoint/2010/main" val="374947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BD4C4AC-AFD8-4782-96B5-CC59C61A8AA2}"/>
              </a:ext>
            </a:extLst>
          </p:cNvPr>
          <p:cNvSpPr>
            <a:spLocks noGrp="1"/>
          </p:cNvSpPr>
          <p:nvPr/>
        </p:nvSpPr>
        <p:spPr>
          <a:xfrm>
            <a:off x="0" y="0"/>
            <a:ext cx="12192000" cy="146304"/>
          </a:xfrm>
          <a:prstGeom prst="rect">
            <a:avLst/>
          </a:prstGeom>
          <a:solidFill>
            <a:srgbClr val="2E86AB"/>
          </a:solidFill>
        </p:spPr>
      </p:sp>
      <p:sp>
        <p:nvSpPr>
          <p:cNvPr id="3" name="Text 1">
            <a:extLst>
              <a:ext uri="{FF2B5EF4-FFF2-40B4-BE49-F238E27FC236}">
                <a16:creationId xmlns:a16="http://schemas.microsoft.com/office/drawing/2014/main" id="{86A26BE4-5FF7-43D1-A858-150F35B3950A}"/>
              </a:ext>
            </a:extLst>
          </p:cNvPr>
          <p:cNvSpPr>
            <a:spLocks noGrp="1"/>
          </p:cNvSpPr>
          <p:nvPr/>
        </p:nvSpPr>
        <p:spPr>
          <a:xfrm>
            <a:off x="731520" y="304800"/>
            <a:ext cx="10728960" cy="853440"/>
          </a:xfrm>
          <a:prstGeom prst="rect">
            <a:avLst/>
          </a:prstGeom>
          <a:noFill/>
        </p:spPr>
        <p:txBody>
          <a:bodyPr wrap="square" anchor="ctr"/>
          <a:lstStyle/>
          <a:p>
            <a:r>
              <a:rPr sz="3200" b="1" dirty="0" err="1">
                <a:latin typeface="Microsoft YaHei"/>
                <a:ea typeface="Microsoft YaHei"/>
              </a:rPr>
              <a:t>目录结构：VOCdevkit</a:t>
            </a:r>
            <a:r>
              <a:rPr sz="3200" b="1" dirty="0">
                <a:latin typeface="Microsoft YaHei"/>
                <a:ea typeface="Microsoft YaHei"/>
              </a:rPr>
              <a:t> </a:t>
            </a:r>
            <a:r>
              <a:rPr sz="3200" b="1" dirty="0" err="1">
                <a:latin typeface="Microsoft YaHei"/>
                <a:ea typeface="Microsoft YaHei"/>
              </a:rPr>
              <a:t>原始数据组织</a:t>
            </a:r>
            <a:endParaRPr sz="3200" b="1" dirty="0">
              <a:latin typeface="Microsoft YaHei"/>
              <a:ea typeface="Microsoft YaHei"/>
            </a:endParaRPr>
          </a:p>
        </p:txBody>
      </p:sp>
      <p:sp>
        <p:nvSpPr>
          <p:cNvPr id="4" name="Shape 2">
            <a:extLst>
              <a:ext uri="{FF2B5EF4-FFF2-40B4-BE49-F238E27FC236}">
                <a16:creationId xmlns:a16="http://schemas.microsoft.com/office/drawing/2014/main" id="{563AA8E5-A631-427B-83F5-A6F4E6011B05}"/>
              </a:ext>
            </a:extLst>
          </p:cNvPr>
          <p:cNvSpPr>
            <a:spLocks noGrp="1"/>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A20DB84F-D35A-4540-8FD0-FFA11EDDCC98}"/>
              </a:ext>
            </a:extLst>
          </p:cNvPr>
          <p:cNvSpPr>
            <a:spLocks noGrp="1"/>
          </p:cNvSpPr>
          <p:nvPr/>
        </p:nvSpPr>
        <p:spPr>
          <a:xfrm>
            <a:off x="8412480" y="1463040"/>
            <a:ext cx="3230880" cy="731520"/>
          </a:xfrm>
          <a:prstGeom prst="rect">
            <a:avLst/>
          </a:prstGeom>
          <a:noFill/>
        </p:spPr>
        <p:txBody>
          <a:bodyPr wrap="square" anchor="t"/>
          <a:lstStyle/>
          <a:p>
            <a:pPr marL="0" indent="0">
              <a:lnSpc>
                <a:spcPct val="115000"/>
              </a:lnSpc>
              <a:buNone/>
            </a:pPr>
            <a:endParaRPr sz="2265"/>
          </a:p>
        </p:txBody>
      </p:sp>
      <p:sp>
        <p:nvSpPr>
          <p:cNvPr id="6" name="Text 4">
            <a:extLst>
              <a:ext uri="{FF2B5EF4-FFF2-40B4-BE49-F238E27FC236}">
                <a16:creationId xmlns:a16="http://schemas.microsoft.com/office/drawing/2014/main" id="{BDE0191F-2D21-4157-8B6F-6CDB97BD0625}"/>
              </a:ext>
            </a:extLst>
          </p:cNvPr>
          <p:cNvSpPr>
            <a:spLocks noGrp="1"/>
          </p:cNvSpPr>
          <p:nvPr/>
        </p:nvSpPr>
        <p:spPr>
          <a:xfrm>
            <a:off x="731520" y="1761744"/>
            <a:ext cx="7559040" cy="3901440"/>
          </a:xfrm>
          <a:prstGeom prst="rect">
            <a:avLst/>
          </a:prstGeom>
          <a:noFill/>
        </p:spPr>
        <p:txBody>
          <a:bodyPr wrap="square" anchor="t"/>
          <a:lstStyle/>
          <a:p>
            <a:pPr marL="0" indent="0">
              <a:lnSpc>
                <a:spcPct val="115000"/>
              </a:lnSpc>
              <a:buNone/>
            </a:pPr>
            <a:r>
              <a:rPr sz="1865">
                <a:solidFill>
                  <a:srgbClr val="2C3E50"/>
                </a:solidFill>
                <a:latin typeface="Consolas"/>
                <a:ea typeface="Consolas"/>
                <a:cs typeface="Consolas"/>
              </a:rPr>
              <a:t>/mnt/workspace/datasets/voc/</a:t>
            </a:r>
          </a:p>
          <a:p>
            <a:pPr marL="0" indent="0">
              <a:lnSpc>
                <a:spcPct val="115000"/>
              </a:lnSpc>
              <a:buNone/>
            </a:pPr>
            <a:r>
              <a:rPr sz="1865">
                <a:solidFill>
                  <a:srgbClr val="2C3E50"/>
                </a:solidFill>
                <a:latin typeface="Consolas"/>
                <a:ea typeface="Consolas"/>
                <a:cs typeface="Consolas"/>
              </a:rPr>
              <a:t>└── VOCdevkit/</a:t>
            </a:r>
          </a:p>
          <a:p>
            <a:pPr marL="0" indent="0">
              <a:lnSpc>
                <a:spcPct val="115000"/>
              </a:lnSpc>
              <a:buNone/>
            </a:pPr>
            <a:r>
              <a:rPr sz="1865">
                <a:solidFill>
                  <a:srgbClr val="2C3E50"/>
                </a:solidFill>
                <a:latin typeface="Consolas"/>
                <a:ea typeface="Consolas"/>
                <a:cs typeface="Consolas"/>
              </a:rPr>
              <a:t>    ├── VOC2007/</a:t>
            </a:r>
          </a:p>
          <a:p>
            <a:pPr marL="0" indent="0">
              <a:lnSpc>
                <a:spcPct val="115000"/>
              </a:lnSpc>
              <a:buNone/>
            </a:pPr>
            <a:r>
              <a:rPr sz="1865">
                <a:solidFill>
                  <a:srgbClr val="2C3E50"/>
                </a:solidFill>
                <a:latin typeface="Consolas"/>
                <a:ea typeface="Consolas"/>
                <a:cs typeface="Consolas"/>
              </a:rPr>
              <a:t>    │   ├── JPEGImages/        # 图片文件</a:t>
            </a:r>
          </a:p>
          <a:p>
            <a:pPr marL="0" indent="0">
              <a:lnSpc>
                <a:spcPct val="115000"/>
              </a:lnSpc>
              <a:buNone/>
            </a:pPr>
            <a:r>
              <a:rPr sz="1865">
                <a:solidFill>
                  <a:srgbClr val="2C3E50"/>
                </a:solidFill>
                <a:latin typeface="Consolas"/>
                <a:ea typeface="Consolas"/>
                <a:cs typeface="Consolas"/>
              </a:rPr>
              <a:t>    │   ├── Annotations/       # XML 标注文件</a:t>
            </a:r>
          </a:p>
          <a:p>
            <a:pPr marL="0" indent="0">
              <a:lnSpc>
                <a:spcPct val="115000"/>
              </a:lnSpc>
              <a:buNone/>
            </a:pPr>
            <a:r>
              <a:rPr sz="1865">
                <a:solidFill>
                  <a:srgbClr val="2C3E50"/>
                </a:solidFill>
                <a:latin typeface="Consolas"/>
                <a:ea typeface="Consolas"/>
                <a:cs typeface="Consolas"/>
              </a:rPr>
              <a:t>    │   └── ImageSets/Main/    # trainval、test 等划分列</a:t>
            </a:r>
          </a:p>
          <a:p>
            <a:pPr marL="0" indent="0">
              <a:lnSpc>
                <a:spcPct val="115000"/>
              </a:lnSpc>
              <a:buNone/>
            </a:pPr>
            <a:r>
              <a:rPr sz="1865">
                <a:solidFill>
                  <a:srgbClr val="2C3E50"/>
                </a:solidFill>
                <a:latin typeface="Consolas"/>
                <a:ea typeface="Consolas"/>
                <a:cs typeface="Consolas"/>
              </a:rPr>
              <a:t>    └── VOC2012/</a:t>
            </a:r>
          </a:p>
          <a:p>
            <a:pPr marL="0" indent="0">
              <a:lnSpc>
                <a:spcPct val="115000"/>
              </a:lnSpc>
              <a:buNone/>
            </a:pPr>
            <a:r>
              <a:rPr sz="1865">
                <a:solidFill>
                  <a:srgbClr val="2C3E50"/>
                </a:solidFill>
                <a:latin typeface="Consolas"/>
                <a:ea typeface="Consolas"/>
                <a:cs typeface="Consolas"/>
              </a:rPr>
              <a:t>        ├── JPEGImages/</a:t>
            </a:r>
          </a:p>
          <a:p>
            <a:pPr marL="0" indent="0">
              <a:lnSpc>
                <a:spcPct val="115000"/>
              </a:lnSpc>
              <a:buNone/>
            </a:pPr>
            <a:r>
              <a:rPr sz="1865">
                <a:solidFill>
                  <a:srgbClr val="2C3E50"/>
                </a:solidFill>
                <a:latin typeface="Consolas"/>
                <a:ea typeface="Consolas"/>
                <a:cs typeface="Consolas"/>
              </a:rPr>
              <a:t>        ├── Annotations/</a:t>
            </a:r>
          </a:p>
          <a:p>
            <a:pPr marL="0" indent="0">
              <a:lnSpc>
                <a:spcPct val="115000"/>
              </a:lnSpc>
              <a:buNone/>
            </a:pPr>
            <a:r>
              <a:rPr sz="1865">
                <a:solidFill>
                  <a:srgbClr val="2C3E50"/>
                </a:solidFill>
                <a:latin typeface="Consolas"/>
                <a:ea typeface="Consolas"/>
                <a:cs typeface="Consolas"/>
              </a:rPr>
              <a:t>        └── ImageSets/Main/</a:t>
            </a:r>
            <a:endParaRPr sz="1865"/>
          </a:p>
        </p:txBody>
      </p:sp>
      <p:sp>
        <p:nvSpPr>
          <p:cNvPr id="8" name="Text 6">
            <a:extLst>
              <a:ext uri="{FF2B5EF4-FFF2-40B4-BE49-F238E27FC236}">
                <a16:creationId xmlns:a16="http://schemas.microsoft.com/office/drawing/2014/main" id="{E443A230-9790-47E3-94FA-4C4328AA96FA}"/>
              </a:ext>
            </a:extLst>
          </p:cNvPr>
          <p:cNvSpPr>
            <a:spLocks noGrp="1"/>
          </p:cNvSpPr>
          <p:nvPr/>
        </p:nvSpPr>
        <p:spPr>
          <a:xfrm>
            <a:off x="8839200" y="2438400"/>
            <a:ext cx="2804160" cy="1463040"/>
          </a:xfrm>
          <a:prstGeom prst="rect">
            <a:avLst/>
          </a:prstGeom>
          <a:noFill/>
        </p:spPr>
        <p:txBody>
          <a:bodyPr wrap="square" anchor="ctr"/>
          <a:lstStyle/>
          <a:p>
            <a:pPr marL="0" indent="0" algn="ctr">
              <a:buNone/>
            </a:pPr>
            <a:r>
              <a:rPr sz="1865" b="1">
                <a:solidFill>
                  <a:srgbClr val="FFFFFF"/>
                </a:solidFill>
                <a:latin typeface="微软雅黑"/>
                <a:ea typeface="微软雅黑"/>
                <a:cs typeface="微软雅黑"/>
              </a:rPr>
              <a:t>VOC 原始结构</a:t>
            </a:r>
            <a:endParaRPr sz="1865"/>
          </a:p>
          <a:p>
            <a:pPr marL="0" indent="0" algn="ctr">
              <a:buNone/>
            </a:pPr>
            <a:r>
              <a:rPr sz="1865" b="1">
                <a:solidFill>
                  <a:srgbClr val="FFFFFF"/>
                </a:solidFill>
                <a:latin typeface="微软雅黑"/>
                <a:ea typeface="微软雅黑"/>
                <a:cs typeface="微软雅黑"/>
              </a:rPr>
              <a:t>图片、XML 标注、划分列表</a:t>
            </a:r>
            <a:endParaRPr sz="1865"/>
          </a:p>
        </p:txBody>
      </p:sp>
      <p:sp>
        <p:nvSpPr>
          <p:cNvPr id="10" name="Text 8">
            <a:extLst>
              <a:ext uri="{FF2B5EF4-FFF2-40B4-BE49-F238E27FC236}">
                <a16:creationId xmlns:a16="http://schemas.microsoft.com/office/drawing/2014/main" id="{6A0E8359-000C-44BB-92D7-98CEE59FD990}"/>
              </a:ext>
            </a:extLst>
          </p:cNvPr>
          <p:cNvSpPr>
            <a:spLocks noGrp="1"/>
          </p:cNvSpPr>
          <p:nvPr/>
        </p:nvSpPr>
        <p:spPr>
          <a:xfrm>
            <a:off x="8839200" y="4267200"/>
            <a:ext cx="2804160" cy="1463040"/>
          </a:xfrm>
          <a:prstGeom prst="rect">
            <a:avLst/>
          </a:prstGeom>
          <a:noFill/>
        </p:spPr>
        <p:txBody>
          <a:bodyPr wrap="square" anchor="ctr"/>
          <a:lstStyle/>
          <a:p>
            <a:pPr marL="0" indent="0" algn="ctr">
              <a:buNone/>
            </a:pPr>
            <a:r>
              <a:rPr sz="1865" b="1">
                <a:solidFill>
                  <a:srgbClr val="FFFFFF"/>
                </a:solidFill>
                <a:latin typeface="微软雅黑"/>
                <a:ea typeface="微软雅黑"/>
                <a:cs typeface="微软雅黑"/>
              </a:rPr>
              <a:t>YOLO 训练结构</a:t>
            </a:r>
            <a:endParaRPr sz="1865"/>
          </a:p>
          <a:p>
            <a:pPr marL="0" indent="0" algn="ctr">
              <a:buNone/>
            </a:pPr>
            <a:r>
              <a:rPr sz="1865" b="1">
                <a:solidFill>
                  <a:srgbClr val="FFFFFF"/>
                </a:solidFill>
                <a:latin typeface="微软雅黑"/>
                <a:ea typeface="微软雅黑"/>
                <a:cs typeface="微软雅黑"/>
              </a:rPr>
              <a:t>images/ 与 labels/ 一一对应</a:t>
            </a:r>
            <a:endParaRPr sz="1865"/>
          </a:p>
        </p:txBody>
      </p:sp>
      <p:sp>
        <p:nvSpPr>
          <p:cNvPr id="12" name="文本框 11">
            <a:extLst>
              <a:ext uri="{FF2B5EF4-FFF2-40B4-BE49-F238E27FC236}">
                <a16:creationId xmlns:a16="http://schemas.microsoft.com/office/drawing/2014/main" id="{730FEC8A-8DB5-2EB5-5D20-752DED878862}"/>
              </a:ext>
            </a:extLst>
          </p:cNvPr>
          <p:cNvSpPr>
            <a:spLocks noGrp="1"/>
          </p:cNvSpPr>
          <p:nvPr/>
        </p:nvSpPr>
        <p:spPr>
          <a:xfrm>
            <a:off x="8199726" y="1761744"/>
            <a:ext cx="3352800" cy="3668633"/>
          </a:xfrm>
          <a:prstGeom prst="rect">
            <a:avLst/>
          </a:prstGeom>
          <a:noFill/>
          <a:ln>
            <a:solidFill>
              <a:srgbClr val="002060"/>
            </a:solidFill>
          </a:ln>
        </p:spPr>
        <p:txBody>
          <a:bodyPr wrap="square">
            <a:spAutoFit/>
          </a:bodyPr>
          <a:lstStyle/>
          <a:p>
            <a:pPr marL="0" indent="0">
              <a:lnSpc>
                <a:spcPct val="115000"/>
              </a:lnSpc>
              <a:buNone/>
            </a:pPr>
            <a:r>
              <a:rPr sz="2265">
                <a:solidFill>
                  <a:srgbClr val="2C3E50"/>
                </a:solidFill>
                <a:latin typeface="微软雅黑"/>
                <a:ea typeface="微软雅黑"/>
                <a:cs typeface="微软雅黑"/>
              </a:rPr>
              <a:t>VOC2007 和 VOC2012 是 PASCAL VOC 官方发布的两个不同年份版本。很多目标检测实验会同时使用 VOC2007 trainval + VOC2012 trainval 训练，再用 VOC2007 test 测试，这是很经典的 VOC 训练/评估组合。</a:t>
            </a:r>
            <a:endParaRPr sz="2265"/>
          </a:p>
        </p:txBody>
      </p:sp>
    </p:spTree>
    <p:extLst>
      <p:ext uri="{BB962C8B-B14F-4D97-AF65-F5344CB8AC3E}">
        <p14:creationId xmlns:p14="http://schemas.microsoft.com/office/powerpoint/2010/main" val="944490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195A868-5E55-CF7D-2EAA-2F02DC7ABE64}"/>
              </a:ext>
            </a:extLst>
          </p:cNvPr>
          <p:cNvSpPr>
            <a:spLocks noGrp="1"/>
          </p:cNvSpPr>
          <p:nvPr/>
        </p:nvSpPr>
        <p:spPr>
          <a:xfrm>
            <a:off x="0" y="0"/>
            <a:ext cx="12192000" cy="146304"/>
          </a:xfrm>
          <a:prstGeom prst="rect">
            <a:avLst/>
          </a:prstGeom>
          <a:solidFill>
            <a:srgbClr val="1F4E79"/>
          </a:solidFill>
        </p:spPr>
      </p:sp>
      <p:sp>
        <p:nvSpPr>
          <p:cNvPr id="3" name="Text 1">
            <a:extLst>
              <a:ext uri="{FF2B5EF4-FFF2-40B4-BE49-F238E27FC236}">
                <a16:creationId xmlns:a16="http://schemas.microsoft.com/office/drawing/2014/main" id="{4FD7C868-2702-CB40-B0EB-6F5094627086}"/>
              </a:ext>
            </a:extLst>
          </p:cNvPr>
          <p:cNvSpPr>
            <a:spLocks noGrp="1"/>
          </p:cNvSpPr>
          <p:nvPr/>
        </p:nvSpPr>
        <p:spPr>
          <a:xfrm>
            <a:off x="731520" y="304800"/>
            <a:ext cx="10728960" cy="853440"/>
          </a:xfrm>
          <a:prstGeom prst="rect">
            <a:avLst/>
          </a:prstGeom>
          <a:noFill/>
        </p:spPr>
        <p:txBody>
          <a:bodyPr wrap="square" anchor="ctr"/>
          <a:lstStyle/>
          <a:p>
            <a:r>
              <a:rPr sz="3200" b="1" dirty="0" err="1">
                <a:latin typeface="Microsoft YaHei"/>
                <a:ea typeface="Microsoft YaHei"/>
              </a:rPr>
              <a:t>数据预处理：标注格式转换</a:t>
            </a:r>
            <a:endParaRPr sz="3200" b="1" dirty="0">
              <a:latin typeface="Microsoft YaHei"/>
              <a:ea typeface="Microsoft YaHei"/>
            </a:endParaRPr>
          </a:p>
        </p:txBody>
      </p:sp>
      <p:sp>
        <p:nvSpPr>
          <p:cNvPr id="4" name="Shape 2">
            <a:extLst>
              <a:ext uri="{FF2B5EF4-FFF2-40B4-BE49-F238E27FC236}">
                <a16:creationId xmlns:a16="http://schemas.microsoft.com/office/drawing/2014/main" id="{68361476-9719-65EF-F6C4-86440CB9BF76}"/>
              </a:ext>
            </a:extLst>
          </p:cNvPr>
          <p:cNvSpPr>
            <a:spLocks noGrp="1"/>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4D165890-3E69-1153-CC1E-E5BD4E08615A}"/>
              </a:ext>
            </a:extLst>
          </p:cNvPr>
          <p:cNvSpPr>
            <a:spLocks noGrp="1"/>
          </p:cNvSpPr>
          <p:nvPr/>
        </p:nvSpPr>
        <p:spPr>
          <a:xfrm>
            <a:off x="853440" y="1524000"/>
            <a:ext cx="10485120" cy="731520"/>
          </a:xfrm>
          <a:prstGeom prst="rect">
            <a:avLst/>
          </a:prstGeom>
          <a:noFill/>
        </p:spPr>
        <p:txBody>
          <a:bodyPr wrap="square" anchor="t"/>
          <a:lstStyle/>
          <a:p>
            <a:pPr marL="0" indent="0">
              <a:lnSpc>
                <a:spcPct val="115000"/>
              </a:lnSpc>
              <a:buNone/>
            </a:pPr>
            <a:endParaRPr sz="2665"/>
          </a:p>
        </p:txBody>
      </p:sp>
      <p:sp>
        <p:nvSpPr>
          <p:cNvPr id="6" name="Text 4">
            <a:extLst>
              <a:ext uri="{FF2B5EF4-FFF2-40B4-BE49-F238E27FC236}">
                <a16:creationId xmlns:a16="http://schemas.microsoft.com/office/drawing/2014/main" id="{FBD645AD-343D-5C52-E74D-CB4B8C692470}"/>
              </a:ext>
            </a:extLst>
          </p:cNvPr>
          <p:cNvSpPr>
            <a:spLocks noGrp="1"/>
          </p:cNvSpPr>
          <p:nvPr/>
        </p:nvSpPr>
        <p:spPr>
          <a:xfrm>
            <a:off x="853440" y="2377440"/>
            <a:ext cx="10485120" cy="609600"/>
          </a:xfrm>
          <a:prstGeom prst="rect">
            <a:avLst/>
          </a:prstGeom>
          <a:noFill/>
        </p:spPr>
        <p:txBody>
          <a:bodyPr wrap="square" anchor="t"/>
          <a:lstStyle/>
          <a:p>
            <a:pPr marL="0" indent="0">
              <a:lnSpc>
                <a:spcPct val="115000"/>
              </a:lnSpc>
              <a:buNone/>
            </a:pPr>
            <a:endParaRPr sz="2135"/>
          </a:p>
        </p:txBody>
      </p:sp>
      <p:sp>
        <p:nvSpPr>
          <p:cNvPr id="7" name="Text 5">
            <a:extLst>
              <a:ext uri="{FF2B5EF4-FFF2-40B4-BE49-F238E27FC236}">
                <a16:creationId xmlns:a16="http://schemas.microsoft.com/office/drawing/2014/main" id="{32FF32E7-0E24-1D80-D386-3D0F48B96008}"/>
              </a:ext>
            </a:extLst>
          </p:cNvPr>
          <p:cNvSpPr>
            <a:spLocks noGrp="1"/>
          </p:cNvSpPr>
          <p:nvPr/>
        </p:nvSpPr>
        <p:spPr>
          <a:xfrm>
            <a:off x="731520" y="1499617"/>
            <a:ext cx="10485120" cy="609600"/>
          </a:xfrm>
          <a:prstGeom prst="rect">
            <a:avLst/>
          </a:prstGeom>
          <a:noFill/>
        </p:spPr>
        <p:txBody>
          <a:bodyPr wrap="square" anchor="t"/>
          <a:lstStyle/>
          <a:p>
            <a:pPr marL="0" indent="0">
              <a:lnSpc>
                <a:spcPct val="115000"/>
              </a:lnSpc>
              <a:buNone/>
            </a:pPr>
            <a:r>
              <a:rPr sz="2135">
                <a:solidFill>
                  <a:srgbClr val="2C3E50"/>
                </a:solidFill>
                <a:latin typeface="微软雅黑"/>
                <a:ea typeface="微软雅黑"/>
                <a:cs typeface="微软雅黑"/>
              </a:rPr>
              <a:t>VOC 原始标注是 XML，里面会记录目标类别、图片宽高、框的左上角和右下角坐标。但 YOLO 训练时默认读取的是 .txt 标注文件，每一行表示一个目标。所以要把 VOC 的 XML 转成 YOLO 能直接读取的 txt。</a:t>
            </a:r>
          </a:p>
          <a:p>
            <a:pPr marL="0" indent="0">
              <a:lnSpc>
                <a:spcPct val="115000"/>
              </a:lnSpc>
              <a:buNone/>
            </a:pPr>
            <a:endParaRPr sz="2135">
              <a:solidFill>
                <a:srgbClr val="2C3E50"/>
              </a:solidFill>
              <a:latin typeface="微软雅黑"/>
              <a:ea typeface="微软雅黑"/>
              <a:cs typeface="微软雅黑"/>
            </a:endParaRPr>
          </a:p>
          <a:p>
            <a:pPr>
              <a:lnSpc>
                <a:spcPct val="115000"/>
              </a:lnSpc>
              <a:buNone/>
            </a:pPr>
            <a:r>
              <a:rPr sz="2135">
                <a:solidFill>
                  <a:srgbClr val="2C3E50"/>
                </a:solidFill>
                <a:latin typeface="微软雅黑"/>
                <a:ea typeface="微软雅黑"/>
                <a:cs typeface="微软雅黑"/>
              </a:rPr>
              <a:t>转换时主要做两件事：</a:t>
            </a:r>
          </a:p>
          <a:p>
            <a:pPr>
              <a:lnSpc>
                <a:spcPct val="115000"/>
              </a:lnSpc>
              <a:buNone/>
            </a:pPr>
            <a:r>
              <a:rPr sz="2135" b="1">
                <a:solidFill>
                  <a:srgbClr val="2C3E50"/>
                </a:solidFill>
                <a:latin typeface="微软雅黑"/>
                <a:ea typeface="微软雅黑"/>
                <a:cs typeface="微软雅黑"/>
              </a:rPr>
              <a:t>1. 类别名转类别编号</a:t>
            </a:r>
          </a:p>
          <a:p>
            <a:pPr indent="457200">
              <a:lnSpc>
                <a:spcPct val="115000"/>
              </a:lnSpc>
              <a:buNone/>
            </a:pPr>
            <a:r>
              <a:rPr sz="2135">
                <a:solidFill>
                  <a:srgbClr val="2C3E50"/>
                </a:solidFill>
                <a:latin typeface="微软雅黑"/>
                <a:ea typeface="微软雅黑"/>
                <a:cs typeface="微软雅黑"/>
              </a:rPr>
              <a:t>比如 dog、person、car 要转成 0、1、2 这样的 class_id。</a:t>
            </a:r>
          </a:p>
          <a:p>
            <a:pPr>
              <a:lnSpc>
                <a:spcPct val="115000"/>
              </a:lnSpc>
              <a:buNone/>
            </a:pPr>
            <a:r>
              <a:rPr sz="2135" b="1">
                <a:solidFill>
                  <a:srgbClr val="2C3E50"/>
                </a:solidFill>
                <a:latin typeface="微软雅黑"/>
                <a:ea typeface="微软雅黑"/>
                <a:cs typeface="微软雅黑"/>
              </a:rPr>
              <a:t>2. 坐标格式转换并归一化</a:t>
            </a:r>
          </a:p>
          <a:p>
            <a:pPr indent="457200">
              <a:lnSpc>
                <a:spcPct val="115000"/>
              </a:lnSpc>
              <a:buNone/>
            </a:pPr>
            <a:r>
              <a:rPr sz="2135">
                <a:solidFill>
                  <a:srgbClr val="2C3E50"/>
                </a:solidFill>
                <a:latin typeface="微软雅黑"/>
                <a:ea typeface="微软雅黑"/>
                <a:cs typeface="微软雅黑"/>
              </a:rPr>
              <a:t>VOC 是绝对像素坐标：xmin, ymin, xmax, ymax。YOLO 需要的是相对比例坐标：x_center, y_center, width, height，并且通常都除以图片宽高，变成 0~1 之间的值。</a:t>
            </a:r>
          </a:p>
        </p:txBody>
      </p:sp>
    </p:spTree>
    <p:extLst>
      <p:ext uri="{BB962C8B-B14F-4D97-AF65-F5344CB8AC3E}">
        <p14:creationId xmlns:p14="http://schemas.microsoft.com/office/powerpoint/2010/main" val="2016252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97A76-A659-347F-301E-0545E96D3D9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BA9BDB6E-3557-2B59-506C-CA728A7548BB}"/>
              </a:ext>
            </a:extLst>
          </p:cNvPr>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sym typeface="+mn-ea"/>
              </a:rPr>
              <a:t>学习目标</a:t>
            </a:r>
          </a:p>
          <a:p>
            <a:r>
              <a:rPr lang="en-US" dirty="0" err="1">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altLang="zh-CN" b="1" dirty="0">
                <a:latin typeface="微软雅黑" panose="020B0503020204020204" pitchFamily="34" charset="-122"/>
                <a:ea typeface="微软雅黑" panose="020B0503020204020204" pitchFamily="34" charset="-122"/>
                <a:sym typeface="+mn-ea"/>
              </a:rPr>
              <a:t>YOLO </a:t>
            </a:r>
            <a:r>
              <a:rPr lang="zh-CN" altLang="en-US" b="1" dirty="0">
                <a:latin typeface="微软雅黑" panose="020B0503020204020204" pitchFamily="34" charset="-122"/>
                <a:ea typeface="微软雅黑" panose="020B0503020204020204" pitchFamily="34" charset="-122"/>
                <a:sym typeface="+mn-ea"/>
              </a:rPr>
              <a:t>单卡训练流程</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AMP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与训练参数调优</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Profiling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与实验验收</a:t>
            </a:r>
          </a:p>
          <a:p>
            <a:r>
              <a:rPr lang="zh-CN" altLang="en-US" dirty="0">
                <a:solidFill>
                  <a:schemeClr val="bg1">
                    <a:lumMod val="75000"/>
                  </a:schemeClr>
                </a:solidFill>
                <a:sym typeface="+mn-ea"/>
              </a:rPr>
              <a:t>实验总结与多卡扩展</a:t>
            </a:r>
          </a:p>
          <a:p>
            <a:r>
              <a:rPr lang="zh-CN" altLang="en-US" dirty="0">
                <a:solidFill>
                  <a:schemeClr val="bg1">
                    <a:lumMod val="75000"/>
                  </a:schemeClr>
                </a:solidFill>
              </a:rPr>
              <a:t>课后习题</a:t>
            </a:r>
            <a:endParaRPr lang="en-US" dirty="0">
              <a:solidFill>
                <a:schemeClr val="bg1">
                  <a:lumMod val="75000"/>
                </a:schemeClr>
              </a:solidFill>
            </a:endParaRPr>
          </a:p>
          <a:p>
            <a:endParaRPr lang="zh-CN" altLang="en-US" dirty="0"/>
          </a:p>
        </p:txBody>
      </p:sp>
    </p:spTree>
    <p:extLst>
      <p:ext uri="{BB962C8B-B14F-4D97-AF65-F5344CB8AC3E}">
        <p14:creationId xmlns:p14="http://schemas.microsoft.com/office/powerpoint/2010/main" val="3856436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C473A5A-1767-4E31-A1BA-47FC62A6E219}"/>
              </a:ext>
            </a:extLst>
          </p:cNvPr>
          <p:cNvSpPr>
            <a:spLocks noGrp="1"/>
          </p:cNvSpPr>
          <p:nvPr/>
        </p:nvSpPr>
        <p:spPr>
          <a:xfrm>
            <a:off x="0" y="0"/>
            <a:ext cx="12191695" cy="128016"/>
          </a:xfrm>
          <a:prstGeom prst="rect">
            <a:avLst/>
          </a:prstGeom>
          <a:solidFill>
            <a:srgbClr val="8E44AD"/>
          </a:solidFill>
          <a:ln w="12700">
            <a:solidFill>
              <a:srgbClr val="8E44AD"/>
            </a:solidFill>
            <a:prstDash val="solid"/>
          </a:ln>
        </p:spPr>
      </p:sp>
      <p:sp>
        <p:nvSpPr>
          <p:cNvPr id="3" name="Text 1">
            <a:extLst>
              <a:ext uri="{FF2B5EF4-FFF2-40B4-BE49-F238E27FC236}">
                <a16:creationId xmlns:a16="http://schemas.microsoft.com/office/drawing/2014/main" id="{C18C8C51-20D5-4865-BFE6-F258BC154172}"/>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7</a:t>
            </a:r>
            <a:endParaRPr sz="800"/>
          </a:p>
        </p:txBody>
      </p:sp>
      <p:sp>
        <p:nvSpPr>
          <p:cNvPr id="4" name="Text 2">
            <a:extLst>
              <a:ext uri="{FF2B5EF4-FFF2-40B4-BE49-F238E27FC236}">
                <a16:creationId xmlns:a16="http://schemas.microsoft.com/office/drawing/2014/main" id="{6B8DCEE4-BFE9-4BC0-8D00-0891D606FE29}"/>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sz="3200" b="1" dirty="0">
                <a:latin typeface="Microsoft YaHei"/>
                <a:ea typeface="Microsoft YaHei"/>
              </a:rPr>
              <a:t>YOLO </a:t>
            </a:r>
            <a:r>
              <a:rPr sz="3200" b="1" dirty="0" err="1">
                <a:latin typeface="Microsoft YaHei"/>
                <a:ea typeface="Microsoft YaHei"/>
              </a:rPr>
              <a:t>单卡训练核心链路</a:t>
            </a:r>
            <a:endParaRPr sz="3200" b="1" dirty="0">
              <a:latin typeface="Microsoft YaHei"/>
              <a:ea typeface="Microsoft YaHei"/>
            </a:endParaRPr>
          </a:p>
        </p:txBody>
      </p:sp>
      <p:sp>
        <p:nvSpPr>
          <p:cNvPr id="5" name="Shape 3">
            <a:extLst>
              <a:ext uri="{FF2B5EF4-FFF2-40B4-BE49-F238E27FC236}">
                <a16:creationId xmlns:a16="http://schemas.microsoft.com/office/drawing/2014/main" id="{05F0EA6F-A2FB-4787-AB2D-29AEC3190444}"/>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Text 4">
            <a:extLst>
              <a:ext uri="{FF2B5EF4-FFF2-40B4-BE49-F238E27FC236}">
                <a16:creationId xmlns:a16="http://schemas.microsoft.com/office/drawing/2014/main" id="{5ADD446F-AD24-4E5C-9AFF-E89C0AA4324E}"/>
              </a:ext>
            </a:extLst>
          </p:cNvPr>
          <p:cNvSpPr>
            <a:spLocks noGrp="1"/>
          </p:cNvSpPr>
          <p:nvPr/>
        </p:nvSpPr>
        <p:spPr>
          <a:xfrm>
            <a:off x="932688" y="1536192"/>
            <a:ext cx="10058400" cy="548640"/>
          </a:xfrm>
          <a:prstGeom prst="rect">
            <a:avLst/>
          </a:prstGeom>
          <a:noFill/>
        </p:spPr>
        <p:txBody>
          <a:bodyPr wrap="square" lIns="254" tIns="254" rIns="254" bIns="254" anchor="t">
            <a:normAutofit fontScale="99907" lnSpcReduction="10000"/>
          </a:bodyPr>
          <a:lstStyle/>
          <a:p>
            <a:pPr marL="0" indent="0">
              <a:buNone/>
            </a:pPr>
            <a:r>
              <a:rPr b="1">
                <a:solidFill>
                  <a:srgbClr val="1F4E79"/>
                </a:solidFill>
                <a:latin typeface="Microsoft YaHei"/>
                <a:ea typeface="Microsoft YaHei"/>
                <a:cs typeface="Microsoft YaHei"/>
              </a:rPr>
              <a:t>单卡训练采用一个训练进程绑定一张 NPU 的方式：数据经 DataLoader 送入模型，完成前向、loss 计算、反向传播和参数更新。</a:t>
            </a:r>
          </a:p>
        </p:txBody>
      </p:sp>
      <p:sp>
        <p:nvSpPr>
          <p:cNvPr id="7" name="Shape 5">
            <a:extLst>
              <a:ext uri="{FF2B5EF4-FFF2-40B4-BE49-F238E27FC236}">
                <a16:creationId xmlns:a16="http://schemas.microsoft.com/office/drawing/2014/main" id="{8CF3B9AA-F911-4E75-BA4B-93A750329448}"/>
              </a:ext>
            </a:extLst>
          </p:cNvPr>
          <p:cNvSpPr>
            <a:spLocks noGrp="1"/>
          </p:cNvSpPr>
          <p:nvPr/>
        </p:nvSpPr>
        <p:spPr>
          <a:xfrm>
            <a:off x="2057400" y="2788920"/>
            <a:ext cx="1645920" cy="0"/>
          </a:xfrm>
          <a:prstGeom prst="line">
            <a:avLst/>
          </a:prstGeom>
          <a:noFill/>
          <a:ln w="25400">
            <a:solidFill>
              <a:srgbClr val="1F4E79"/>
            </a:solidFill>
            <a:prstDash val="solid"/>
            <a:headEnd type="none"/>
            <a:tailEnd type="triangle"/>
          </a:ln>
        </p:spPr>
      </p:sp>
      <p:sp>
        <p:nvSpPr>
          <p:cNvPr id="8" name="Shape 6">
            <a:extLst>
              <a:ext uri="{FF2B5EF4-FFF2-40B4-BE49-F238E27FC236}">
                <a16:creationId xmlns:a16="http://schemas.microsoft.com/office/drawing/2014/main" id="{BA0ECA7A-0641-4548-961A-CC5E7549398B}"/>
              </a:ext>
            </a:extLst>
          </p:cNvPr>
          <p:cNvSpPr>
            <a:spLocks noGrp="1"/>
          </p:cNvSpPr>
          <p:nvPr/>
        </p:nvSpPr>
        <p:spPr>
          <a:xfrm>
            <a:off x="7406640" y="2788920"/>
            <a:ext cx="0" cy="0"/>
          </a:xfrm>
          <a:prstGeom prst="line">
            <a:avLst/>
          </a:prstGeom>
          <a:noFill/>
          <a:ln w="25400">
            <a:solidFill>
              <a:srgbClr val="1F4E79"/>
            </a:solidFill>
            <a:prstDash val="solid"/>
            <a:headEnd type="none"/>
            <a:tailEnd type="triangle"/>
          </a:ln>
        </p:spPr>
      </p:sp>
      <p:sp>
        <p:nvSpPr>
          <p:cNvPr id="9" name="Shape 7">
            <a:extLst>
              <a:ext uri="{FF2B5EF4-FFF2-40B4-BE49-F238E27FC236}">
                <a16:creationId xmlns:a16="http://schemas.microsoft.com/office/drawing/2014/main" id="{96CA4314-41F0-46F6-9137-DE2B90492E40}"/>
              </a:ext>
            </a:extLst>
          </p:cNvPr>
          <p:cNvSpPr>
            <a:spLocks noGrp="1"/>
          </p:cNvSpPr>
          <p:nvPr/>
        </p:nvSpPr>
        <p:spPr>
          <a:xfrm>
            <a:off x="5806440" y="3611880"/>
            <a:ext cx="0" cy="685800"/>
          </a:xfrm>
          <a:prstGeom prst="line">
            <a:avLst/>
          </a:prstGeom>
          <a:noFill/>
          <a:ln w="25400">
            <a:solidFill>
              <a:srgbClr val="1F4E79"/>
            </a:solidFill>
            <a:prstDash val="solid"/>
            <a:headEnd type="none"/>
            <a:tailEnd type="triangle"/>
          </a:ln>
        </p:spPr>
      </p:sp>
      <p:sp>
        <p:nvSpPr>
          <p:cNvPr id="10" name="Shape 8">
            <a:extLst>
              <a:ext uri="{FF2B5EF4-FFF2-40B4-BE49-F238E27FC236}">
                <a16:creationId xmlns:a16="http://schemas.microsoft.com/office/drawing/2014/main" id="{3A3B9EAB-8362-42D7-87C3-C576061EDACE}"/>
              </a:ext>
            </a:extLst>
          </p:cNvPr>
          <p:cNvSpPr>
            <a:spLocks noGrp="1"/>
          </p:cNvSpPr>
          <p:nvPr/>
        </p:nvSpPr>
        <p:spPr>
          <a:xfrm>
            <a:off x="868680" y="2240280"/>
            <a:ext cx="1783080" cy="1005840"/>
          </a:xfrm>
          <a:prstGeom prst="roundRect">
            <a:avLst>
              <a:gd name="adj" fmla="val 7273"/>
            </a:avLst>
          </a:prstGeom>
          <a:solidFill>
            <a:srgbClr val="308FAE"/>
          </a:solidFill>
          <a:ln w="12700">
            <a:solidFill>
              <a:srgbClr val="308FAE"/>
            </a:solidFill>
            <a:prstDash val="solid"/>
          </a:ln>
        </p:spPr>
      </p:sp>
      <p:sp>
        <p:nvSpPr>
          <p:cNvPr id="11" name="Text 9">
            <a:extLst>
              <a:ext uri="{FF2B5EF4-FFF2-40B4-BE49-F238E27FC236}">
                <a16:creationId xmlns:a16="http://schemas.microsoft.com/office/drawing/2014/main" id="{D40BC420-9798-4E8E-B3DB-DEE129F62C91}"/>
              </a:ext>
            </a:extLst>
          </p:cNvPr>
          <p:cNvSpPr>
            <a:spLocks noGrp="1"/>
          </p:cNvSpPr>
          <p:nvPr/>
        </p:nvSpPr>
        <p:spPr>
          <a:xfrm>
            <a:off x="1033272" y="2414016"/>
            <a:ext cx="1453896" cy="329184"/>
          </a:xfrm>
          <a:prstGeom prst="rect">
            <a:avLst/>
          </a:prstGeom>
          <a:noFill/>
        </p:spPr>
        <p:txBody>
          <a:bodyPr wrap="square" lIns="254" tIns="254" rIns="254" bIns="254" anchor="ctr">
            <a:normAutofit/>
          </a:bodyPr>
          <a:lstStyle/>
          <a:p>
            <a:pPr marL="0" indent="0" algn="ctr">
              <a:buNone/>
            </a:pPr>
            <a:r>
              <a:rPr sz="1600" b="1">
                <a:solidFill>
                  <a:srgbClr val="FFFFFF"/>
                </a:solidFill>
                <a:latin typeface="Microsoft YaHei"/>
                <a:ea typeface="Microsoft YaHei"/>
                <a:cs typeface="Microsoft YaHei"/>
              </a:rPr>
              <a:t>训练进程</a:t>
            </a:r>
            <a:endParaRPr sz="1600"/>
          </a:p>
        </p:txBody>
      </p:sp>
      <p:sp>
        <p:nvSpPr>
          <p:cNvPr id="12" name="Text 10">
            <a:extLst>
              <a:ext uri="{FF2B5EF4-FFF2-40B4-BE49-F238E27FC236}">
                <a16:creationId xmlns:a16="http://schemas.microsoft.com/office/drawing/2014/main" id="{3E70D963-0EF9-44B2-8266-9E762B82C2D2}"/>
              </a:ext>
            </a:extLst>
          </p:cNvPr>
          <p:cNvSpPr>
            <a:spLocks noGrp="1"/>
          </p:cNvSpPr>
          <p:nvPr/>
        </p:nvSpPr>
        <p:spPr>
          <a:xfrm>
            <a:off x="1014984" y="2770632"/>
            <a:ext cx="1490472" cy="347472"/>
          </a:xfrm>
          <a:prstGeom prst="rect">
            <a:avLst/>
          </a:prstGeom>
          <a:noFill/>
        </p:spPr>
        <p:txBody>
          <a:bodyPr wrap="square" lIns="127" tIns="127" rIns="127" bIns="127" anchor="ctr">
            <a:normAutofit fontScale="94930"/>
          </a:bodyPr>
          <a:lstStyle/>
          <a:p>
            <a:pPr marL="0" indent="0" algn="ctr">
              <a:buNone/>
            </a:pPr>
            <a:r>
              <a:rPr sz="1200" b="1">
                <a:solidFill>
                  <a:srgbClr val="FFFFFF"/>
                </a:solidFill>
                <a:latin typeface="Microsoft YaHei"/>
                <a:ea typeface="Microsoft YaHei"/>
                <a:cs typeface="Microsoft YaHei"/>
              </a:rPr>
              <a:t>NPU 0</a:t>
            </a:r>
            <a:endParaRPr sz="1200"/>
          </a:p>
          <a:p>
            <a:pPr marL="0" indent="0" algn="ctr">
              <a:buNone/>
            </a:pPr>
            <a:r>
              <a:rPr sz="1200" b="1">
                <a:solidFill>
                  <a:srgbClr val="FFFFFF"/>
                </a:solidFill>
                <a:latin typeface="Microsoft YaHei"/>
                <a:ea typeface="Microsoft YaHei"/>
                <a:cs typeface="Microsoft YaHei"/>
              </a:rPr>
              <a:t>单卡执行</a:t>
            </a:r>
            <a:endParaRPr sz="1200"/>
          </a:p>
        </p:txBody>
      </p:sp>
      <p:sp>
        <p:nvSpPr>
          <p:cNvPr id="13" name="Shape 11">
            <a:extLst>
              <a:ext uri="{FF2B5EF4-FFF2-40B4-BE49-F238E27FC236}">
                <a16:creationId xmlns:a16="http://schemas.microsoft.com/office/drawing/2014/main" id="{89B1FE5E-36BC-47CA-B16E-C3BDE59B9500}"/>
              </a:ext>
            </a:extLst>
          </p:cNvPr>
          <p:cNvSpPr>
            <a:spLocks noGrp="1"/>
          </p:cNvSpPr>
          <p:nvPr/>
        </p:nvSpPr>
        <p:spPr>
          <a:xfrm>
            <a:off x="3840480" y="2240280"/>
            <a:ext cx="3931920" cy="1005840"/>
          </a:xfrm>
          <a:prstGeom prst="roundRect">
            <a:avLst>
              <a:gd name="adj" fmla="val 7273"/>
            </a:avLst>
          </a:prstGeom>
          <a:solidFill>
            <a:srgbClr val="F58220"/>
          </a:solidFill>
          <a:ln w="12700">
            <a:solidFill>
              <a:srgbClr val="F58220"/>
            </a:solidFill>
            <a:prstDash val="solid"/>
          </a:ln>
        </p:spPr>
      </p:sp>
      <p:sp>
        <p:nvSpPr>
          <p:cNvPr id="14" name="Text 12">
            <a:extLst>
              <a:ext uri="{FF2B5EF4-FFF2-40B4-BE49-F238E27FC236}">
                <a16:creationId xmlns:a16="http://schemas.microsoft.com/office/drawing/2014/main" id="{A6CEDDD4-2752-4DE3-B905-4422B65396B7}"/>
              </a:ext>
            </a:extLst>
          </p:cNvPr>
          <p:cNvSpPr>
            <a:spLocks noGrp="1"/>
          </p:cNvSpPr>
          <p:nvPr/>
        </p:nvSpPr>
        <p:spPr>
          <a:xfrm>
            <a:off x="4005072" y="2414016"/>
            <a:ext cx="3602736" cy="329184"/>
          </a:xfrm>
          <a:prstGeom prst="rect">
            <a:avLst/>
          </a:prstGeom>
          <a:noFill/>
        </p:spPr>
        <p:txBody>
          <a:bodyPr wrap="square" lIns="254" tIns="254" rIns="254" bIns="254" anchor="ctr">
            <a:normAutofit/>
          </a:bodyPr>
          <a:lstStyle/>
          <a:p>
            <a:pPr marL="0" indent="0" algn="ctr">
              <a:buNone/>
            </a:pPr>
            <a:r>
              <a:rPr sz="1700" b="1">
                <a:solidFill>
                  <a:srgbClr val="FFFFFF"/>
                </a:solidFill>
                <a:latin typeface="Microsoft YaHei"/>
                <a:ea typeface="Microsoft YaHei"/>
                <a:cs typeface="Microsoft YaHei"/>
              </a:rPr>
              <a:t>前向 + 反向</a:t>
            </a:r>
            <a:endParaRPr sz="1700"/>
          </a:p>
        </p:txBody>
      </p:sp>
      <p:sp>
        <p:nvSpPr>
          <p:cNvPr id="15" name="Text 13">
            <a:extLst>
              <a:ext uri="{FF2B5EF4-FFF2-40B4-BE49-F238E27FC236}">
                <a16:creationId xmlns:a16="http://schemas.microsoft.com/office/drawing/2014/main" id="{5C24FCEA-F373-49CE-B717-7A16A01BF741}"/>
              </a:ext>
            </a:extLst>
          </p:cNvPr>
          <p:cNvSpPr>
            <a:spLocks noGrp="1"/>
          </p:cNvSpPr>
          <p:nvPr/>
        </p:nvSpPr>
        <p:spPr>
          <a:xfrm>
            <a:off x="3986784" y="2770632"/>
            <a:ext cx="3639312" cy="347472"/>
          </a:xfrm>
          <a:prstGeom prst="rect">
            <a:avLst/>
          </a:prstGeom>
          <a:noFill/>
        </p:spPr>
        <p:txBody>
          <a:bodyPr wrap="square" lIns="127" tIns="127" rIns="127" bIns="127" anchor="ctr">
            <a:normAutofit/>
          </a:bodyPr>
          <a:lstStyle/>
          <a:p>
            <a:pPr marL="0" indent="0" algn="ctr">
              <a:buNone/>
            </a:pPr>
            <a:r>
              <a:rPr sz="1250" b="1">
                <a:solidFill>
                  <a:srgbClr val="FFFFFF"/>
                </a:solidFill>
                <a:latin typeface="Microsoft YaHei"/>
                <a:ea typeface="Microsoft YaHei"/>
                <a:cs typeface="Microsoft YaHei"/>
              </a:rPr>
              <a:t>计算预测、loss 和梯度</a:t>
            </a:r>
            <a:endParaRPr sz="1250"/>
          </a:p>
        </p:txBody>
      </p:sp>
      <p:sp>
        <p:nvSpPr>
          <p:cNvPr id="16" name="Shape 14">
            <a:extLst>
              <a:ext uri="{FF2B5EF4-FFF2-40B4-BE49-F238E27FC236}">
                <a16:creationId xmlns:a16="http://schemas.microsoft.com/office/drawing/2014/main" id="{CFCA1962-1A10-4931-9922-6C78C68307D4}"/>
              </a:ext>
            </a:extLst>
          </p:cNvPr>
          <p:cNvSpPr>
            <a:spLocks noGrp="1"/>
          </p:cNvSpPr>
          <p:nvPr/>
        </p:nvSpPr>
        <p:spPr>
          <a:xfrm>
            <a:off x="8275320" y="2240280"/>
            <a:ext cx="1783080" cy="1005840"/>
          </a:xfrm>
          <a:prstGeom prst="roundRect">
            <a:avLst>
              <a:gd name="adj" fmla="val 7273"/>
            </a:avLst>
          </a:prstGeom>
          <a:solidFill>
            <a:srgbClr val="27AE60"/>
          </a:solidFill>
          <a:ln w="12700">
            <a:solidFill>
              <a:srgbClr val="27AE60"/>
            </a:solidFill>
            <a:prstDash val="solid"/>
          </a:ln>
        </p:spPr>
      </p:sp>
      <p:sp>
        <p:nvSpPr>
          <p:cNvPr id="17" name="Text 15">
            <a:extLst>
              <a:ext uri="{FF2B5EF4-FFF2-40B4-BE49-F238E27FC236}">
                <a16:creationId xmlns:a16="http://schemas.microsoft.com/office/drawing/2014/main" id="{6C96EFCA-D04E-43D7-BE24-F9457891E572}"/>
              </a:ext>
            </a:extLst>
          </p:cNvPr>
          <p:cNvSpPr>
            <a:spLocks noGrp="1"/>
          </p:cNvSpPr>
          <p:nvPr/>
        </p:nvSpPr>
        <p:spPr>
          <a:xfrm>
            <a:off x="8439912" y="2414016"/>
            <a:ext cx="1453896" cy="329184"/>
          </a:xfrm>
          <a:prstGeom prst="rect">
            <a:avLst/>
          </a:prstGeom>
          <a:noFill/>
        </p:spPr>
        <p:txBody>
          <a:bodyPr wrap="square" lIns="254" tIns="254" rIns="254" bIns="254" anchor="ctr">
            <a:normAutofit/>
          </a:bodyPr>
          <a:lstStyle/>
          <a:p>
            <a:pPr marL="0" indent="0" algn="ctr">
              <a:buNone/>
            </a:pPr>
            <a:r>
              <a:rPr sz="1600" b="1">
                <a:solidFill>
                  <a:srgbClr val="FFFFFF"/>
                </a:solidFill>
                <a:latin typeface="Microsoft YaHei"/>
                <a:ea typeface="Microsoft YaHei"/>
                <a:cs typeface="Microsoft YaHei"/>
              </a:rPr>
              <a:t>优化器更新</a:t>
            </a:r>
            <a:endParaRPr sz="1600"/>
          </a:p>
        </p:txBody>
      </p:sp>
      <p:sp>
        <p:nvSpPr>
          <p:cNvPr id="18" name="Text 16">
            <a:extLst>
              <a:ext uri="{FF2B5EF4-FFF2-40B4-BE49-F238E27FC236}">
                <a16:creationId xmlns:a16="http://schemas.microsoft.com/office/drawing/2014/main" id="{59E11BCF-B257-42DC-9333-42C4FA01F1E0}"/>
              </a:ext>
            </a:extLst>
          </p:cNvPr>
          <p:cNvSpPr>
            <a:spLocks noGrp="1"/>
          </p:cNvSpPr>
          <p:nvPr/>
        </p:nvSpPr>
        <p:spPr>
          <a:xfrm>
            <a:off x="8421624" y="2770632"/>
            <a:ext cx="1490472" cy="347472"/>
          </a:xfrm>
          <a:prstGeom prst="rect">
            <a:avLst/>
          </a:prstGeom>
          <a:noFill/>
        </p:spPr>
        <p:txBody>
          <a:bodyPr wrap="square" lIns="127" tIns="127" rIns="127" bIns="127" anchor="ctr">
            <a:normAutofit fontScale="94930"/>
          </a:bodyPr>
          <a:lstStyle/>
          <a:p>
            <a:pPr marL="0" indent="0" algn="ctr">
              <a:buNone/>
            </a:pPr>
            <a:r>
              <a:rPr sz="1200" b="1">
                <a:solidFill>
                  <a:srgbClr val="FFFFFF"/>
                </a:solidFill>
                <a:latin typeface="Microsoft YaHei"/>
                <a:ea typeface="Microsoft YaHei"/>
                <a:cs typeface="Microsoft YaHei"/>
              </a:rPr>
              <a:t>更新参数</a:t>
            </a:r>
            <a:endParaRPr sz="1200"/>
          </a:p>
          <a:p>
            <a:pPr marL="0" indent="0" algn="ctr">
              <a:buNone/>
            </a:pPr>
            <a:r>
              <a:rPr sz="1200" b="1">
                <a:solidFill>
                  <a:srgbClr val="FFFFFF"/>
                </a:solidFill>
                <a:latin typeface="Microsoft YaHei"/>
                <a:ea typeface="Microsoft YaHei"/>
                <a:cs typeface="Microsoft YaHei"/>
              </a:rPr>
              <a:t>保存权重</a:t>
            </a:r>
            <a:endParaRPr sz="1200"/>
          </a:p>
        </p:txBody>
      </p:sp>
      <p:sp>
        <p:nvSpPr>
          <p:cNvPr id="19" name="Shape 17">
            <a:extLst>
              <a:ext uri="{FF2B5EF4-FFF2-40B4-BE49-F238E27FC236}">
                <a16:creationId xmlns:a16="http://schemas.microsoft.com/office/drawing/2014/main" id="{48C13E33-4A5D-4760-A7C9-56786752AA25}"/>
              </a:ext>
            </a:extLst>
          </p:cNvPr>
          <p:cNvSpPr>
            <a:spLocks noGrp="1"/>
          </p:cNvSpPr>
          <p:nvPr/>
        </p:nvSpPr>
        <p:spPr>
          <a:xfrm>
            <a:off x="4572000" y="4407408"/>
            <a:ext cx="2468880" cy="786384"/>
          </a:xfrm>
          <a:prstGeom prst="roundRect">
            <a:avLst>
              <a:gd name="adj" fmla="val 9302"/>
            </a:avLst>
          </a:prstGeom>
          <a:solidFill>
            <a:srgbClr val="1F4E79"/>
          </a:solidFill>
          <a:ln w="12700">
            <a:solidFill>
              <a:srgbClr val="1F4E79"/>
            </a:solidFill>
            <a:prstDash val="solid"/>
          </a:ln>
        </p:spPr>
      </p:sp>
      <p:sp>
        <p:nvSpPr>
          <p:cNvPr id="20" name="Text 18">
            <a:extLst>
              <a:ext uri="{FF2B5EF4-FFF2-40B4-BE49-F238E27FC236}">
                <a16:creationId xmlns:a16="http://schemas.microsoft.com/office/drawing/2014/main" id="{B96F6D9C-6F5C-4ACF-91CA-6DCCDCB04E03}"/>
              </a:ext>
            </a:extLst>
          </p:cNvPr>
          <p:cNvSpPr>
            <a:spLocks noGrp="1"/>
          </p:cNvSpPr>
          <p:nvPr/>
        </p:nvSpPr>
        <p:spPr>
          <a:xfrm>
            <a:off x="4736592" y="4581144"/>
            <a:ext cx="2139696" cy="329184"/>
          </a:xfrm>
          <a:prstGeom prst="rect">
            <a:avLst/>
          </a:prstGeom>
          <a:noFill/>
        </p:spPr>
        <p:txBody>
          <a:bodyPr wrap="square" lIns="254" tIns="254" rIns="254" bIns="254" anchor="ctr">
            <a:normAutofit/>
          </a:bodyPr>
          <a:lstStyle/>
          <a:p>
            <a:pPr marL="0" indent="0" algn="ctr">
              <a:buNone/>
            </a:pPr>
            <a:r>
              <a:rPr sz="1500" b="1">
                <a:solidFill>
                  <a:srgbClr val="FFFFFF"/>
                </a:solidFill>
                <a:latin typeface="Microsoft YaHei"/>
                <a:ea typeface="Microsoft YaHei"/>
                <a:cs typeface="Microsoft YaHei"/>
              </a:rPr>
              <a:t>性能观察</a:t>
            </a:r>
            <a:endParaRPr sz="1500"/>
          </a:p>
        </p:txBody>
      </p:sp>
      <p:sp>
        <p:nvSpPr>
          <p:cNvPr id="21" name="Text 19">
            <a:extLst>
              <a:ext uri="{FF2B5EF4-FFF2-40B4-BE49-F238E27FC236}">
                <a16:creationId xmlns:a16="http://schemas.microsoft.com/office/drawing/2014/main" id="{54032280-05E3-4EFC-A20E-74A688F29180}"/>
              </a:ext>
            </a:extLst>
          </p:cNvPr>
          <p:cNvSpPr>
            <a:spLocks noGrp="1"/>
          </p:cNvSpPr>
          <p:nvPr/>
        </p:nvSpPr>
        <p:spPr>
          <a:xfrm>
            <a:off x="4718304" y="4937760"/>
            <a:ext cx="2176272" cy="128016"/>
          </a:xfrm>
          <a:prstGeom prst="rect">
            <a:avLst/>
          </a:prstGeom>
          <a:noFill/>
        </p:spPr>
        <p:txBody>
          <a:bodyPr wrap="square" lIns="127" tIns="127" rIns="127" bIns="127" anchor="ctr">
            <a:normAutofit fontScale="91212" lnSpcReduction="20000"/>
          </a:bodyPr>
          <a:lstStyle/>
          <a:p>
            <a:pPr marL="0" indent="0" algn="ctr">
              <a:buNone/>
            </a:pPr>
            <a:r>
              <a:rPr sz="1100" b="1">
                <a:solidFill>
                  <a:srgbClr val="FFFFFF"/>
                </a:solidFill>
                <a:latin typeface="Microsoft YaHei"/>
                <a:ea typeface="Microsoft YaHei"/>
                <a:cs typeface="Microsoft YaHei"/>
              </a:rPr>
              <a:t>loss / lr / throughput</a:t>
            </a:r>
            <a:endParaRPr sz="1100"/>
          </a:p>
        </p:txBody>
      </p:sp>
      <p:sp>
        <p:nvSpPr>
          <p:cNvPr id="22" name="Text 20">
            <a:extLst>
              <a:ext uri="{FF2B5EF4-FFF2-40B4-BE49-F238E27FC236}">
                <a16:creationId xmlns:a16="http://schemas.microsoft.com/office/drawing/2014/main" id="{75057EBA-EC4F-4B28-AEE1-CF49F83EFA6D}"/>
              </a:ext>
            </a:extLst>
          </p:cNvPr>
          <p:cNvSpPr>
            <a:spLocks noGrp="1"/>
          </p:cNvSpPr>
          <p:nvPr/>
        </p:nvSpPr>
        <p:spPr>
          <a:xfrm>
            <a:off x="932688" y="5532120"/>
            <a:ext cx="10300504" cy="411480"/>
          </a:xfrm>
          <a:prstGeom prst="rect">
            <a:avLst/>
          </a:prstGeom>
          <a:noFill/>
        </p:spPr>
        <p:txBody>
          <a:bodyPr wrap="square" lIns="254" tIns="254" rIns="254" bIns="254" anchor="t">
            <a:normAutofit fontScale="86415" lnSpcReduction="20000"/>
          </a:bodyPr>
          <a:lstStyle/>
          <a:p>
            <a:pPr marL="0" indent="0">
              <a:buNone/>
            </a:pPr>
            <a:r>
              <a:rPr sz="1700" b="1">
                <a:solidFill>
                  <a:srgbClr val="1F4E79"/>
                </a:solidFill>
                <a:latin typeface="Microsoft YaHei"/>
                <a:ea typeface="Microsoft YaHei"/>
                <a:cs typeface="Microsoft YaHei"/>
              </a:rPr>
              <a:t>正确运行时应能在日志中看到 device、epoch、loss、lr、throughput，并在 runs/ 或 weights/ 目录看到 checkpoint。</a:t>
            </a:r>
            <a:endParaRPr sz="1700"/>
          </a:p>
        </p:txBody>
      </p:sp>
    </p:spTree>
    <p:extLst>
      <p:ext uri="{BB962C8B-B14F-4D97-AF65-F5344CB8AC3E}">
        <p14:creationId xmlns:p14="http://schemas.microsoft.com/office/powerpoint/2010/main" val="675966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DAD2C-E94D-F98B-7CC9-0AF88D5F08B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E4E8960-61C0-CB40-35C0-5ADCDDCF45AF}"/>
              </a:ext>
            </a:extLst>
          </p:cNvPr>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sym typeface="+mn-ea"/>
              </a:rPr>
              <a:t>学习目标</a:t>
            </a:r>
          </a:p>
          <a:p>
            <a:r>
              <a:rPr lang="en-US" dirty="0" err="1">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YOLO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单卡训练流程</a:t>
            </a:r>
          </a:p>
          <a:p>
            <a:r>
              <a:rPr lang="en-US" altLang="zh-CN" b="1" dirty="0">
                <a:latin typeface="微软雅黑" panose="020B0503020204020204" pitchFamily="34" charset="-122"/>
                <a:ea typeface="微软雅黑" panose="020B0503020204020204" pitchFamily="34" charset="-122"/>
                <a:sym typeface="+mn-ea"/>
              </a:rPr>
              <a:t>AMP </a:t>
            </a:r>
            <a:r>
              <a:rPr lang="zh-CN" altLang="en-US" b="1" dirty="0">
                <a:latin typeface="微软雅黑" panose="020B0503020204020204" pitchFamily="34" charset="-122"/>
                <a:ea typeface="微软雅黑" panose="020B0503020204020204" pitchFamily="34" charset="-122"/>
                <a:sym typeface="+mn-ea"/>
              </a:rPr>
              <a:t>与训练参数调优</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Profiling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与实验验收</a:t>
            </a:r>
          </a:p>
          <a:p>
            <a:r>
              <a:rPr lang="zh-CN" altLang="en-US" dirty="0">
                <a:solidFill>
                  <a:schemeClr val="bg1">
                    <a:lumMod val="75000"/>
                  </a:schemeClr>
                </a:solidFill>
                <a:sym typeface="+mn-ea"/>
              </a:rPr>
              <a:t>实验总结与多卡扩展</a:t>
            </a:r>
          </a:p>
          <a:p>
            <a:r>
              <a:rPr lang="zh-CN" altLang="en-US" dirty="0">
                <a:solidFill>
                  <a:schemeClr val="bg1">
                    <a:lumMod val="75000"/>
                  </a:schemeClr>
                </a:solidFill>
              </a:rPr>
              <a:t>课后习题</a:t>
            </a:r>
            <a:endParaRPr lang="en-US" dirty="0">
              <a:solidFill>
                <a:schemeClr val="bg1">
                  <a:lumMod val="75000"/>
                </a:schemeClr>
              </a:solidFill>
            </a:endParaRPr>
          </a:p>
          <a:p>
            <a:endParaRPr lang="zh-CN" altLang="en-US" dirty="0"/>
          </a:p>
        </p:txBody>
      </p:sp>
    </p:spTree>
    <p:extLst>
      <p:ext uri="{BB962C8B-B14F-4D97-AF65-F5344CB8AC3E}">
        <p14:creationId xmlns:p14="http://schemas.microsoft.com/office/powerpoint/2010/main" val="1469416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45DDAE8-5DAD-4E98-8AC3-1D7A7F00B58E}"/>
              </a:ext>
            </a:extLst>
          </p:cNvPr>
          <p:cNvSpPr>
            <a:spLocks noGrp="1"/>
          </p:cNvSpPr>
          <p:nvPr/>
        </p:nvSpPr>
        <p:spPr>
          <a:xfrm>
            <a:off x="0" y="0"/>
            <a:ext cx="12191695" cy="128016"/>
          </a:xfrm>
          <a:prstGeom prst="rect">
            <a:avLst/>
          </a:prstGeom>
          <a:solidFill>
            <a:srgbClr val="308FAE"/>
          </a:solidFill>
          <a:ln w="12700">
            <a:solidFill>
              <a:srgbClr val="308FAE"/>
            </a:solidFill>
            <a:prstDash val="solid"/>
          </a:ln>
        </p:spPr>
      </p:sp>
      <p:sp>
        <p:nvSpPr>
          <p:cNvPr id="3" name="Text 1">
            <a:extLst>
              <a:ext uri="{FF2B5EF4-FFF2-40B4-BE49-F238E27FC236}">
                <a16:creationId xmlns:a16="http://schemas.microsoft.com/office/drawing/2014/main" id="{46A10525-CD96-4233-B7E0-44FE6EF5BCA9}"/>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8</a:t>
            </a:r>
            <a:endParaRPr sz="800"/>
          </a:p>
        </p:txBody>
      </p:sp>
      <p:sp>
        <p:nvSpPr>
          <p:cNvPr id="4" name="Text 2">
            <a:extLst>
              <a:ext uri="{FF2B5EF4-FFF2-40B4-BE49-F238E27FC236}">
                <a16:creationId xmlns:a16="http://schemas.microsoft.com/office/drawing/2014/main" id="{6CFA7611-1D25-4504-87EF-EFFC2A80D9D5}"/>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sz="3200" b="1" dirty="0" err="1">
                <a:latin typeface="Microsoft YaHei"/>
                <a:ea typeface="Microsoft YaHei"/>
              </a:rPr>
              <a:t>AMP：用混合精度提升训练吞吐</a:t>
            </a:r>
            <a:endParaRPr sz="3200" b="1" dirty="0">
              <a:latin typeface="Microsoft YaHei"/>
              <a:ea typeface="Microsoft YaHei"/>
            </a:endParaRPr>
          </a:p>
        </p:txBody>
      </p:sp>
      <p:sp>
        <p:nvSpPr>
          <p:cNvPr id="5" name="Shape 3">
            <a:extLst>
              <a:ext uri="{FF2B5EF4-FFF2-40B4-BE49-F238E27FC236}">
                <a16:creationId xmlns:a16="http://schemas.microsoft.com/office/drawing/2014/main" id="{53AB917A-C908-49D8-BBF3-A6F12D66665E}"/>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Text 4">
            <a:extLst>
              <a:ext uri="{FF2B5EF4-FFF2-40B4-BE49-F238E27FC236}">
                <a16:creationId xmlns:a16="http://schemas.microsoft.com/office/drawing/2014/main" id="{02A5B105-4033-4361-8BDD-99B31ACCBD6F}"/>
              </a:ext>
            </a:extLst>
          </p:cNvPr>
          <p:cNvSpPr>
            <a:spLocks noGrp="1"/>
          </p:cNvSpPr>
          <p:nvPr/>
        </p:nvSpPr>
        <p:spPr>
          <a:xfrm>
            <a:off x="868680" y="1901953"/>
            <a:ext cx="10427672" cy="502920"/>
          </a:xfrm>
          <a:prstGeom prst="rect">
            <a:avLst/>
          </a:prstGeom>
          <a:noFill/>
        </p:spPr>
        <p:txBody>
          <a:bodyPr wrap="square" lIns="254" tIns="254" rIns="254" bIns="254" anchor="t">
            <a:normAutofit fontScale="92500" lnSpcReduction="10000"/>
          </a:bodyPr>
          <a:lstStyle/>
          <a:p>
            <a:pPr marL="0" indent="0">
              <a:buNone/>
            </a:pPr>
            <a:r>
              <a:rPr sz="1800" b="1">
                <a:solidFill>
                  <a:srgbClr val="1F4E79"/>
                </a:solidFill>
                <a:latin typeface="Microsoft YaHei"/>
                <a:ea typeface="Microsoft YaHei"/>
                <a:cs typeface="Microsoft YaHei"/>
              </a:rPr>
              <a:t>AMP 将部分计算从 FP32 切换到 FP16/BF16 等低精度执行，在保持训练稳定的前提下降低显存占用、提高计算吞吐。</a:t>
            </a:r>
          </a:p>
          <a:p>
            <a:pPr marL="0" indent="0">
              <a:buNone/>
            </a:pPr>
            <a:endParaRPr sz="1800"/>
          </a:p>
        </p:txBody>
      </p:sp>
      <p:sp>
        <p:nvSpPr>
          <p:cNvPr id="16" name="Text 14">
            <a:extLst>
              <a:ext uri="{FF2B5EF4-FFF2-40B4-BE49-F238E27FC236}">
                <a16:creationId xmlns:a16="http://schemas.microsoft.com/office/drawing/2014/main" id="{64062364-28AA-4A40-BEFA-EB08B26F534E}"/>
              </a:ext>
            </a:extLst>
          </p:cNvPr>
          <p:cNvSpPr>
            <a:spLocks noGrp="1"/>
          </p:cNvSpPr>
          <p:nvPr/>
        </p:nvSpPr>
        <p:spPr>
          <a:xfrm>
            <a:off x="960120" y="4315968"/>
            <a:ext cx="9966960" cy="731520"/>
          </a:xfrm>
          <a:prstGeom prst="rect">
            <a:avLst/>
          </a:prstGeom>
          <a:noFill/>
        </p:spPr>
        <p:txBody>
          <a:bodyPr wrap="square" lIns="254" tIns="254" rIns="254" bIns="254" anchor="t">
            <a:normAutofit/>
          </a:bodyPr>
          <a:lstStyle/>
          <a:p>
            <a:pPr>
              <a:lnSpc>
                <a:spcPct val="110000"/>
              </a:lnSpc>
              <a:buNone/>
            </a:pPr>
            <a:r>
              <a:rPr b="1">
                <a:solidFill>
                  <a:srgbClr val="003F6E"/>
                </a:solidFill>
              </a:rPr>
              <a:t>混合精度训练的核心是让前向计算自动选择合适精度，同时通过梯度缩放降低下溢风险。</a:t>
            </a:r>
          </a:p>
        </p:txBody>
      </p:sp>
      <p:sp>
        <p:nvSpPr>
          <p:cNvPr id="17" name="connector_arrow">
            <a:extLst>
              <a:ext uri="{FF2B5EF4-FFF2-40B4-BE49-F238E27FC236}">
                <a16:creationId xmlns:a16="http://schemas.microsoft.com/office/drawing/2014/main" id="{3BBAB762-5BE8-45DE-8703-C11C6F4FD28E}"/>
              </a:ext>
            </a:extLst>
          </p:cNvPr>
          <p:cNvSpPr>
            <a:spLocks noGrp="1"/>
          </p:cNvSpPr>
          <p:nvPr/>
        </p:nvSpPr>
        <p:spPr>
          <a:xfrm>
            <a:off x="3521964" y="3429000"/>
            <a:ext cx="109728" cy="0"/>
          </a:xfrm>
          <a:prstGeom prst="line">
            <a:avLst/>
          </a:prstGeom>
          <a:ln w="19050">
            <a:solidFill>
              <a:srgbClr val="003F6E"/>
            </a:solidFill>
          </a:ln>
        </p:spPr>
        <p:style>
          <a:lnRef idx="2">
            <a:schemeClr val="accent1"/>
          </a:lnRef>
          <a:fillRef idx="0">
            <a:schemeClr val="accent1"/>
          </a:fillRef>
          <a:effectRef idx="1">
            <a:schemeClr val="accent1"/>
          </a:effectRef>
          <a:fontRef idx="minor">
            <a:schemeClr val="tx1"/>
          </a:fontRef>
        </p:style>
      </p:sp>
      <p:sp>
        <p:nvSpPr>
          <p:cNvPr id="18" name="connector_arrow">
            <a:extLst>
              <a:ext uri="{FF2B5EF4-FFF2-40B4-BE49-F238E27FC236}">
                <a16:creationId xmlns:a16="http://schemas.microsoft.com/office/drawing/2014/main" id="{BD63789E-1452-41F0-B901-40D10D14C0AC}"/>
              </a:ext>
            </a:extLst>
          </p:cNvPr>
          <p:cNvSpPr>
            <a:spLocks noGrp="1"/>
          </p:cNvSpPr>
          <p:nvPr/>
        </p:nvSpPr>
        <p:spPr>
          <a:xfrm>
            <a:off x="6031992" y="3429000"/>
            <a:ext cx="109728" cy="0"/>
          </a:xfrm>
          <a:prstGeom prst="line">
            <a:avLst/>
          </a:prstGeom>
          <a:ln w="19050">
            <a:solidFill>
              <a:srgbClr val="003F6E"/>
            </a:solidFill>
          </a:ln>
        </p:spPr>
        <p:style>
          <a:lnRef idx="2">
            <a:schemeClr val="accent1"/>
          </a:lnRef>
          <a:fillRef idx="0">
            <a:schemeClr val="accent1"/>
          </a:fillRef>
          <a:effectRef idx="1">
            <a:schemeClr val="accent1"/>
          </a:effectRef>
          <a:fontRef idx="minor">
            <a:schemeClr val="tx1"/>
          </a:fontRef>
        </p:style>
      </p:sp>
      <p:sp>
        <p:nvSpPr>
          <p:cNvPr id="19" name="connector_arrow">
            <a:extLst>
              <a:ext uri="{FF2B5EF4-FFF2-40B4-BE49-F238E27FC236}">
                <a16:creationId xmlns:a16="http://schemas.microsoft.com/office/drawing/2014/main" id="{2F56A120-7D62-41D5-A007-028CB11F0C14}"/>
              </a:ext>
            </a:extLst>
          </p:cNvPr>
          <p:cNvSpPr>
            <a:spLocks noGrp="1"/>
          </p:cNvSpPr>
          <p:nvPr/>
        </p:nvSpPr>
        <p:spPr>
          <a:xfrm>
            <a:off x="8542019" y="3429000"/>
            <a:ext cx="109729" cy="0"/>
          </a:xfrm>
          <a:prstGeom prst="line">
            <a:avLst/>
          </a:prstGeom>
          <a:ln w="19050">
            <a:solidFill>
              <a:srgbClr val="003F6E"/>
            </a:solidFill>
          </a:ln>
        </p:spPr>
        <p:style>
          <a:lnRef idx="2">
            <a:schemeClr val="accent1"/>
          </a:lnRef>
          <a:fillRef idx="0">
            <a:schemeClr val="accent1"/>
          </a:fillRef>
          <a:effectRef idx="1">
            <a:schemeClr val="accent1"/>
          </a:effectRef>
          <a:fontRef idx="minor">
            <a:schemeClr val="tx1"/>
          </a:fontRef>
        </p:style>
      </p:sp>
      <p:sp>
        <p:nvSpPr>
          <p:cNvPr id="20" name="Rounded Rectangle 10">
            <a:extLst>
              <a:ext uri="{FF2B5EF4-FFF2-40B4-BE49-F238E27FC236}">
                <a16:creationId xmlns:a16="http://schemas.microsoft.com/office/drawing/2014/main" id="{6E79E149-AAC0-0684-F4C2-701D4757D10F}"/>
              </a:ext>
            </a:extLst>
          </p:cNvPr>
          <p:cNvSpPr>
            <a:spLocks noGrp="1"/>
          </p:cNvSpPr>
          <p:nvPr/>
        </p:nvSpPr>
        <p:spPr>
          <a:xfrm>
            <a:off x="1158240" y="3040380"/>
            <a:ext cx="2345436" cy="777240"/>
          </a:xfrm>
          <a:prstGeom prst="roundRect">
            <a:avLst/>
          </a:prstGeom>
          <a:solidFill>
            <a:srgbClr val="898989"/>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sz="1600" b="1" i="0">
                <a:solidFill>
                  <a:srgbClr val="FFFFFF"/>
                </a:solidFill>
                <a:latin typeface="Microsoft YaHei"/>
                <a:ea typeface="Microsoft YaHei"/>
                <a:cs typeface="Microsoft YaHei"/>
              </a:rPr>
              <a:t>FP32基线
稳定但较慢</a:t>
            </a:r>
          </a:p>
        </p:txBody>
      </p:sp>
      <p:sp>
        <p:nvSpPr>
          <p:cNvPr id="21" name="Rounded Rectangle 11">
            <a:extLst>
              <a:ext uri="{FF2B5EF4-FFF2-40B4-BE49-F238E27FC236}">
                <a16:creationId xmlns:a16="http://schemas.microsoft.com/office/drawing/2014/main" id="{B33C1B7B-1CE3-3B18-9A82-BC90F8396FE2}"/>
              </a:ext>
            </a:extLst>
          </p:cNvPr>
          <p:cNvSpPr>
            <a:spLocks noGrp="1"/>
          </p:cNvSpPr>
          <p:nvPr/>
        </p:nvSpPr>
        <p:spPr>
          <a:xfrm>
            <a:off x="3668268" y="3040380"/>
            <a:ext cx="2345436" cy="777240"/>
          </a:xfrm>
          <a:prstGeom prst="roundRect">
            <a:avLst/>
          </a:prstGeom>
          <a:solidFill>
            <a:srgbClr val="2091A5"/>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sz="1600" b="1">
                <a:solidFill>
                  <a:srgbClr val="FFFFFF"/>
                </a:solidFill>
                <a:latin typeface="Microsoft YaHei"/>
                <a:ea typeface="Microsoft YaHei"/>
                <a:cs typeface="Microsoft YaHei"/>
              </a:rPr>
              <a:t>autocast</a:t>
            </a:r>
            <a:br>
              <a:rPr sz="1600" b="1">
                <a:solidFill>
                  <a:srgbClr val="FFFFFF"/>
                </a:solidFill>
                <a:latin typeface="Microsoft YaHei"/>
                <a:ea typeface="Microsoft YaHei"/>
                <a:cs typeface="Microsoft YaHei"/>
              </a:rPr>
            </a:br>
            <a:r>
              <a:rPr sz="1600" b="1">
                <a:solidFill>
                  <a:srgbClr val="FFFFFF"/>
                </a:solidFill>
                <a:latin typeface="Microsoft YaHei"/>
                <a:ea typeface="Microsoft YaHei"/>
                <a:cs typeface="Microsoft YaHei"/>
              </a:rPr>
              <a:t>自动选择精度</a:t>
            </a:r>
          </a:p>
        </p:txBody>
      </p:sp>
      <p:sp>
        <p:nvSpPr>
          <p:cNvPr id="22" name="Rounded Rectangle 12">
            <a:extLst>
              <a:ext uri="{FF2B5EF4-FFF2-40B4-BE49-F238E27FC236}">
                <a16:creationId xmlns:a16="http://schemas.microsoft.com/office/drawing/2014/main" id="{53CE882B-1481-5131-4889-BA1DC50D9863}"/>
              </a:ext>
            </a:extLst>
          </p:cNvPr>
          <p:cNvSpPr>
            <a:spLocks noGrp="1"/>
          </p:cNvSpPr>
          <p:nvPr/>
        </p:nvSpPr>
        <p:spPr>
          <a:xfrm>
            <a:off x="6178296" y="3040380"/>
            <a:ext cx="2345436" cy="777240"/>
          </a:xfrm>
          <a:prstGeom prst="roundRect">
            <a:avLst/>
          </a:prstGeom>
          <a:solidFill>
            <a:srgbClr val="ED6D00"/>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sz="1600" b="1">
                <a:solidFill>
                  <a:srgbClr val="FFFFFF"/>
                </a:solidFill>
                <a:latin typeface="Microsoft YaHei"/>
                <a:ea typeface="Microsoft YaHei"/>
                <a:cs typeface="Microsoft YaHei"/>
              </a:rPr>
              <a:t>GradScaler</a:t>
            </a:r>
            <a:br>
              <a:rPr sz="900" b="1" i="0">
                <a:solidFill>
                  <a:srgbClr val="FFFFFF"/>
                </a:solidFill>
                <a:latin typeface="Microsoft YaHei"/>
                <a:ea typeface="Microsoft YaHei"/>
                <a:cs typeface="Microsoft YaHei"/>
              </a:rPr>
            </a:br>
            <a:r>
              <a:rPr sz="1600" b="1">
                <a:solidFill>
                  <a:srgbClr val="FFFFFF"/>
                </a:solidFill>
                <a:latin typeface="Microsoft YaHei"/>
                <a:ea typeface="Microsoft YaHei"/>
                <a:cs typeface="Microsoft YaHei"/>
              </a:rPr>
              <a:t>缩放梯度</a:t>
            </a:r>
          </a:p>
        </p:txBody>
      </p:sp>
      <p:sp>
        <p:nvSpPr>
          <p:cNvPr id="23" name="Rounded Rectangle 13">
            <a:extLst>
              <a:ext uri="{FF2B5EF4-FFF2-40B4-BE49-F238E27FC236}">
                <a16:creationId xmlns:a16="http://schemas.microsoft.com/office/drawing/2014/main" id="{7FE2BFC9-41C0-C9F3-A0AA-A13D260559E1}"/>
              </a:ext>
            </a:extLst>
          </p:cNvPr>
          <p:cNvSpPr>
            <a:spLocks noGrp="1"/>
          </p:cNvSpPr>
          <p:nvPr/>
        </p:nvSpPr>
        <p:spPr>
          <a:xfrm>
            <a:off x="8688324" y="3040380"/>
            <a:ext cx="2345436" cy="777240"/>
          </a:xfrm>
          <a:prstGeom prst="roundRect">
            <a:avLst/>
          </a:prstGeom>
          <a:solidFill>
            <a:srgbClr val="17AA55"/>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sz="1600" b="1">
                <a:solidFill>
                  <a:srgbClr val="FFFFFF"/>
                </a:solidFill>
                <a:latin typeface="Microsoft YaHei"/>
                <a:ea typeface="Microsoft YaHei"/>
                <a:cs typeface="Microsoft YaHei"/>
              </a:rPr>
              <a:t>更高吞吐</a:t>
            </a:r>
            <a:br>
              <a:rPr sz="1600" b="1">
                <a:solidFill>
                  <a:srgbClr val="FFFFFF"/>
                </a:solidFill>
                <a:latin typeface="Microsoft YaHei"/>
                <a:ea typeface="Microsoft YaHei"/>
                <a:cs typeface="Microsoft YaHei"/>
              </a:rPr>
            </a:br>
            <a:r>
              <a:rPr sz="1600" b="1">
                <a:solidFill>
                  <a:srgbClr val="FFFFFF"/>
                </a:solidFill>
                <a:latin typeface="Microsoft YaHei"/>
                <a:ea typeface="Microsoft YaHei"/>
                <a:cs typeface="Microsoft YaHei"/>
              </a:rPr>
              <a:t>更低显存</a:t>
            </a:r>
          </a:p>
        </p:txBody>
      </p:sp>
    </p:spTree>
    <p:extLst>
      <p:ext uri="{BB962C8B-B14F-4D97-AF65-F5344CB8AC3E}">
        <p14:creationId xmlns:p14="http://schemas.microsoft.com/office/powerpoint/2010/main" val="277903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B0E32E0-3942-28A3-9408-9DB691827C06}"/>
              </a:ext>
            </a:extLst>
          </p:cNvPr>
          <p:cNvSpPr>
            <a:spLocks noGrp="1"/>
          </p:cNvSpPr>
          <p:nvPr/>
        </p:nvSpPr>
        <p:spPr>
          <a:xfrm>
            <a:off x="0" y="0"/>
            <a:ext cx="12191695" cy="128016"/>
          </a:xfrm>
          <a:prstGeom prst="rect">
            <a:avLst/>
          </a:prstGeom>
          <a:solidFill>
            <a:srgbClr val="308FAE"/>
          </a:solidFill>
          <a:ln w="12700">
            <a:solidFill>
              <a:srgbClr val="308FAE"/>
            </a:solidFill>
            <a:prstDash val="solid"/>
          </a:ln>
        </p:spPr>
      </p:sp>
      <p:sp>
        <p:nvSpPr>
          <p:cNvPr id="3" name="Text 1">
            <a:extLst>
              <a:ext uri="{FF2B5EF4-FFF2-40B4-BE49-F238E27FC236}">
                <a16:creationId xmlns:a16="http://schemas.microsoft.com/office/drawing/2014/main" id="{864F5F3B-BE63-D529-F058-5AF8176C284E}"/>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8</a:t>
            </a:r>
            <a:endParaRPr sz="800"/>
          </a:p>
        </p:txBody>
      </p:sp>
      <p:sp>
        <p:nvSpPr>
          <p:cNvPr id="4" name="Text 2">
            <a:extLst>
              <a:ext uri="{FF2B5EF4-FFF2-40B4-BE49-F238E27FC236}">
                <a16:creationId xmlns:a16="http://schemas.microsoft.com/office/drawing/2014/main" id="{82E0E477-FF45-DA11-8558-AEBA41EF96C5}"/>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sz="3200" b="1" dirty="0">
                <a:latin typeface="Microsoft YaHei"/>
                <a:ea typeface="Microsoft YaHei"/>
              </a:rPr>
              <a:t>AMP</a:t>
            </a:r>
            <a:r>
              <a:rPr lang="en-US" sz="3200" b="1" dirty="0">
                <a:latin typeface="Microsoft YaHei"/>
                <a:ea typeface="Microsoft YaHei"/>
              </a:rPr>
              <a:t> </a:t>
            </a:r>
            <a:r>
              <a:rPr lang="zh-CN" altLang="en-US" sz="3200" b="1" dirty="0">
                <a:latin typeface="Microsoft YaHei"/>
                <a:ea typeface="Microsoft YaHei"/>
              </a:rPr>
              <a:t>训练模板</a:t>
            </a:r>
            <a:endParaRPr sz="3200" b="1" dirty="0">
              <a:latin typeface="Microsoft YaHei"/>
              <a:ea typeface="Microsoft YaHei"/>
            </a:endParaRPr>
          </a:p>
        </p:txBody>
      </p:sp>
      <p:sp>
        <p:nvSpPr>
          <p:cNvPr id="5" name="Shape 3">
            <a:extLst>
              <a:ext uri="{FF2B5EF4-FFF2-40B4-BE49-F238E27FC236}">
                <a16:creationId xmlns:a16="http://schemas.microsoft.com/office/drawing/2014/main" id="{17C83A66-294F-FCB2-88FF-DE9290A09782}"/>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Text 4">
            <a:extLst>
              <a:ext uri="{FF2B5EF4-FFF2-40B4-BE49-F238E27FC236}">
                <a16:creationId xmlns:a16="http://schemas.microsoft.com/office/drawing/2014/main" id="{34A22411-3CE8-019F-75F2-5F682491B474}"/>
              </a:ext>
            </a:extLst>
          </p:cNvPr>
          <p:cNvSpPr>
            <a:spLocks noGrp="1"/>
          </p:cNvSpPr>
          <p:nvPr/>
        </p:nvSpPr>
        <p:spPr>
          <a:xfrm>
            <a:off x="868680" y="1901953"/>
            <a:ext cx="10427672" cy="502920"/>
          </a:xfrm>
          <a:prstGeom prst="rect">
            <a:avLst/>
          </a:prstGeom>
          <a:noFill/>
        </p:spPr>
        <p:txBody>
          <a:bodyPr wrap="square" lIns="254" tIns="254" rIns="254" bIns="254" anchor="t">
            <a:normAutofit/>
          </a:bodyPr>
          <a:lstStyle/>
          <a:p>
            <a:pPr marL="0" indent="0">
              <a:buNone/>
            </a:pPr>
            <a:r>
              <a:rPr lang="zh-CN" altLang="en-US" sz="1800" b="1" dirty="0">
                <a:solidFill>
                  <a:srgbClr val="1F4E79"/>
                </a:solidFill>
                <a:latin typeface="Microsoft YaHei"/>
                <a:ea typeface="Microsoft YaHei"/>
                <a:cs typeface="Microsoft YaHei"/>
              </a:rPr>
              <a:t>在 </a:t>
            </a:r>
            <a:r>
              <a:rPr lang="en-US" sz="1800" b="1" dirty="0">
                <a:solidFill>
                  <a:srgbClr val="1F4E79"/>
                </a:solidFill>
                <a:latin typeface="Microsoft YaHei"/>
                <a:ea typeface="Microsoft YaHei"/>
                <a:cs typeface="Microsoft YaHei"/>
              </a:rPr>
              <a:t>Ascend NPU </a:t>
            </a:r>
            <a:r>
              <a:rPr lang="zh-CN" altLang="en-US" sz="1800" b="1" dirty="0">
                <a:solidFill>
                  <a:srgbClr val="1F4E79"/>
                </a:solidFill>
                <a:latin typeface="Microsoft YaHei"/>
                <a:ea typeface="Microsoft YaHei"/>
                <a:cs typeface="Microsoft YaHei"/>
              </a:rPr>
              <a:t>上，训练脚本优先使用 </a:t>
            </a:r>
            <a:r>
              <a:rPr lang="en-US" sz="1800" b="1" dirty="0" err="1">
                <a:solidFill>
                  <a:srgbClr val="1F4E79"/>
                </a:solidFill>
                <a:latin typeface="Microsoft YaHei"/>
                <a:ea typeface="Microsoft YaHei"/>
                <a:cs typeface="Microsoft YaHei"/>
              </a:rPr>
              <a:t>torch_npu.npu.amp</a:t>
            </a:r>
            <a:r>
              <a:rPr lang="en-US" sz="1800" b="1" dirty="0">
                <a:solidFill>
                  <a:srgbClr val="1F4E79"/>
                </a:solidFill>
                <a:latin typeface="Microsoft YaHei"/>
                <a:ea typeface="Microsoft YaHei"/>
                <a:cs typeface="Microsoft YaHei"/>
              </a:rPr>
              <a:t>。</a:t>
            </a:r>
            <a:endParaRPr sz="1800" dirty="0"/>
          </a:p>
        </p:txBody>
      </p:sp>
      <p:pic>
        <p:nvPicPr>
          <p:cNvPr id="8" name="图片 7">
            <a:extLst>
              <a:ext uri="{FF2B5EF4-FFF2-40B4-BE49-F238E27FC236}">
                <a16:creationId xmlns:a16="http://schemas.microsoft.com/office/drawing/2014/main" id="{05CE1187-5CC1-ED5F-DACC-C4397108579E}"/>
              </a:ext>
            </a:extLst>
          </p:cNvPr>
          <p:cNvPicPr>
            <a:picLocks noChangeAspect="1"/>
          </p:cNvPicPr>
          <p:nvPr/>
        </p:nvPicPr>
        <p:blipFill>
          <a:blip r:embed="rId3"/>
          <a:stretch>
            <a:fillRect/>
          </a:stretch>
        </p:blipFill>
        <p:spPr>
          <a:xfrm>
            <a:off x="868680" y="2487168"/>
            <a:ext cx="8006588" cy="3649836"/>
          </a:xfrm>
          <a:prstGeom prst="rect">
            <a:avLst/>
          </a:prstGeom>
        </p:spPr>
      </p:pic>
    </p:spTree>
    <p:extLst>
      <p:ext uri="{BB962C8B-B14F-4D97-AF65-F5344CB8AC3E}">
        <p14:creationId xmlns:p14="http://schemas.microsoft.com/office/powerpoint/2010/main" val="3894346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6BBC6-5E3D-467D-26F5-753D5E65AB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79F686A-05C7-1116-D7D7-E6CDBA2AD198}"/>
              </a:ext>
            </a:extLst>
          </p:cNvPr>
          <p:cNvSpPr>
            <a:spLocks noGrp="1"/>
          </p:cNvSpPr>
          <p:nvPr/>
        </p:nvSpPr>
        <p:spPr>
          <a:xfrm>
            <a:off x="0" y="0"/>
            <a:ext cx="12191695" cy="128016"/>
          </a:xfrm>
          <a:prstGeom prst="rect">
            <a:avLst/>
          </a:prstGeom>
          <a:solidFill>
            <a:srgbClr val="308FAE"/>
          </a:solidFill>
          <a:ln w="12700">
            <a:solidFill>
              <a:srgbClr val="308FAE"/>
            </a:solidFill>
            <a:prstDash val="solid"/>
          </a:ln>
        </p:spPr>
      </p:sp>
      <p:sp>
        <p:nvSpPr>
          <p:cNvPr id="3" name="Text 1">
            <a:extLst>
              <a:ext uri="{FF2B5EF4-FFF2-40B4-BE49-F238E27FC236}">
                <a16:creationId xmlns:a16="http://schemas.microsoft.com/office/drawing/2014/main" id="{83347AF3-5DD1-3386-8462-6188E09A1494}"/>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8</a:t>
            </a:r>
            <a:endParaRPr sz="800"/>
          </a:p>
        </p:txBody>
      </p:sp>
      <p:sp>
        <p:nvSpPr>
          <p:cNvPr id="4" name="Text 2">
            <a:extLst>
              <a:ext uri="{FF2B5EF4-FFF2-40B4-BE49-F238E27FC236}">
                <a16:creationId xmlns:a16="http://schemas.microsoft.com/office/drawing/2014/main" id="{159800B1-FA69-F895-A0D1-DADB3C146996}"/>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lang="en-US" sz="3200" b="1" dirty="0">
                <a:latin typeface="Microsoft YaHei"/>
                <a:ea typeface="Microsoft YaHei"/>
              </a:rPr>
              <a:t>Warmup + Cosine </a:t>
            </a:r>
            <a:r>
              <a:rPr lang="zh-CN" altLang="en-US" sz="3200" b="1" dirty="0">
                <a:latin typeface="Microsoft YaHei"/>
                <a:ea typeface="Microsoft YaHei"/>
              </a:rPr>
              <a:t>学习率</a:t>
            </a:r>
          </a:p>
        </p:txBody>
      </p:sp>
      <p:sp>
        <p:nvSpPr>
          <p:cNvPr id="5" name="Shape 3">
            <a:extLst>
              <a:ext uri="{FF2B5EF4-FFF2-40B4-BE49-F238E27FC236}">
                <a16:creationId xmlns:a16="http://schemas.microsoft.com/office/drawing/2014/main" id="{03913215-855E-F68D-5FE2-72DE7B4A7026}"/>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Text 4">
            <a:extLst>
              <a:ext uri="{FF2B5EF4-FFF2-40B4-BE49-F238E27FC236}">
                <a16:creationId xmlns:a16="http://schemas.microsoft.com/office/drawing/2014/main" id="{EA47C646-7A99-9AD4-9F46-E2E9219B9881}"/>
              </a:ext>
            </a:extLst>
          </p:cNvPr>
          <p:cNvSpPr>
            <a:spLocks noGrp="1"/>
          </p:cNvSpPr>
          <p:nvPr/>
        </p:nvSpPr>
        <p:spPr>
          <a:xfrm>
            <a:off x="731520" y="1719072"/>
            <a:ext cx="3218180" cy="3805428"/>
          </a:xfrm>
          <a:prstGeom prst="rect">
            <a:avLst/>
          </a:prstGeom>
          <a:noFill/>
        </p:spPr>
        <p:txBody>
          <a:bodyPr wrap="square" lIns="254" tIns="254" rIns="254" bIns="254" anchor="t">
            <a:normAutofit/>
          </a:bodyPr>
          <a:lstStyle/>
          <a:p>
            <a:pPr marL="0" indent="0">
              <a:buNone/>
            </a:pPr>
            <a:r>
              <a:rPr lang="zh-CN" altLang="en-US" sz="1800" dirty="0">
                <a:solidFill>
                  <a:srgbClr val="1F4E79"/>
                </a:solidFill>
                <a:latin typeface="Microsoft YaHei"/>
                <a:ea typeface="Microsoft YaHei"/>
                <a:cs typeface="Microsoft YaHei"/>
              </a:rPr>
              <a:t>本实验采用两段式学习率：</a:t>
            </a:r>
          </a:p>
          <a:p>
            <a:pPr marL="0" indent="0">
              <a:buNone/>
            </a:pPr>
            <a:endParaRPr lang="zh-CN" altLang="en-US" sz="1800" b="1" dirty="0">
              <a:solidFill>
                <a:srgbClr val="1F4E79"/>
              </a:solidFill>
              <a:latin typeface="Microsoft YaHei"/>
              <a:ea typeface="Microsoft YaHei"/>
              <a:cs typeface="Microsoft YaHei"/>
            </a:endParaRPr>
          </a:p>
          <a:p>
            <a:pPr marL="0" indent="0">
              <a:buNone/>
            </a:pPr>
            <a:r>
              <a:rPr lang="en-US" altLang="zh-CN" sz="1800" b="1" dirty="0">
                <a:solidFill>
                  <a:srgbClr val="1F4E79"/>
                </a:solidFill>
                <a:latin typeface="Microsoft YaHei"/>
                <a:ea typeface="Microsoft YaHei"/>
                <a:cs typeface="Microsoft YaHei"/>
              </a:rPr>
              <a:t>1.  Warmup </a:t>
            </a:r>
            <a:r>
              <a:rPr lang="zh-CN" altLang="en-US" sz="1800" b="1" dirty="0">
                <a:solidFill>
                  <a:srgbClr val="1F4E79"/>
                </a:solidFill>
                <a:latin typeface="Microsoft YaHei"/>
                <a:ea typeface="Microsoft YaHei"/>
                <a:cs typeface="Microsoft YaHei"/>
              </a:rPr>
              <a:t>阶段：</a:t>
            </a:r>
            <a:r>
              <a:rPr lang="zh-CN" altLang="en-US" sz="1800" dirty="0">
                <a:solidFill>
                  <a:srgbClr val="1F4E79"/>
                </a:solidFill>
                <a:latin typeface="Microsoft YaHei"/>
                <a:ea typeface="Microsoft YaHei"/>
                <a:cs typeface="Microsoft YaHei"/>
              </a:rPr>
              <a:t>从接近 </a:t>
            </a:r>
            <a:r>
              <a:rPr lang="en-US" altLang="zh-CN" sz="1800" dirty="0">
                <a:solidFill>
                  <a:srgbClr val="1F4E79"/>
                </a:solidFill>
                <a:latin typeface="Microsoft YaHei"/>
                <a:ea typeface="Microsoft YaHei"/>
                <a:cs typeface="Microsoft YaHei"/>
              </a:rPr>
              <a:t>0 </a:t>
            </a:r>
            <a:r>
              <a:rPr lang="zh-CN" altLang="en-US" sz="1800" dirty="0">
                <a:solidFill>
                  <a:srgbClr val="1F4E79"/>
                </a:solidFill>
                <a:latin typeface="Microsoft YaHei"/>
                <a:ea typeface="Microsoft YaHei"/>
                <a:cs typeface="Microsoft YaHei"/>
              </a:rPr>
              <a:t>的学习率线性升到基础学习率。</a:t>
            </a:r>
          </a:p>
          <a:p>
            <a:pPr marL="0" indent="0">
              <a:buNone/>
            </a:pPr>
            <a:endParaRPr lang="en-US" altLang="zh-CN" sz="1800" b="1" dirty="0">
              <a:solidFill>
                <a:srgbClr val="1F4E79"/>
              </a:solidFill>
              <a:latin typeface="Microsoft YaHei"/>
              <a:ea typeface="Microsoft YaHei"/>
              <a:cs typeface="Microsoft YaHei"/>
            </a:endParaRPr>
          </a:p>
          <a:p>
            <a:pPr marL="0" indent="0">
              <a:buNone/>
            </a:pPr>
            <a:r>
              <a:rPr lang="en-US" altLang="zh-CN" sz="1800" b="1" dirty="0">
                <a:solidFill>
                  <a:srgbClr val="1F4E79"/>
                </a:solidFill>
                <a:latin typeface="Microsoft YaHei"/>
                <a:ea typeface="Microsoft YaHei"/>
                <a:cs typeface="Microsoft YaHei"/>
              </a:rPr>
              <a:t>2.  Cosine </a:t>
            </a:r>
            <a:r>
              <a:rPr lang="zh-CN" altLang="en-US" sz="1800" b="1" dirty="0">
                <a:solidFill>
                  <a:srgbClr val="1F4E79"/>
                </a:solidFill>
                <a:latin typeface="Microsoft YaHei"/>
                <a:ea typeface="Microsoft YaHei"/>
                <a:cs typeface="Microsoft YaHei"/>
              </a:rPr>
              <a:t>阶段：</a:t>
            </a:r>
            <a:r>
              <a:rPr lang="zh-CN" altLang="en-US" sz="1800" dirty="0">
                <a:solidFill>
                  <a:srgbClr val="1F4E79"/>
                </a:solidFill>
                <a:latin typeface="Microsoft YaHei"/>
                <a:ea typeface="Microsoft YaHei"/>
                <a:cs typeface="Microsoft YaHei"/>
              </a:rPr>
              <a:t>从基础学习率平滑下降到最小学习率。</a:t>
            </a:r>
            <a:endParaRPr lang="en-US" sz="1800" dirty="0"/>
          </a:p>
        </p:txBody>
      </p:sp>
      <p:pic>
        <p:nvPicPr>
          <p:cNvPr id="9" name="图片 8">
            <a:extLst>
              <a:ext uri="{FF2B5EF4-FFF2-40B4-BE49-F238E27FC236}">
                <a16:creationId xmlns:a16="http://schemas.microsoft.com/office/drawing/2014/main" id="{90407D56-A8B5-8A63-E52B-88AEA654E1B0}"/>
              </a:ext>
            </a:extLst>
          </p:cNvPr>
          <p:cNvPicPr>
            <a:picLocks noChangeAspect="1"/>
          </p:cNvPicPr>
          <p:nvPr/>
        </p:nvPicPr>
        <p:blipFill>
          <a:blip r:embed="rId3"/>
          <a:stretch>
            <a:fillRect/>
          </a:stretch>
        </p:blipFill>
        <p:spPr>
          <a:xfrm>
            <a:off x="4508307" y="1306946"/>
            <a:ext cx="6763881" cy="4871604"/>
          </a:xfrm>
          <a:prstGeom prst="rect">
            <a:avLst/>
          </a:prstGeom>
        </p:spPr>
      </p:pic>
    </p:spTree>
    <p:extLst>
      <p:ext uri="{BB962C8B-B14F-4D97-AF65-F5344CB8AC3E}">
        <p14:creationId xmlns:p14="http://schemas.microsoft.com/office/powerpoint/2010/main" val="200935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F780C-0B23-A860-BA91-54733D370BE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BAAFB92-A20A-AB41-6E9E-2125EBB9C0FA}"/>
              </a:ext>
            </a:extLst>
          </p:cNvPr>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sym typeface="+mn-ea"/>
              </a:rPr>
              <a:t>学习目标</a:t>
            </a:r>
          </a:p>
          <a:p>
            <a:r>
              <a:rPr lang="en-US" dirty="0" err="1">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YOLO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单卡训练流程</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AMP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与训练参数调优</a:t>
            </a:r>
          </a:p>
          <a:p>
            <a:r>
              <a:rPr lang="en-US" altLang="zh-CN" b="1" dirty="0">
                <a:latin typeface="微软雅黑" panose="020B0503020204020204" pitchFamily="34" charset="-122"/>
                <a:ea typeface="微软雅黑" panose="020B0503020204020204" pitchFamily="34" charset="-122"/>
                <a:sym typeface="+mn-ea"/>
              </a:rPr>
              <a:t>Profiling </a:t>
            </a:r>
            <a:r>
              <a:rPr lang="zh-CN" altLang="en-US" b="1" dirty="0">
                <a:latin typeface="微软雅黑" panose="020B0503020204020204" pitchFamily="34" charset="-122"/>
                <a:ea typeface="微软雅黑" panose="020B0503020204020204" pitchFamily="34" charset="-122"/>
                <a:sym typeface="+mn-ea"/>
              </a:rPr>
              <a:t>与实验验收</a:t>
            </a:r>
          </a:p>
          <a:p>
            <a:r>
              <a:rPr lang="zh-CN" altLang="en-US" dirty="0">
                <a:solidFill>
                  <a:schemeClr val="bg1">
                    <a:lumMod val="75000"/>
                  </a:schemeClr>
                </a:solidFill>
                <a:sym typeface="+mn-ea"/>
              </a:rPr>
              <a:t>实验总结与多卡扩展</a:t>
            </a:r>
          </a:p>
          <a:p>
            <a:r>
              <a:rPr lang="zh-CN" altLang="en-US" dirty="0">
                <a:solidFill>
                  <a:schemeClr val="bg1">
                    <a:lumMod val="75000"/>
                  </a:schemeClr>
                </a:solidFill>
              </a:rPr>
              <a:t>课后习题</a:t>
            </a:r>
            <a:endParaRPr lang="en-US" dirty="0">
              <a:solidFill>
                <a:schemeClr val="bg1">
                  <a:lumMod val="75000"/>
                </a:schemeClr>
              </a:solidFill>
            </a:endParaRPr>
          </a:p>
          <a:p>
            <a:endParaRPr lang="zh-CN" altLang="en-US" dirty="0"/>
          </a:p>
        </p:txBody>
      </p:sp>
    </p:spTree>
    <p:extLst>
      <p:ext uri="{BB962C8B-B14F-4D97-AF65-F5344CB8AC3E}">
        <p14:creationId xmlns:p14="http://schemas.microsoft.com/office/powerpoint/2010/main" val="3256003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1B57F1F-EC92-B0CC-D0B0-6CE5E56CE2A0}"/>
              </a:ext>
            </a:extLst>
          </p:cNvPr>
          <p:cNvSpPr>
            <a:spLocks noGrp="1"/>
          </p:cNvSpPr>
          <p:nvPr/>
        </p:nvSpPr>
        <p:spPr>
          <a:xfrm>
            <a:off x="0" y="0"/>
            <a:ext cx="12191695" cy="128016"/>
          </a:xfrm>
          <a:prstGeom prst="rect">
            <a:avLst/>
          </a:prstGeom>
          <a:solidFill>
            <a:srgbClr val="308FAE"/>
          </a:solidFill>
          <a:ln w="12700">
            <a:solidFill>
              <a:srgbClr val="308FAE"/>
            </a:solidFill>
            <a:prstDash val="solid"/>
          </a:ln>
        </p:spPr>
      </p:sp>
      <p:sp>
        <p:nvSpPr>
          <p:cNvPr id="3" name="Text 1">
            <a:extLst>
              <a:ext uri="{FF2B5EF4-FFF2-40B4-BE49-F238E27FC236}">
                <a16:creationId xmlns:a16="http://schemas.microsoft.com/office/drawing/2014/main" id="{DAB5A935-090A-D37C-1AE5-BA57E441A911}"/>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8</a:t>
            </a:r>
            <a:endParaRPr sz="800"/>
          </a:p>
        </p:txBody>
      </p:sp>
      <p:sp>
        <p:nvSpPr>
          <p:cNvPr id="4" name="Text 2">
            <a:extLst>
              <a:ext uri="{FF2B5EF4-FFF2-40B4-BE49-F238E27FC236}">
                <a16:creationId xmlns:a16="http://schemas.microsoft.com/office/drawing/2014/main" id="{326D151E-BFA9-2FB6-DC03-8F0A5445A606}"/>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sz="3200" b="1" dirty="0" err="1">
                <a:latin typeface="Microsoft YaHei"/>
                <a:ea typeface="Microsoft YaHei"/>
              </a:rPr>
              <a:t>Profiling：把“感觉慢”变成可定位问题</a:t>
            </a:r>
            <a:endParaRPr sz="3200" b="1" dirty="0">
              <a:latin typeface="Microsoft YaHei"/>
              <a:ea typeface="Microsoft YaHei"/>
            </a:endParaRPr>
          </a:p>
        </p:txBody>
      </p:sp>
      <p:sp>
        <p:nvSpPr>
          <p:cNvPr id="5" name="Shape 3">
            <a:extLst>
              <a:ext uri="{FF2B5EF4-FFF2-40B4-BE49-F238E27FC236}">
                <a16:creationId xmlns:a16="http://schemas.microsoft.com/office/drawing/2014/main" id="{F5A30F39-6274-B526-7403-996E4EE18DD8}"/>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Text 4">
            <a:extLst>
              <a:ext uri="{FF2B5EF4-FFF2-40B4-BE49-F238E27FC236}">
                <a16:creationId xmlns:a16="http://schemas.microsoft.com/office/drawing/2014/main" id="{FDD6AB66-70E7-0956-90AB-FCC656CF14B6}"/>
              </a:ext>
            </a:extLst>
          </p:cNvPr>
          <p:cNvSpPr>
            <a:spLocks noGrp="1"/>
          </p:cNvSpPr>
          <p:nvPr/>
        </p:nvSpPr>
        <p:spPr>
          <a:xfrm>
            <a:off x="932688" y="1623060"/>
            <a:ext cx="10427672" cy="502920"/>
          </a:xfrm>
          <a:prstGeom prst="rect">
            <a:avLst/>
          </a:prstGeom>
          <a:noFill/>
        </p:spPr>
        <p:txBody>
          <a:bodyPr wrap="square" lIns="254" tIns="254" rIns="254" bIns="254" anchor="t">
            <a:normAutofit fontScale="99074" lnSpcReduction="10000"/>
          </a:bodyPr>
          <a:lstStyle/>
          <a:p>
            <a:pPr marL="0" indent="0">
              <a:buNone/>
            </a:pPr>
            <a:r>
              <a:rPr sz="1800" b="1">
                <a:solidFill>
                  <a:srgbClr val="1F4E79"/>
                </a:solidFill>
                <a:latin typeface="Microsoft YaHei"/>
                <a:ea typeface="Microsoft YaHei"/>
                <a:cs typeface="Microsoft YaHei"/>
              </a:rPr>
              <a:t>Profiling 的目标是定位单卡训练时间花在哪里：数据加载、前向计算、反向传播、算子耗时、Host 侧调度还是日志与保存开销。</a:t>
            </a:r>
          </a:p>
        </p:txBody>
      </p:sp>
      <p:sp>
        <p:nvSpPr>
          <p:cNvPr id="16" name="Text 14">
            <a:extLst>
              <a:ext uri="{FF2B5EF4-FFF2-40B4-BE49-F238E27FC236}">
                <a16:creationId xmlns:a16="http://schemas.microsoft.com/office/drawing/2014/main" id="{39656E8D-8572-7CBD-CE6A-0AFCE3C3FC5D}"/>
              </a:ext>
            </a:extLst>
          </p:cNvPr>
          <p:cNvSpPr>
            <a:spLocks noGrp="1"/>
          </p:cNvSpPr>
          <p:nvPr/>
        </p:nvSpPr>
        <p:spPr>
          <a:xfrm>
            <a:off x="960120" y="4315968"/>
            <a:ext cx="9966960" cy="731520"/>
          </a:xfrm>
          <a:prstGeom prst="rect">
            <a:avLst/>
          </a:prstGeom>
          <a:noFill/>
        </p:spPr>
        <p:txBody>
          <a:bodyPr wrap="square" lIns="254" tIns="254" rIns="254" bIns="254" anchor="t">
            <a:normAutofit/>
          </a:bodyPr>
          <a:lstStyle/>
          <a:p>
            <a:pPr>
              <a:lnSpc>
                <a:spcPct val="110000"/>
              </a:lnSpc>
              <a:buNone/>
            </a:pPr>
            <a:r>
              <a:rPr b="1">
                <a:solidFill>
                  <a:srgbClr val="003F6E"/>
                </a:solidFill>
              </a:rPr>
              <a:t>Profiling 不负责加速本身，它用于解释为什么慢，并为 batch size、workers、AMP 等参数调优提供依据。</a:t>
            </a:r>
          </a:p>
        </p:txBody>
      </p:sp>
      <p:sp>
        <p:nvSpPr>
          <p:cNvPr id="17" name="connector_arrow">
            <a:extLst>
              <a:ext uri="{FF2B5EF4-FFF2-40B4-BE49-F238E27FC236}">
                <a16:creationId xmlns:a16="http://schemas.microsoft.com/office/drawing/2014/main" id="{7423D30F-E64D-4EB1-868C-D1E38CDCE581}"/>
              </a:ext>
            </a:extLst>
          </p:cNvPr>
          <p:cNvSpPr>
            <a:spLocks noGrp="1"/>
          </p:cNvSpPr>
          <p:nvPr/>
        </p:nvSpPr>
        <p:spPr>
          <a:xfrm>
            <a:off x="3019958" y="3429000"/>
            <a:ext cx="109728" cy="0"/>
          </a:xfrm>
          <a:prstGeom prst="line">
            <a:avLst/>
          </a:prstGeom>
          <a:ln w="19050">
            <a:solidFill>
              <a:srgbClr val="003F6E"/>
            </a:solidFill>
          </a:ln>
        </p:spPr>
        <p:style>
          <a:lnRef idx="2">
            <a:schemeClr val="accent1"/>
          </a:lnRef>
          <a:fillRef idx="0">
            <a:schemeClr val="accent1"/>
          </a:fillRef>
          <a:effectRef idx="1">
            <a:schemeClr val="accent1"/>
          </a:effectRef>
          <a:fontRef idx="minor">
            <a:schemeClr val="tx1"/>
          </a:fontRef>
        </p:style>
      </p:sp>
      <p:sp>
        <p:nvSpPr>
          <p:cNvPr id="18" name="connector_arrow">
            <a:extLst>
              <a:ext uri="{FF2B5EF4-FFF2-40B4-BE49-F238E27FC236}">
                <a16:creationId xmlns:a16="http://schemas.microsoft.com/office/drawing/2014/main" id="{7393208D-3006-42F2-BF3D-F16D8FF78AA8}"/>
              </a:ext>
            </a:extLst>
          </p:cNvPr>
          <p:cNvSpPr>
            <a:spLocks noGrp="1"/>
          </p:cNvSpPr>
          <p:nvPr/>
        </p:nvSpPr>
        <p:spPr>
          <a:xfrm>
            <a:off x="5027980" y="3429000"/>
            <a:ext cx="109728" cy="0"/>
          </a:xfrm>
          <a:prstGeom prst="line">
            <a:avLst/>
          </a:prstGeom>
          <a:ln w="19050">
            <a:solidFill>
              <a:srgbClr val="003F6E"/>
            </a:solidFill>
          </a:ln>
        </p:spPr>
        <p:style>
          <a:lnRef idx="2">
            <a:schemeClr val="accent1"/>
          </a:lnRef>
          <a:fillRef idx="0">
            <a:schemeClr val="accent1"/>
          </a:fillRef>
          <a:effectRef idx="1">
            <a:schemeClr val="accent1"/>
          </a:effectRef>
          <a:fontRef idx="minor">
            <a:schemeClr val="tx1"/>
          </a:fontRef>
        </p:style>
      </p:sp>
      <p:sp>
        <p:nvSpPr>
          <p:cNvPr id="19" name="connector_arrow">
            <a:extLst>
              <a:ext uri="{FF2B5EF4-FFF2-40B4-BE49-F238E27FC236}">
                <a16:creationId xmlns:a16="http://schemas.microsoft.com/office/drawing/2014/main" id="{772D4F40-5570-432B-A213-903A0AE88762}"/>
              </a:ext>
            </a:extLst>
          </p:cNvPr>
          <p:cNvSpPr>
            <a:spLocks noGrp="1"/>
          </p:cNvSpPr>
          <p:nvPr/>
        </p:nvSpPr>
        <p:spPr>
          <a:xfrm>
            <a:off x="7036003" y="3429000"/>
            <a:ext cx="109728" cy="0"/>
          </a:xfrm>
          <a:prstGeom prst="line">
            <a:avLst/>
          </a:prstGeom>
          <a:ln w="19050">
            <a:solidFill>
              <a:srgbClr val="003F6E"/>
            </a:solidFill>
          </a:ln>
        </p:spPr>
        <p:style>
          <a:lnRef idx="2">
            <a:schemeClr val="accent1"/>
          </a:lnRef>
          <a:fillRef idx="0">
            <a:schemeClr val="accent1"/>
          </a:fillRef>
          <a:effectRef idx="1">
            <a:schemeClr val="accent1"/>
          </a:effectRef>
          <a:fontRef idx="minor">
            <a:schemeClr val="tx1"/>
          </a:fontRef>
        </p:style>
      </p:sp>
      <p:sp>
        <p:nvSpPr>
          <p:cNvPr id="20" name="connector_arrow">
            <a:extLst>
              <a:ext uri="{FF2B5EF4-FFF2-40B4-BE49-F238E27FC236}">
                <a16:creationId xmlns:a16="http://schemas.microsoft.com/office/drawing/2014/main" id="{821318A4-0340-4361-9110-F03BD931599C}"/>
              </a:ext>
            </a:extLst>
          </p:cNvPr>
          <p:cNvSpPr>
            <a:spLocks noGrp="1"/>
          </p:cNvSpPr>
          <p:nvPr/>
        </p:nvSpPr>
        <p:spPr>
          <a:xfrm>
            <a:off x="9044025" y="3429000"/>
            <a:ext cx="109728" cy="0"/>
          </a:xfrm>
          <a:prstGeom prst="line">
            <a:avLst/>
          </a:prstGeom>
          <a:ln w="19050">
            <a:solidFill>
              <a:srgbClr val="003F6E"/>
            </a:solidFill>
          </a:ln>
        </p:spPr>
        <p:style>
          <a:lnRef idx="2">
            <a:schemeClr val="accent1"/>
          </a:lnRef>
          <a:fillRef idx="0">
            <a:schemeClr val="accent1"/>
          </a:fillRef>
          <a:effectRef idx="1">
            <a:schemeClr val="accent1"/>
          </a:effectRef>
          <a:fontRef idx="minor">
            <a:schemeClr val="tx1"/>
          </a:fontRef>
        </p:style>
      </p:sp>
      <p:sp>
        <p:nvSpPr>
          <p:cNvPr id="21" name="Rounded Rectangle 11">
            <a:extLst>
              <a:ext uri="{FF2B5EF4-FFF2-40B4-BE49-F238E27FC236}">
                <a16:creationId xmlns:a16="http://schemas.microsoft.com/office/drawing/2014/main" id="{D448FDBC-D7F0-F1ED-23FA-D9396519E6A7}"/>
              </a:ext>
            </a:extLst>
          </p:cNvPr>
          <p:cNvSpPr>
            <a:spLocks noGrp="1"/>
          </p:cNvSpPr>
          <p:nvPr/>
        </p:nvSpPr>
        <p:spPr>
          <a:xfrm>
            <a:off x="1158240" y="3054096"/>
            <a:ext cx="1843430" cy="749808"/>
          </a:xfrm>
          <a:prstGeom prst="roundRect">
            <a:avLst/>
          </a:prstGeom>
          <a:solidFill>
            <a:srgbClr val="0F5082"/>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b="1" i="0">
                <a:solidFill>
                  <a:srgbClr val="FFFFFF"/>
                </a:solidFill>
                <a:latin typeface="Microsoft YaHei"/>
                <a:ea typeface="Microsoft YaHei"/>
                <a:cs typeface="Microsoft YaHei"/>
              </a:rPr>
              <a:t>选择区间</a:t>
            </a:r>
          </a:p>
        </p:txBody>
      </p:sp>
      <p:sp>
        <p:nvSpPr>
          <p:cNvPr id="22" name="Rounded Rectangle 12">
            <a:extLst>
              <a:ext uri="{FF2B5EF4-FFF2-40B4-BE49-F238E27FC236}">
                <a16:creationId xmlns:a16="http://schemas.microsoft.com/office/drawing/2014/main" id="{EB682357-AC21-D09A-5A91-0F930D991A8D}"/>
              </a:ext>
            </a:extLst>
          </p:cNvPr>
          <p:cNvSpPr>
            <a:spLocks noGrp="1"/>
          </p:cNvSpPr>
          <p:nvPr/>
        </p:nvSpPr>
        <p:spPr>
          <a:xfrm>
            <a:off x="3166262" y="3054096"/>
            <a:ext cx="1843430" cy="749808"/>
          </a:xfrm>
          <a:prstGeom prst="roundRect">
            <a:avLst/>
          </a:prstGeom>
          <a:solidFill>
            <a:srgbClr val="2091A5"/>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b="1">
                <a:solidFill>
                  <a:srgbClr val="FFFFFF"/>
                </a:solidFill>
                <a:latin typeface="Microsoft YaHei"/>
                <a:ea typeface="Microsoft YaHei"/>
                <a:cs typeface="Microsoft YaHei"/>
              </a:rPr>
              <a:t>启动MSPROF</a:t>
            </a:r>
          </a:p>
        </p:txBody>
      </p:sp>
      <p:sp>
        <p:nvSpPr>
          <p:cNvPr id="23" name="Rounded Rectangle 13">
            <a:extLst>
              <a:ext uri="{FF2B5EF4-FFF2-40B4-BE49-F238E27FC236}">
                <a16:creationId xmlns:a16="http://schemas.microsoft.com/office/drawing/2014/main" id="{43A2D405-9E9E-8165-4760-BCAC18479D7A}"/>
              </a:ext>
            </a:extLst>
          </p:cNvPr>
          <p:cNvSpPr>
            <a:spLocks noGrp="1"/>
          </p:cNvSpPr>
          <p:nvPr/>
        </p:nvSpPr>
        <p:spPr>
          <a:xfrm>
            <a:off x="5174284" y="3054096"/>
            <a:ext cx="1843430" cy="749808"/>
          </a:xfrm>
          <a:prstGeom prst="roundRect">
            <a:avLst/>
          </a:prstGeom>
          <a:solidFill>
            <a:srgbClr val="ED6D00"/>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b="1">
                <a:solidFill>
                  <a:srgbClr val="FFFFFF"/>
                </a:solidFill>
                <a:latin typeface="Microsoft YaHei"/>
                <a:ea typeface="Microsoft YaHei"/>
                <a:cs typeface="Microsoft YaHei"/>
              </a:rPr>
              <a:t>采集单卡 step</a:t>
            </a:r>
          </a:p>
        </p:txBody>
      </p:sp>
      <p:sp>
        <p:nvSpPr>
          <p:cNvPr id="24" name="Rounded Rectangle 14">
            <a:extLst>
              <a:ext uri="{FF2B5EF4-FFF2-40B4-BE49-F238E27FC236}">
                <a16:creationId xmlns:a16="http://schemas.microsoft.com/office/drawing/2014/main" id="{97064379-D4DF-DE01-4C9B-FFAEC13BE6D0}"/>
              </a:ext>
            </a:extLst>
          </p:cNvPr>
          <p:cNvSpPr>
            <a:spLocks noGrp="1"/>
          </p:cNvSpPr>
          <p:nvPr/>
        </p:nvSpPr>
        <p:spPr>
          <a:xfrm>
            <a:off x="7182307" y="3054096"/>
            <a:ext cx="1843430" cy="749808"/>
          </a:xfrm>
          <a:prstGeom prst="roundRect">
            <a:avLst/>
          </a:prstGeom>
          <a:solidFill>
            <a:srgbClr val="17AA55"/>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b="1">
                <a:solidFill>
                  <a:srgbClr val="FFFFFF"/>
                </a:solidFill>
                <a:latin typeface="Microsoft YaHei"/>
                <a:ea typeface="Microsoft YaHei"/>
                <a:cs typeface="Microsoft YaHei"/>
              </a:rPr>
              <a:t>导出结果</a:t>
            </a:r>
          </a:p>
        </p:txBody>
      </p:sp>
      <p:sp>
        <p:nvSpPr>
          <p:cNvPr id="25" name="Rounded Rectangle 15">
            <a:extLst>
              <a:ext uri="{FF2B5EF4-FFF2-40B4-BE49-F238E27FC236}">
                <a16:creationId xmlns:a16="http://schemas.microsoft.com/office/drawing/2014/main" id="{C9EE692E-A391-5D88-C955-D51C9925756C}"/>
              </a:ext>
            </a:extLst>
          </p:cNvPr>
          <p:cNvSpPr>
            <a:spLocks noGrp="1"/>
          </p:cNvSpPr>
          <p:nvPr/>
        </p:nvSpPr>
        <p:spPr>
          <a:xfrm>
            <a:off x="9190329" y="3054096"/>
            <a:ext cx="1843430" cy="749808"/>
          </a:xfrm>
          <a:prstGeom prst="roundRect">
            <a:avLst/>
          </a:prstGeom>
          <a:solidFill>
            <a:srgbClr val="7C40A5"/>
          </a:solidFill>
          <a:ln>
            <a:noFill/>
          </a:ln>
        </p:spPr>
        <p:style>
          <a:lnRef idx="1">
            <a:schemeClr val="accent1"/>
          </a:lnRef>
          <a:fillRef idx="3">
            <a:schemeClr val="accent1"/>
          </a:fillRef>
          <a:effectRef idx="2">
            <a:schemeClr val="accent1"/>
          </a:effectRef>
          <a:fontRef idx="minor">
            <a:schemeClr val="lt1"/>
          </a:fontRef>
        </p:style>
        <p:txBody>
          <a:bodyPr wrap="square" lIns="54864" rIns="54864" anchor="ctr"/>
          <a:lstStyle>
            <a:lvl1pPr marL="0" algn="l" defTabSz="457200">
              <a:buNone/>
              <a:defRPr sz="1800" kern="1200">
                <a:solidFill>
                  <a:schemeClr val="lt1"/>
                </a:solidFill>
                <a:latin typeface="+mn-lt"/>
                <a:ea typeface="+mn-lt"/>
                <a:cs typeface="+mn-lt"/>
              </a:defRPr>
            </a:lvl1pPr>
            <a:lvl2pPr marL="457200" algn="l" defTabSz="457200">
              <a:buNone/>
              <a:defRPr sz="1800" kern="1200">
                <a:solidFill>
                  <a:schemeClr val="lt1"/>
                </a:solidFill>
                <a:latin typeface="+mn-lt"/>
                <a:ea typeface="+mn-lt"/>
                <a:cs typeface="+mn-lt"/>
              </a:defRPr>
            </a:lvl2pPr>
            <a:lvl3pPr marL="914400" algn="l" defTabSz="457200">
              <a:buNone/>
              <a:defRPr sz="1800" kern="1200">
                <a:solidFill>
                  <a:schemeClr val="lt1"/>
                </a:solidFill>
                <a:latin typeface="+mn-lt"/>
                <a:ea typeface="+mn-lt"/>
                <a:cs typeface="+mn-lt"/>
              </a:defRPr>
            </a:lvl3pPr>
            <a:lvl4pPr marL="1371600" algn="l" defTabSz="457200">
              <a:buNone/>
              <a:defRPr sz="1800" kern="1200">
                <a:solidFill>
                  <a:schemeClr val="lt1"/>
                </a:solidFill>
                <a:latin typeface="+mn-lt"/>
                <a:ea typeface="+mn-lt"/>
                <a:cs typeface="+mn-lt"/>
              </a:defRPr>
            </a:lvl4pPr>
            <a:lvl5pPr marL="1828800" algn="l" defTabSz="457200">
              <a:buNone/>
              <a:defRPr sz="1800" kern="1200">
                <a:solidFill>
                  <a:schemeClr val="lt1"/>
                </a:solidFill>
                <a:latin typeface="+mn-lt"/>
                <a:ea typeface="+mn-lt"/>
                <a:cs typeface="+mn-lt"/>
              </a:defRPr>
            </a:lvl5pPr>
            <a:lvl6pPr marL="2286000" algn="l" defTabSz="457200">
              <a:buNone/>
              <a:defRPr sz="1800" kern="1200">
                <a:solidFill>
                  <a:schemeClr val="lt1"/>
                </a:solidFill>
                <a:latin typeface="+mn-lt"/>
                <a:ea typeface="+mn-lt"/>
                <a:cs typeface="+mn-lt"/>
              </a:defRPr>
            </a:lvl6pPr>
            <a:lvl7pPr marL="2743200" algn="l" defTabSz="457200">
              <a:buNone/>
              <a:defRPr sz="1800" kern="1200">
                <a:solidFill>
                  <a:schemeClr val="lt1"/>
                </a:solidFill>
                <a:latin typeface="+mn-lt"/>
                <a:ea typeface="+mn-lt"/>
                <a:cs typeface="+mn-lt"/>
              </a:defRPr>
            </a:lvl7pPr>
            <a:lvl8pPr marL="3200400" algn="l" defTabSz="457200">
              <a:buNone/>
              <a:defRPr sz="1800" kern="1200">
                <a:solidFill>
                  <a:schemeClr val="lt1"/>
                </a:solidFill>
                <a:latin typeface="+mn-lt"/>
                <a:ea typeface="+mn-lt"/>
                <a:cs typeface="+mn-lt"/>
              </a:defRPr>
            </a:lvl8pPr>
            <a:lvl9pPr marL="3657600" algn="l" defTabSz="457200">
              <a:buNone/>
              <a:defRPr sz="1800" kern="1200">
                <a:solidFill>
                  <a:schemeClr val="lt1"/>
                </a:solidFill>
                <a:latin typeface="+mn-lt"/>
                <a:ea typeface="+mn-lt"/>
                <a:cs typeface="+mn-lt"/>
              </a:defRPr>
            </a:lvl9pPr>
          </a:lstStyle>
          <a:p>
            <a:pPr algn="ctr">
              <a:buNone/>
            </a:pPr>
            <a:r>
              <a:rPr b="1">
                <a:solidFill>
                  <a:srgbClr val="FFFFFF"/>
                </a:solidFill>
                <a:latin typeface="Microsoft YaHei"/>
                <a:ea typeface="Microsoft YaHei"/>
                <a:cs typeface="Microsoft YaHei"/>
              </a:rPr>
              <a:t>定位瓶颈</a:t>
            </a:r>
          </a:p>
        </p:txBody>
      </p:sp>
    </p:spTree>
    <p:extLst>
      <p:ext uri="{BB962C8B-B14F-4D97-AF65-F5344CB8AC3E}">
        <p14:creationId xmlns:p14="http://schemas.microsoft.com/office/powerpoint/2010/main" val="501826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7E0DA-38C9-6281-976A-C1EA200358C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52F9AB5-F1C4-6B0E-E74F-9F998E159B31}"/>
              </a:ext>
            </a:extLst>
          </p:cNvPr>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sym typeface="+mn-ea"/>
              </a:rPr>
              <a:t>学习目标</a:t>
            </a:r>
          </a:p>
          <a:p>
            <a:r>
              <a:rPr lang="en-US" dirty="0" err="1">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YOLO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单卡训练流程</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AMP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与训练参数调优</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Profiling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与实验验收</a:t>
            </a:r>
          </a:p>
          <a:p>
            <a:r>
              <a:rPr lang="zh-CN" altLang="en-US" b="1" dirty="0">
                <a:latin typeface="微软雅黑" panose="020B0503020204020204" pitchFamily="34" charset="-122"/>
                <a:ea typeface="微软雅黑" panose="020B0503020204020204" pitchFamily="34" charset="-122"/>
                <a:sym typeface="+mn-ea"/>
              </a:rPr>
              <a:t>实验总结与多卡扩展</a:t>
            </a:r>
          </a:p>
          <a:p>
            <a:r>
              <a:rPr lang="zh-CN" altLang="en-US" dirty="0">
                <a:solidFill>
                  <a:schemeClr val="bg1">
                    <a:lumMod val="75000"/>
                  </a:schemeClr>
                </a:solidFill>
              </a:rPr>
              <a:t>课后习题</a:t>
            </a:r>
            <a:endParaRPr lang="en-US" dirty="0">
              <a:solidFill>
                <a:schemeClr val="bg1">
                  <a:lumMod val="75000"/>
                </a:schemeClr>
              </a:solidFill>
            </a:endParaRPr>
          </a:p>
          <a:p>
            <a:endParaRPr lang="zh-CN" altLang="en-US" dirty="0"/>
          </a:p>
        </p:txBody>
      </p:sp>
    </p:spTree>
    <p:extLst>
      <p:ext uri="{BB962C8B-B14F-4D97-AF65-F5344CB8AC3E}">
        <p14:creationId xmlns:p14="http://schemas.microsoft.com/office/powerpoint/2010/main" val="3023618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422EA29-0516-4B31-A5FF-031D9E4B1BCA}"/>
              </a:ext>
            </a:extLst>
          </p:cNvPr>
          <p:cNvSpPr>
            <a:spLocks noGrp="1"/>
          </p:cNvSpPr>
          <p:nvPr/>
        </p:nvSpPr>
        <p:spPr>
          <a:xfrm>
            <a:off x="0" y="0"/>
            <a:ext cx="12191695" cy="128016"/>
          </a:xfrm>
          <a:prstGeom prst="rect">
            <a:avLst/>
          </a:prstGeom>
          <a:solidFill>
            <a:srgbClr val="1F4E79"/>
          </a:solidFill>
          <a:ln w="12700">
            <a:solidFill>
              <a:srgbClr val="1F4E79"/>
            </a:solidFill>
            <a:prstDash val="solid"/>
          </a:ln>
        </p:spPr>
      </p:sp>
      <p:sp>
        <p:nvSpPr>
          <p:cNvPr id="3" name="Text 1">
            <a:extLst>
              <a:ext uri="{FF2B5EF4-FFF2-40B4-BE49-F238E27FC236}">
                <a16:creationId xmlns:a16="http://schemas.microsoft.com/office/drawing/2014/main" id="{8B708B2C-3740-4B96-8D40-C08331DE4BDC}"/>
              </a:ext>
            </a:extLst>
          </p:cNvPr>
          <p:cNvSpPr>
            <a:spLocks noGrp="1"/>
          </p:cNvSpPr>
          <p:nvPr/>
        </p:nvSpPr>
        <p:spPr>
          <a:xfrm>
            <a:off x="713232" y="6547104"/>
            <a:ext cx="365760" cy="182880"/>
          </a:xfrm>
          <a:prstGeom prst="rect">
            <a:avLst/>
          </a:prstGeom>
          <a:noFill/>
        </p:spPr>
        <p:txBody>
          <a:bodyPr wrap="square" lIns="0" tIns="0" rIns="0" bIns="0" anchor="ctr"/>
          <a:lstStyle/>
          <a:p>
            <a:pPr marL="0" indent="0">
              <a:buNone/>
            </a:pPr>
            <a:r>
              <a:rPr sz="800">
                <a:solidFill>
                  <a:srgbClr val="222222"/>
                </a:solidFill>
                <a:latin typeface="Microsoft YaHei"/>
                <a:ea typeface="Microsoft YaHei"/>
                <a:cs typeface="Microsoft YaHei"/>
              </a:rPr>
              <a:t>9</a:t>
            </a:r>
            <a:endParaRPr sz="800"/>
          </a:p>
        </p:txBody>
      </p:sp>
      <p:sp>
        <p:nvSpPr>
          <p:cNvPr id="4" name="Text 2">
            <a:extLst>
              <a:ext uri="{FF2B5EF4-FFF2-40B4-BE49-F238E27FC236}">
                <a16:creationId xmlns:a16="http://schemas.microsoft.com/office/drawing/2014/main" id="{6CE3B57A-AA3A-4E4D-AE47-A979225A2FAE}"/>
              </a:ext>
            </a:extLst>
          </p:cNvPr>
          <p:cNvSpPr>
            <a:spLocks noGrp="1"/>
          </p:cNvSpPr>
          <p:nvPr/>
        </p:nvSpPr>
        <p:spPr>
          <a:xfrm>
            <a:off x="786384" y="530352"/>
            <a:ext cx="10789920" cy="566928"/>
          </a:xfrm>
          <a:prstGeom prst="rect">
            <a:avLst/>
          </a:prstGeom>
          <a:noFill/>
        </p:spPr>
        <p:txBody>
          <a:bodyPr wrap="square" lIns="0" tIns="0" rIns="0" bIns="0" anchor="ctr">
            <a:normAutofit/>
          </a:bodyPr>
          <a:lstStyle/>
          <a:p>
            <a:r>
              <a:rPr sz="3200" b="1" dirty="0" err="1">
                <a:latin typeface="Microsoft YaHei"/>
                <a:ea typeface="Microsoft YaHei"/>
              </a:rPr>
              <a:t>实验</a:t>
            </a:r>
            <a:r>
              <a:rPr lang="zh-CN" altLang="en-US" sz="3200" b="1" dirty="0">
                <a:latin typeface="Microsoft YaHei"/>
                <a:ea typeface="Microsoft YaHei"/>
              </a:rPr>
              <a:t>总结</a:t>
            </a:r>
            <a:r>
              <a:rPr sz="3200" b="1" dirty="0" err="1">
                <a:latin typeface="Microsoft YaHei"/>
                <a:ea typeface="Microsoft YaHei"/>
              </a:rPr>
              <a:t>与多卡扩展</a:t>
            </a:r>
            <a:endParaRPr sz="3200" b="1" dirty="0">
              <a:latin typeface="Microsoft YaHei"/>
              <a:ea typeface="Microsoft YaHei"/>
            </a:endParaRPr>
          </a:p>
        </p:txBody>
      </p:sp>
      <p:sp>
        <p:nvSpPr>
          <p:cNvPr id="5" name="Shape 3">
            <a:extLst>
              <a:ext uri="{FF2B5EF4-FFF2-40B4-BE49-F238E27FC236}">
                <a16:creationId xmlns:a16="http://schemas.microsoft.com/office/drawing/2014/main" id="{1FECDD9F-2D0A-432E-B028-6A4DD446FD8B}"/>
              </a:ext>
            </a:extLst>
          </p:cNvPr>
          <p:cNvSpPr>
            <a:spLocks noGrp="1"/>
          </p:cNvSpPr>
          <p:nvPr/>
        </p:nvSpPr>
        <p:spPr>
          <a:xfrm>
            <a:off x="731520" y="1280160"/>
            <a:ext cx="2697480" cy="54864"/>
          </a:xfrm>
          <a:prstGeom prst="rect">
            <a:avLst/>
          </a:prstGeom>
          <a:solidFill>
            <a:srgbClr val="F58220"/>
          </a:solidFill>
          <a:ln w="12700">
            <a:solidFill>
              <a:srgbClr val="F58220"/>
            </a:solidFill>
            <a:prstDash val="solid"/>
          </a:ln>
        </p:spPr>
      </p:sp>
      <p:sp>
        <p:nvSpPr>
          <p:cNvPr id="6" name="Text 4">
            <a:extLst>
              <a:ext uri="{FF2B5EF4-FFF2-40B4-BE49-F238E27FC236}">
                <a16:creationId xmlns:a16="http://schemas.microsoft.com/office/drawing/2014/main" id="{1A0EACC4-5ECB-4CBD-B723-619B97C637FE}"/>
              </a:ext>
            </a:extLst>
          </p:cNvPr>
          <p:cNvSpPr>
            <a:spLocks noGrp="1"/>
          </p:cNvSpPr>
          <p:nvPr/>
        </p:nvSpPr>
        <p:spPr>
          <a:xfrm>
            <a:off x="914400" y="1636776"/>
            <a:ext cx="9966960" cy="640080"/>
          </a:xfrm>
          <a:prstGeom prst="rect">
            <a:avLst/>
          </a:prstGeom>
          <a:noFill/>
        </p:spPr>
        <p:txBody>
          <a:bodyPr wrap="square" lIns="254" tIns="254" rIns="254" bIns="254" anchor="t">
            <a:normAutofit fontScale="96844"/>
          </a:bodyPr>
          <a:lstStyle/>
          <a:p>
            <a:pPr marL="0" indent="0">
              <a:buNone/>
            </a:pPr>
            <a:r>
              <a:rPr sz="1800">
                <a:solidFill>
                  <a:srgbClr val="2D3E50"/>
                </a:solidFill>
                <a:latin typeface="Microsoft YaHei"/>
                <a:ea typeface="Microsoft YaHei"/>
                <a:cs typeface="Microsoft YaHei"/>
              </a:rPr>
              <a:t>本实验完成了 YOLO 单卡 Ascend NPU 训练与性能调优的完整链路，并通过训练日志、权重文件和 Profiling 结果验证训练正确性与瓶颈定位。多卡 DDP 作为扩展内容，在单卡流程稳定后再进行迁移。</a:t>
            </a:r>
            <a:endParaRPr sz="1800"/>
          </a:p>
        </p:txBody>
      </p:sp>
      <p:sp>
        <p:nvSpPr>
          <p:cNvPr id="7" name="Text 5">
            <a:extLst>
              <a:ext uri="{FF2B5EF4-FFF2-40B4-BE49-F238E27FC236}">
                <a16:creationId xmlns:a16="http://schemas.microsoft.com/office/drawing/2014/main" id="{A0038972-3F82-498D-99C1-DC031A2BD1C4}"/>
              </a:ext>
            </a:extLst>
          </p:cNvPr>
          <p:cNvSpPr>
            <a:spLocks noGrp="1"/>
          </p:cNvSpPr>
          <p:nvPr/>
        </p:nvSpPr>
        <p:spPr>
          <a:xfrm>
            <a:off x="914400" y="2487168"/>
            <a:ext cx="10058400" cy="2194560"/>
          </a:xfrm>
          <a:prstGeom prst="rect">
            <a:avLst/>
          </a:prstGeom>
          <a:noFill/>
        </p:spPr>
        <p:txBody>
          <a:bodyPr wrap="square" lIns="254" tIns="254" rIns="254" bIns="254" anchor="ctr">
            <a:normAutofit/>
          </a:bodyPr>
          <a:lstStyle/>
          <a:p>
            <a:pPr marL="0" indent="0">
              <a:lnSpc>
                <a:spcPct val="125000"/>
              </a:lnSpc>
              <a:buNone/>
            </a:pPr>
            <a:r>
              <a:rPr lang="zh-CN" altLang="en-US" sz="1650" dirty="0">
                <a:solidFill>
                  <a:srgbClr val="2D3E50"/>
                </a:solidFill>
                <a:latin typeface="Microsoft YaHei"/>
                <a:ea typeface="Microsoft YaHei"/>
                <a:cs typeface="Microsoft YaHei"/>
              </a:rPr>
              <a:t>通过本实验，我们</a:t>
            </a:r>
            <a:endParaRPr lang="en-US" altLang="zh-CN" sz="1650" dirty="0">
              <a:solidFill>
                <a:srgbClr val="2D3E50"/>
              </a:solidFill>
              <a:latin typeface="Microsoft YaHei"/>
              <a:ea typeface="Microsoft YaHei"/>
              <a:cs typeface="Microsoft YaHei"/>
            </a:endParaRPr>
          </a:p>
          <a:p>
            <a:pPr>
              <a:lnSpc>
                <a:spcPct val="125000"/>
              </a:lnSpc>
            </a:pPr>
            <a:r>
              <a:rPr lang="zh-CN" altLang="en-US" sz="1650" dirty="0">
                <a:solidFill>
                  <a:srgbClr val="2D3E50"/>
                </a:solidFill>
                <a:latin typeface="Microsoft YaHei"/>
                <a:ea typeface="Microsoft YaHei"/>
                <a:cs typeface="Microsoft YaHei"/>
              </a:rPr>
              <a:t>✓ 完成 </a:t>
            </a:r>
            <a:r>
              <a:rPr lang="en-US" sz="1650" dirty="0">
                <a:solidFill>
                  <a:srgbClr val="2D3E50"/>
                </a:solidFill>
                <a:latin typeface="Microsoft YaHei"/>
                <a:ea typeface="Microsoft YaHei"/>
                <a:cs typeface="Microsoft YaHei"/>
              </a:rPr>
              <a:t>VOC </a:t>
            </a:r>
            <a:r>
              <a:rPr lang="zh-CN" altLang="en-US" sz="1650" dirty="0">
                <a:solidFill>
                  <a:srgbClr val="2D3E50"/>
                </a:solidFill>
                <a:latin typeface="Microsoft YaHei"/>
                <a:ea typeface="Microsoft YaHei"/>
                <a:cs typeface="Microsoft YaHei"/>
              </a:rPr>
              <a:t>数据准备：</a:t>
            </a:r>
            <a:r>
              <a:rPr lang="en-US" sz="1650" dirty="0">
                <a:solidFill>
                  <a:srgbClr val="2D3E50"/>
                </a:solidFill>
                <a:latin typeface="Microsoft YaHei"/>
                <a:ea typeface="Microsoft YaHei"/>
                <a:cs typeface="Microsoft YaHei"/>
              </a:rPr>
              <a:t>XML </a:t>
            </a:r>
            <a:r>
              <a:rPr lang="zh-CN" altLang="en-US" sz="1650" dirty="0">
                <a:solidFill>
                  <a:srgbClr val="2D3E50"/>
                </a:solidFill>
                <a:latin typeface="Microsoft YaHei"/>
                <a:ea typeface="Microsoft YaHei"/>
                <a:cs typeface="Microsoft YaHei"/>
              </a:rPr>
              <a:t>标注转换为 </a:t>
            </a:r>
            <a:r>
              <a:rPr lang="en-US" sz="1650" dirty="0">
                <a:solidFill>
                  <a:srgbClr val="2D3E50"/>
                </a:solidFill>
                <a:latin typeface="Microsoft YaHei"/>
                <a:ea typeface="Microsoft YaHei"/>
                <a:cs typeface="Microsoft YaHei"/>
              </a:rPr>
              <a:t>YOLO txt，</a:t>
            </a:r>
            <a:r>
              <a:rPr lang="zh-CN" altLang="en-US" sz="1650" dirty="0">
                <a:solidFill>
                  <a:srgbClr val="2D3E50"/>
                </a:solidFill>
                <a:latin typeface="Microsoft YaHei"/>
                <a:ea typeface="Microsoft YaHei"/>
                <a:cs typeface="Microsoft YaHei"/>
              </a:rPr>
              <a:t>并修改训练</a:t>
            </a:r>
            <a:r>
              <a:rPr lang="zh-CN" altLang="en-US" sz="1650" dirty="0">
                <a:solidFill>
                  <a:srgbClr val="2D3E50"/>
                </a:solidFill>
                <a:ea typeface="Microsoft YaHei"/>
                <a:cs typeface="Microsoft YaHei"/>
              </a:rPr>
              <a:t>配置；</a:t>
            </a:r>
            <a:endParaRPr lang="en-US" altLang="zh-CN" sz="1650" dirty="0">
              <a:solidFill>
                <a:srgbClr val="2D3E50"/>
              </a:solidFill>
              <a:ea typeface="Microsoft YaHei"/>
              <a:cs typeface="Microsoft YaHei"/>
            </a:endParaRPr>
          </a:p>
          <a:p>
            <a:pPr>
              <a:lnSpc>
                <a:spcPct val="125000"/>
              </a:lnSpc>
            </a:pPr>
            <a:r>
              <a:rPr lang="zh-CN" altLang="en-US" sz="1650" dirty="0">
                <a:solidFill>
                  <a:srgbClr val="2D3E50"/>
                </a:solidFill>
                <a:ea typeface="Microsoft YaHei"/>
                <a:cs typeface="Microsoft YaHei"/>
              </a:rPr>
              <a:t>✓ 完成单卡 </a:t>
            </a:r>
            <a:r>
              <a:rPr lang="en-US" altLang="zh-CN" sz="1650" dirty="0">
                <a:solidFill>
                  <a:srgbClr val="2D3E50"/>
                </a:solidFill>
                <a:ea typeface="Microsoft YaHei"/>
                <a:cs typeface="Microsoft YaHei"/>
              </a:rPr>
              <a:t>NPU </a:t>
            </a:r>
            <a:r>
              <a:rPr lang="zh-CN" altLang="en-US" sz="1650" dirty="0">
                <a:solidFill>
                  <a:srgbClr val="2D3E50"/>
                </a:solidFill>
                <a:ea typeface="Microsoft YaHei"/>
                <a:cs typeface="Microsoft YaHei"/>
              </a:rPr>
              <a:t>训练环境检查：</a:t>
            </a:r>
            <a:r>
              <a:rPr lang="en-US" altLang="zh-CN" sz="1650" dirty="0" err="1">
                <a:solidFill>
                  <a:srgbClr val="2D3E50"/>
                </a:solidFill>
                <a:ea typeface="Microsoft YaHei"/>
                <a:cs typeface="Microsoft YaHei"/>
              </a:rPr>
              <a:t>PyTorch</a:t>
            </a:r>
            <a:r>
              <a:rPr lang="en-US" altLang="zh-CN" sz="1650" dirty="0">
                <a:solidFill>
                  <a:srgbClr val="2D3E50"/>
                </a:solidFill>
                <a:ea typeface="Microsoft YaHei"/>
                <a:cs typeface="Microsoft YaHei"/>
              </a:rPr>
              <a:t> + </a:t>
            </a:r>
            <a:r>
              <a:rPr lang="en-US" altLang="zh-CN" sz="1650" dirty="0" err="1">
                <a:solidFill>
                  <a:srgbClr val="2D3E50"/>
                </a:solidFill>
                <a:ea typeface="Microsoft YaHei"/>
                <a:cs typeface="Microsoft YaHei"/>
              </a:rPr>
              <a:t>torch_npu</a:t>
            </a:r>
            <a:r>
              <a:rPr lang="en-US" altLang="zh-CN" sz="1650" dirty="0">
                <a:solidFill>
                  <a:srgbClr val="2D3E50"/>
                </a:solidFill>
                <a:ea typeface="Microsoft YaHei"/>
                <a:cs typeface="Microsoft YaHei"/>
              </a:rPr>
              <a:t> + NPU </a:t>
            </a:r>
            <a:r>
              <a:rPr lang="zh-CN" altLang="en-US" sz="1650" dirty="0">
                <a:solidFill>
                  <a:srgbClr val="2D3E50"/>
                </a:solidFill>
                <a:ea typeface="Microsoft YaHei"/>
                <a:cs typeface="Microsoft YaHei"/>
              </a:rPr>
              <a:t>设备识别；</a:t>
            </a:r>
            <a:endParaRPr lang="en-US" altLang="zh-CN" sz="1650" dirty="0">
              <a:solidFill>
                <a:srgbClr val="2D3E50"/>
              </a:solidFill>
              <a:latin typeface="Microsoft YaHei"/>
              <a:ea typeface="Microsoft YaHei"/>
              <a:cs typeface="Microsoft YaHei"/>
            </a:endParaRPr>
          </a:p>
          <a:p>
            <a:pPr marL="0" indent="0">
              <a:lnSpc>
                <a:spcPct val="125000"/>
              </a:lnSpc>
              <a:buNone/>
            </a:pPr>
            <a:r>
              <a:rPr lang="zh-CN" altLang="en-US" sz="1650" dirty="0">
                <a:solidFill>
                  <a:srgbClr val="2D3E50"/>
                </a:solidFill>
                <a:latin typeface="Microsoft YaHei"/>
                <a:ea typeface="Microsoft YaHei"/>
                <a:cs typeface="Microsoft YaHei"/>
              </a:rPr>
              <a:t>✓ 跑通 </a:t>
            </a:r>
            <a:r>
              <a:rPr lang="en-US" sz="1650" dirty="0">
                <a:solidFill>
                  <a:srgbClr val="2D3E50"/>
                </a:solidFill>
                <a:latin typeface="Microsoft YaHei"/>
                <a:ea typeface="Microsoft YaHei"/>
                <a:cs typeface="Microsoft YaHei"/>
              </a:rPr>
              <a:t>YOLO </a:t>
            </a:r>
            <a:r>
              <a:rPr lang="zh-CN" altLang="en-US" sz="1650" dirty="0">
                <a:solidFill>
                  <a:srgbClr val="2D3E50"/>
                </a:solidFill>
                <a:latin typeface="Microsoft YaHei"/>
                <a:ea typeface="Microsoft YaHei"/>
                <a:cs typeface="Microsoft YaHei"/>
              </a:rPr>
              <a:t>单卡训练流程：启动训练、观察 </a:t>
            </a:r>
            <a:r>
              <a:rPr lang="en-US" sz="1650" dirty="0">
                <a:solidFill>
                  <a:srgbClr val="2D3E50"/>
                </a:solidFill>
                <a:latin typeface="Microsoft YaHei"/>
                <a:ea typeface="Microsoft YaHei"/>
                <a:cs typeface="Microsoft YaHei"/>
              </a:rPr>
              <a:t>loss / </a:t>
            </a:r>
            <a:r>
              <a:rPr lang="en-US" sz="1650" dirty="0" err="1">
                <a:solidFill>
                  <a:srgbClr val="2D3E50"/>
                </a:solidFill>
                <a:latin typeface="Microsoft YaHei"/>
                <a:ea typeface="Microsoft YaHei"/>
                <a:cs typeface="Microsoft YaHei"/>
              </a:rPr>
              <a:t>lr</a:t>
            </a:r>
            <a:r>
              <a:rPr lang="en-US" sz="1650" dirty="0">
                <a:solidFill>
                  <a:srgbClr val="2D3E50"/>
                </a:solidFill>
                <a:latin typeface="Microsoft YaHei"/>
                <a:ea typeface="Microsoft YaHei"/>
                <a:cs typeface="Microsoft YaHei"/>
              </a:rPr>
              <a:t> / throughput、</a:t>
            </a:r>
            <a:r>
              <a:rPr lang="zh-CN" altLang="en-US" sz="1650" dirty="0">
                <a:solidFill>
                  <a:srgbClr val="2D3E50"/>
                </a:solidFill>
                <a:latin typeface="Microsoft YaHei"/>
                <a:ea typeface="Microsoft YaHei"/>
                <a:cs typeface="Microsoft YaHei"/>
              </a:rPr>
              <a:t>保存 </a:t>
            </a:r>
            <a:r>
              <a:rPr lang="en-US" sz="1650" dirty="0">
                <a:solidFill>
                  <a:srgbClr val="2D3E50"/>
                </a:solidFill>
                <a:latin typeface="Microsoft YaHei"/>
                <a:ea typeface="Microsoft YaHei"/>
                <a:cs typeface="Microsoft YaHei"/>
              </a:rPr>
              <a:t>checkpoint</a:t>
            </a:r>
            <a:r>
              <a:rPr lang="zh-CN" altLang="en-US" sz="1650" dirty="0">
                <a:solidFill>
                  <a:srgbClr val="2D3E50"/>
                </a:solidFill>
                <a:latin typeface="Microsoft YaHei"/>
                <a:ea typeface="Microsoft YaHei"/>
                <a:cs typeface="Microsoft YaHei"/>
              </a:rPr>
              <a:t>；</a:t>
            </a:r>
            <a:endParaRPr lang="en-US" sz="1650" dirty="0">
              <a:solidFill>
                <a:srgbClr val="2D3E50"/>
              </a:solidFill>
              <a:latin typeface="Microsoft YaHei"/>
              <a:ea typeface="Microsoft YaHei"/>
              <a:cs typeface="Microsoft YaHei"/>
            </a:endParaRPr>
          </a:p>
          <a:p>
            <a:pPr marL="0" indent="0">
              <a:lnSpc>
                <a:spcPct val="125000"/>
              </a:lnSpc>
              <a:buNone/>
            </a:pPr>
            <a:r>
              <a:rPr lang="en-US" sz="1650" dirty="0">
                <a:solidFill>
                  <a:srgbClr val="2D3E50"/>
                </a:solidFill>
                <a:latin typeface="Microsoft YaHei"/>
                <a:ea typeface="Microsoft YaHei"/>
                <a:cs typeface="Microsoft YaHei"/>
              </a:rPr>
              <a:t>✓ </a:t>
            </a:r>
            <a:r>
              <a:rPr lang="zh-CN" altLang="en-US" sz="1650" dirty="0">
                <a:solidFill>
                  <a:srgbClr val="2D3E50"/>
                </a:solidFill>
                <a:latin typeface="Microsoft YaHei"/>
                <a:ea typeface="Microsoft YaHei"/>
                <a:cs typeface="Microsoft YaHei"/>
              </a:rPr>
              <a:t>完成训练参数调优：</a:t>
            </a:r>
            <a:r>
              <a:rPr lang="en-US" sz="1650" dirty="0">
                <a:solidFill>
                  <a:srgbClr val="2D3E50"/>
                </a:solidFill>
                <a:latin typeface="Microsoft YaHei"/>
                <a:ea typeface="Microsoft YaHei"/>
                <a:cs typeface="Microsoft YaHei"/>
              </a:rPr>
              <a:t>AMP </a:t>
            </a:r>
            <a:r>
              <a:rPr lang="zh-CN" altLang="en-US" sz="1650" dirty="0">
                <a:solidFill>
                  <a:srgbClr val="2D3E50"/>
                </a:solidFill>
                <a:latin typeface="Microsoft YaHei"/>
                <a:ea typeface="Microsoft YaHei"/>
                <a:cs typeface="Microsoft YaHei"/>
              </a:rPr>
              <a:t>混合精度、</a:t>
            </a:r>
            <a:r>
              <a:rPr lang="en-US" sz="1650" dirty="0" err="1">
                <a:solidFill>
                  <a:srgbClr val="2D3E50"/>
                </a:solidFill>
                <a:latin typeface="Microsoft YaHei"/>
                <a:ea typeface="Microsoft YaHei"/>
                <a:cs typeface="Microsoft YaHei"/>
              </a:rPr>
              <a:t>Warmup、batch</a:t>
            </a:r>
            <a:r>
              <a:rPr lang="en-US" sz="1650" dirty="0">
                <a:solidFill>
                  <a:srgbClr val="2D3E50"/>
                </a:solidFill>
                <a:latin typeface="Microsoft YaHei"/>
                <a:ea typeface="Microsoft YaHei"/>
                <a:cs typeface="Microsoft YaHei"/>
              </a:rPr>
              <a:t> </a:t>
            </a:r>
            <a:r>
              <a:rPr lang="en-US" sz="1650" dirty="0" err="1">
                <a:solidFill>
                  <a:srgbClr val="2D3E50"/>
                </a:solidFill>
                <a:latin typeface="Microsoft YaHei"/>
                <a:ea typeface="Microsoft YaHei"/>
                <a:cs typeface="Microsoft YaHei"/>
              </a:rPr>
              <a:t>size、DataLoader</a:t>
            </a:r>
            <a:r>
              <a:rPr lang="en-US" sz="1650" dirty="0">
                <a:solidFill>
                  <a:srgbClr val="2D3E50"/>
                </a:solidFill>
                <a:latin typeface="Microsoft YaHei"/>
                <a:ea typeface="Microsoft YaHei"/>
                <a:cs typeface="Microsoft YaHei"/>
              </a:rPr>
              <a:t> workers</a:t>
            </a:r>
            <a:r>
              <a:rPr lang="zh-CN" altLang="en-US" sz="1650" dirty="0">
                <a:solidFill>
                  <a:srgbClr val="2D3E50"/>
                </a:solidFill>
                <a:latin typeface="Microsoft YaHei"/>
                <a:ea typeface="Microsoft YaHei"/>
                <a:cs typeface="Microsoft YaHei"/>
              </a:rPr>
              <a:t>；</a:t>
            </a:r>
            <a:endParaRPr lang="en-US" sz="1650" dirty="0">
              <a:solidFill>
                <a:srgbClr val="2D3E50"/>
              </a:solidFill>
              <a:latin typeface="Microsoft YaHei"/>
              <a:ea typeface="Microsoft YaHei"/>
              <a:cs typeface="Microsoft YaHei"/>
            </a:endParaRPr>
          </a:p>
          <a:p>
            <a:pPr marL="0" indent="0">
              <a:lnSpc>
                <a:spcPct val="125000"/>
              </a:lnSpc>
              <a:buNone/>
            </a:pPr>
            <a:r>
              <a:rPr lang="en-US" sz="1650" dirty="0">
                <a:solidFill>
                  <a:srgbClr val="2D3E50"/>
                </a:solidFill>
                <a:latin typeface="Microsoft YaHei"/>
                <a:ea typeface="Microsoft YaHei"/>
                <a:cs typeface="Microsoft YaHei"/>
              </a:rPr>
              <a:t>✓ </a:t>
            </a:r>
            <a:r>
              <a:rPr lang="zh-CN" altLang="en-US" sz="1650" dirty="0">
                <a:solidFill>
                  <a:srgbClr val="2D3E50"/>
                </a:solidFill>
                <a:latin typeface="Microsoft YaHei"/>
                <a:ea typeface="Microsoft YaHei"/>
                <a:cs typeface="Microsoft YaHei"/>
              </a:rPr>
              <a:t>完成性能分析：使用 </a:t>
            </a:r>
            <a:r>
              <a:rPr lang="en-US" sz="1650" dirty="0">
                <a:solidFill>
                  <a:srgbClr val="2D3E50"/>
                </a:solidFill>
                <a:latin typeface="Microsoft YaHei"/>
                <a:ea typeface="Microsoft YaHei"/>
                <a:cs typeface="Microsoft YaHei"/>
              </a:rPr>
              <a:t>MSPROF </a:t>
            </a:r>
            <a:r>
              <a:rPr lang="zh-CN" altLang="en-US" sz="1650" dirty="0">
                <a:solidFill>
                  <a:srgbClr val="2D3E50"/>
                </a:solidFill>
                <a:latin typeface="Microsoft YaHei"/>
                <a:ea typeface="Microsoft YaHei"/>
                <a:cs typeface="Microsoft YaHei"/>
              </a:rPr>
              <a:t>定位数据加载、计算过程和 </a:t>
            </a:r>
            <a:r>
              <a:rPr lang="en-US" sz="1650" dirty="0">
                <a:solidFill>
                  <a:srgbClr val="2D3E50"/>
                </a:solidFill>
                <a:latin typeface="Microsoft YaHei"/>
                <a:ea typeface="Microsoft YaHei"/>
                <a:cs typeface="Microsoft YaHei"/>
              </a:rPr>
              <a:t>Host </a:t>
            </a:r>
            <a:r>
              <a:rPr lang="zh-CN" altLang="en-US" sz="1650" dirty="0">
                <a:solidFill>
                  <a:srgbClr val="2D3E50"/>
                </a:solidFill>
                <a:latin typeface="Microsoft YaHei"/>
                <a:ea typeface="Microsoft YaHei"/>
                <a:cs typeface="Microsoft YaHei"/>
              </a:rPr>
              <a:t>侧开销；</a:t>
            </a:r>
            <a:endParaRPr lang="en-US" altLang="zh-CN" sz="1650" dirty="0">
              <a:solidFill>
                <a:srgbClr val="2D3E50"/>
              </a:solidFill>
              <a:latin typeface="Microsoft YaHei"/>
              <a:ea typeface="Microsoft YaHei"/>
              <a:cs typeface="Microsoft YaHei"/>
            </a:endParaRPr>
          </a:p>
          <a:p>
            <a:pPr marL="0" indent="0">
              <a:lnSpc>
                <a:spcPct val="125000"/>
              </a:lnSpc>
              <a:buNone/>
            </a:pPr>
            <a:r>
              <a:rPr lang="zh-CN" altLang="en-US" sz="1650" dirty="0">
                <a:solidFill>
                  <a:srgbClr val="2D3E50"/>
                </a:solidFill>
                <a:latin typeface="Microsoft YaHei"/>
                <a:ea typeface="Microsoft YaHei"/>
                <a:cs typeface="Microsoft YaHei"/>
              </a:rPr>
              <a:t>✓ 明确扩展方向：多卡 </a:t>
            </a:r>
            <a:r>
              <a:rPr lang="en-US" sz="1650" dirty="0">
                <a:solidFill>
                  <a:srgbClr val="2D3E50"/>
                </a:solidFill>
                <a:latin typeface="Microsoft YaHei"/>
                <a:ea typeface="Microsoft YaHei"/>
                <a:cs typeface="Microsoft YaHei"/>
              </a:rPr>
              <a:t>DDP </a:t>
            </a:r>
            <a:r>
              <a:rPr lang="zh-CN" altLang="en-US" sz="1650" dirty="0">
                <a:solidFill>
                  <a:srgbClr val="2D3E50"/>
                </a:solidFill>
                <a:latin typeface="Microsoft YaHei"/>
                <a:ea typeface="Microsoft YaHei"/>
                <a:cs typeface="Microsoft YaHei"/>
              </a:rPr>
              <a:t>作为进阶内容，需关注 </a:t>
            </a:r>
            <a:r>
              <a:rPr lang="en-US" sz="1650" dirty="0" err="1">
                <a:solidFill>
                  <a:srgbClr val="2D3E50"/>
                </a:solidFill>
                <a:latin typeface="Microsoft YaHei"/>
                <a:ea typeface="Microsoft YaHei"/>
                <a:cs typeface="Microsoft YaHei"/>
              </a:rPr>
              <a:t>rank、world_size</a:t>
            </a:r>
            <a:r>
              <a:rPr lang="en-US" sz="1650" dirty="0">
                <a:solidFill>
                  <a:srgbClr val="2D3E50"/>
                </a:solidFill>
                <a:latin typeface="Microsoft YaHei"/>
                <a:ea typeface="Microsoft YaHei"/>
                <a:cs typeface="Microsoft YaHei"/>
              </a:rPr>
              <a:t> </a:t>
            </a:r>
            <a:r>
              <a:rPr lang="zh-CN" altLang="en-US" sz="1650" dirty="0">
                <a:solidFill>
                  <a:srgbClr val="2D3E50"/>
                </a:solidFill>
                <a:latin typeface="Microsoft YaHei"/>
                <a:ea typeface="Microsoft YaHei"/>
                <a:cs typeface="Microsoft YaHei"/>
              </a:rPr>
              <a:t>和 </a:t>
            </a:r>
            <a:r>
              <a:rPr lang="en-US" sz="1650" dirty="0">
                <a:solidFill>
                  <a:srgbClr val="2D3E50"/>
                </a:solidFill>
                <a:latin typeface="Microsoft YaHei"/>
                <a:ea typeface="Microsoft YaHei"/>
                <a:cs typeface="Microsoft YaHei"/>
              </a:rPr>
              <a:t>HCCL </a:t>
            </a:r>
            <a:r>
              <a:rPr lang="zh-CN" altLang="en-US" sz="1650" dirty="0">
                <a:solidFill>
                  <a:srgbClr val="2D3E50"/>
                </a:solidFill>
                <a:latin typeface="Microsoft YaHei"/>
                <a:ea typeface="Microsoft YaHei"/>
                <a:cs typeface="Microsoft YaHei"/>
              </a:rPr>
              <a:t>通信。</a:t>
            </a:r>
            <a:endParaRPr sz="1650" dirty="0"/>
          </a:p>
        </p:txBody>
      </p:sp>
      <p:sp>
        <p:nvSpPr>
          <p:cNvPr id="8" name="Shape 6">
            <a:extLst>
              <a:ext uri="{FF2B5EF4-FFF2-40B4-BE49-F238E27FC236}">
                <a16:creationId xmlns:a16="http://schemas.microsoft.com/office/drawing/2014/main" id="{A62A19AB-7E92-4D1F-B3AE-E584AE745631}"/>
              </a:ext>
            </a:extLst>
          </p:cNvPr>
          <p:cNvSpPr>
            <a:spLocks noGrp="1"/>
          </p:cNvSpPr>
          <p:nvPr/>
        </p:nvSpPr>
        <p:spPr>
          <a:xfrm>
            <a:off x="914400" y="5166360"/>
            <a:ext cx="2697480" cy="749808"/>
          </a:xfrm>
          <a:prstGeom prst="roundRect">
            <a:avLst>
              <a:gd name="adj" fmla="val 9756"/>
            </a:avLst>
          </a:prstGeom>
          <a:solidFill>
            <a:srgbClr val="308FAE"/>
          </a:solidFill>
          <a:ln w="12700">
            <a:solidFill>
              <a:srgbClr val="308FAE"/>
            </a:solidFill>
            <a:prstDash val="solid"/>
          </a:ln>
        </p:spPr>
      </p:sp>
      <p:sp>
        <p:nvSpPr>
          <p:cNvPr id="9" name="Text 7">
            <a:extLst>
              <a:ext uri="{FF2B5EF4-FFF2-40B4-BE49-F238E27FC236}">
                <a16:creationId xmlns:a16="http://schemas.microsoft.com/office/drawing/2014/main" id="{7B8111E4-6478-4382-A9D0-EBFB02F5297F}"/>
              </a:ext>
            </a:extLst>
          </p:cNvPr>
          <p:cNvSpPr>
            <a:spLocks noGrp="1"/>
          </p:cNvSpPr>
          <p:nvPr/>
        </p:nvSpPr>
        <p:spPr>
          <a:xfrm>
            <a:off x="1078992" y="5340096"/>
            <a:ext cx="2368296" cy="329184"/>
          </a:xfrm>
          <a:prstGeom prst="rect">
            <a:avLst/>
          </a:prstGeom>
          <a:noFill/>
        </p:spPr>
        <p:txBody>
          <a:bodyPr wrap="square" lIns="254" tIns="254" rIns="254" bIns="254" anchor="ctr">
            <a:normAutofit/>
          </a:bodyPr>
          <a:lstStyle/>
          <a:p>
            <a:pPr marL="0" indent="0" algn="ctr">
              <a:buNone/>
            </a:pPr>
            <a:r>
              <a:rPr sz="1500" b="1">
                <a:solidFill>
                  <a:srgbClr val="FFFFFF"/>
                </a:solidFill>
                <a:latin typeface="Microsoft YaHei"/>
                <a:ea typeface="Microsoft YaHei"/>
                <a:cs typeface="Microsoft YaHei"/>
              </a:rPr>
              <a:t>单卡验收</a:t>
            </a:r>
            <a:endParaRPr sz="1500"/>
          </a:p>
        </p:txBody>
      </p:sp>
      <p:sp>
        <p:nvSpPr>
          <p:cNvPr id="10" name="Text 8">
            <a:extLst>
              <a:ext uri="{FF2B5EF4-FFF2-40B4-BE49-F238E27FC236}">
                <a16:creationId xmlns:a16="http://schemas.microsoft.com/office/drawing/2014/main" id="{6AA091E3-61B0-4BBC-A6E8-9083A0370E3A}"/>
              </a:ext>
            </a:extLst>
          </p:cNvPr>
          <p:cNvSpPr>
            <a:spLocks noGrp="1"/>
          </p:cNvSpPr>
          <p:nvPr/>
        </p:nvSpPr>
        <p:spPr>
          <a:xfrm>
            <a:off x="1060704" y="5696712"/>
            <a:ext cx="2404872" cy="91440"/>
          </a:xfrm>
          <a:prstGeom prst="rect">
            <a:avLst/>
          </a:prstGeom>
          <a:noFill/>
        </p:spPr>
        <p:txBody>
          <a:bodyPr wrap="square" lIns="127" tIns="127" rIns="127" bIns="127" anchor="ctr">
            <a:normAutofit fontScale="61894" lnSpcReduction="20000"/>
          </a:bodyPr>
          <a:lstStyle/>
          <a:p>
            <a:pPr marL="0" indent="0" algn="ctr">
              <a:buNone/>
            </a:pPr>
            <a:r>
              <a:rPr sz="1100" b="1">
                <a:solidFill>
                  <a:srgbClr val="FFFFFF"/>
                </a:solidFill>
                <a:latin typeface="Microsoft YaHei"/>
                <a:ea typeface="Microsoft YaHei"/>
                <a:cs typeface="Microsoft YaHei"/>
              </a:rPr>
              <a:t>loss 与 checkpoint 正常</a:t>
            </a:r>
            <a:endParaRPr sz="1100"/>
          </a:p>
        </p:txBody>
      </p:sp>
      <p:sp>
        <p:nvSpPr>
          <p:cNvPr id="11" name="Shape 9">
            <a:extLst>
              <a:ext uri="{FF2B5EF4-FFF2-40B4-BE49-F238E27FC236}">
                <a16:creationId xmlns:a16="http://schemas.microsoft.com/office/drawing/2014/main" id="{4C295823-B371-4509-9825-03F364B2726B}"/>
              </a:ext>
            </a:extLst>
          </p:cNvPr>
          <p:cNvSpPr>
            <a:spLocks noGrp="1"/>
          </p:cNvSpPr>
          <p:nvPr/>
        </p:nvSpPr>
        <p:spPr>
          <a:xfrm>
            <a:off x="3977640" y="5166360"/>
            <a:ext cx="2697480" cy="749808"/>
          </a:xfrm>
          <a:prstGeom prst="roundRect">
            <a:avLst>
              <a:gd name="adj" fmla="val 9756"/>
            </a:avLst>
          </a:prstGeom>
          <a:solidFill>
            <a:srgbClr val="F58220"/>
          </a:solidFill>
          <a:ln w="12700">
            <a:solidFill>
              <a:srgbClr val="F58220"/>
            </a:solidFill>
            <a:prstDash val="solid"/>
          </a:ln>
        </p:spPr>
      </p:sp>
      <p:sp>
        <p:nvSpPr>
          <p:cNvPr id="12" name="Text 10">
            <a:extLst>
              <a:ext uri="{FF2B5EF4-FFF2-40B4-BE49-F238E27FC236}">
                <a16:creationId xmlns:a16="http://schemas.microsoft.com/office/drawing/2014/main" id="{3FB69CCF-1070-4C55-847A-91C4255D8D46}"/>
              </a:ext>
            </a:extLst>
          </p:cNvPr>
          <p:cNvSpPr>
            <a:spLocks noGrp="1"/>
          </p:cNvSpPr>
          <p:nvPr/>
        </p:nvSpPr>
        <p:spPr>
          <a:xfrm>
            <a:off x="4142232" y="5340096"/>
            <a:ext cx="2368296" cy="329184"/>
          </a:xfrm>
          <a:prstGeom prst="rect">
            <a:avLst/>
          </a:prstGeom>
          <a:noFill/>
        </p:spPr>
        <p:txBody>
          <a:bodyPr wrap="square" lIns="254" tIns="254" rIns="254" bIns="254" anchor="ctr">
            <a:normAutofit/>
          </a:bodyPr>
          <a:lstStyle/>
          <a:p>
            <a:pPr marL="0" indent="0" algn="ctr">
              <a:buNone/>
            </a:pPr>
            <a:r>
              <a:rPr sz="1500" b="1">
                <a:solidFill>
                  <a:srgbClr val="FFFFFF"/>
                </a:solidFill>
                <a:latin typeface="Microsoft YaHei"/>
                <a:ea typeface="Microsoft YaHei"/>
                <a:cs typeface="Microsoft YaHei"/>
              </a:rPr>
              <a:t>多卡扩展</a:t>
            </a:r>
            <a:endParaRPr sz="1500"/>
          </a:p>
        </p:txBody>
      </p:sp>
      <p:sp>
        <p:nvSpPr>
          <p:cNvPr id="13" name="Text 11">
            <a:extLst>
              <a:ext uri="{FF2B5EF4-FFF2-40B4-BE49-F238E27FC236}">
                <a16:creationId xmlns:a16="http://schemas.microsoft.com/office/drawing/2014/main" id="{5155B388-25E2-4A65-BD2F-008C4B2A75B8}"/>
              </a:ext>
            </a:extLst>
          </p:cNvPr>
          <p:cNvSpPr>
            <a:spLocks noGrp="1"/>
          </p:cNvSpPr>
          <p:nvPr/>
        </p:nvSpPr>
        <p:spPr>
          <a:xfrm>
            <a:off x="4123944" y="5696712"/>
            <a:ext cx="2404872" cy="91440"/>
          </a:xfrm>
          <a:prstGeom prst="rect">
            <a:avLst/>
          </a:prstGeom>
          <a:noFill/>
        </p:spPr>
        <p:txBody>
          <a:bodyPr wrap="square" lIns="127" tIns="127" rIns="127" bIns="127" anchor="ctr">
            <a:normAutofit fontScale="61894" lnSpcReduction="20000"/>
          </a:bodyPr>
          <a:lstStyle/>
          <a:p>
            <a:pPr marL="0" indent="0" algn="ctr">
              <a:buNone/>
            </a:pPr>
            <a:r>
              <a:rPr sz="1100" b="1">
                <a:solidFill>
                  <a:srgbClr val="FFFFFF"/>
                </a:solidFill>
                <a:latin typeface="Microsoft YaHei"/>
                <a:ea typeface="Microsoft YaHei"/>
                <a:cs typeface="Microsoft YaHei"/>
              </a:rPr>
              <a:t>torchrun + HCCL + rank</a:t>
            </a:r>
            <a:endParaRPr sz="1100"/>
          </a:p>
        </p:txBody>
      </p:sp>
      <p:sp>
        <p:nvSpPr>
          <p:cNvPr id="14" name="Shape 12">
            <a:extLst>
              <a:ext uri="{FF2B5EF4-FFF2-40B4-BE49-F238E27FC236}">
                <a16:creationId xmlns:a16="http://schemas.microsoft.com/office/drawing/2014/main" id="{82503050-AECF-4A52-94A5-CE86E03941C2}"/>
              </a:ext>
            </a:extLst>
          </p:cNvPr>
          <p:cNvSpPr>
            <a:spLocks noGrp="1"/>
          </p:cNvSpPr>
          <p:nvPr/>
        </p:nvSpPr>
        <p:spPr>
          <a:xfrm>
            <a:off x="7040880" y="5166360"/>
            <a:ext cx="2697480" cy="749808"/>
          </a:xfrm>
          <a:prstGeom prst="roundRect">
            <a:avLst>
              <a:gd name="adj" fmla="val 9756"/>
            </a:avLst>
          </a:prstGeom>
          <a:solidFill>
            <a:srgbClr val="27AE60"/>
          </a:solidFill>
          <a:ln w="12700">
            <a:solidFill>
              <a:srgbClr val="27AE60"/>
            </a:solidFill>
            <a:prstDash val="solid"/>
          </a:ln>
        </p:spPr>
      </p:sp>
      <p:sp>
        <p:nvSpPr>
          <p:cNvPr id="15" name="Text 13">
            <a:extLst>
              <a:ext uri="{FF2B5EF4-FFF2-40B4-BE49-F238E27FC236}">
                <a16:creationId xmlns:a16="http://schemas.microsoft.com/office/drawing/2014/main" id="{7CE5692E-1CDB-44DA-8318-A632CA1367FA}"/>
              </a:ext>
            </a:extLst>
          </p:cNvPr>
          <p:cNvSpPr>
            <a:spLocks noGrp="1"/>
          </p:cNvSpPr>
          <p:nvPr/>
        </p:nvSpPr>
        <p:spPr>
          <a:xfrm>
            <a:off x="7205472" y="5340096"/>
            <a:ext cx="2368296" cy="329184"/>
          </a:xfrm>
          <a:prstGeom prst="rect">
            <a:avLst/>
          </a:prstGeom>
          <a:noFill/>
        </p:spPr>
        <p:txBody>
          <a:bodyPr wrap="square" lIns="254" tIns="254" rIns="254" bIns="254" anchor="ctr">
            <a:normAutofit/>
          </a:bodyPr>
          <a:lstStyle/>
          <a:p>
            <a:pPr marL="0" indent="0" algn="ctr">
              <a:buNone/>
            </a:pPr>
            <a:r>
              <a:rPr sz="1500" b="1">
                <a:solidFill>
                  <a:srgbClr val="FFFFFF"/>
                </a:solidFill>
                <a:latin typeface="Microsoft YaHei"/>
                <a:ea typeface="Microsoft YaHei"/>
                <a:cs typeface="Microsoft YaHei"/>
              </a:rPr>
              <a:t>Profiling</a:t>
            </a:r>
            <a:endParaRPr sz="1500"/>
          </a:p>
        </p:txBody>
      </p:sp>
      <p:sp>
        <p:nvSpPr>
          <p:cNvPr id="16" name="Text 14">
            <a:extLst>
              <a:ext uri="{FF2B5EF4-FFF2-40B4-BE49-F238E27FC236}">
                <a16:creationId xmlns:a16="http://schemas.microsoft.com/office/drawing/2014/main" id="{2F529C99-075F-4926-8A58-9049630DAFFA}"/>
              </a:ext>
            </a:extLst>
          </p:cNvPr>
          <p:cNvSpPr>
            <a:spLocks noGrp="1"/>
          </p:cNvSpPr>
          <p:nvPr/>
        </p:nvSpPr>
        <p:spPr>
          <a:xfrm>
            <a:off x="7187184" y="5696712"/>
            <a:ext cx="2404872" cy="91440"/>
          </a:xfrm>
          <a:prstGeom prst="rect">
            <a:avLst/>
          </a:prstGeom>
          <a:noFill/>
        </p:spPr>
        <p:txBody>
          <a:bodyPr wrap="square" lIns="127" tIns="127" rIns="127" bIns="127" anchor="ctr">
            <a:normAutofit fontScale="62500" lnSpcReduction="20000"/>
          </a:bodyPr>
          <a:lstStyle/>
          <a:p>
            <a:pPr marL="0" indent="0" algn="ctr">
              <a:buNone/>
            </a:pPr>
            <a:r>
              <a:rPr sz="1100" b="1">
                <a:solidFill>
                  <a:srgbClr val="FFFFFF"/>
                </a:solidFill>
                <a:latin typeface="Microsoft YaHei"/>
                <a:ea typeface="Microsoft YaHei"/>
                <a:cs typeface="Microsoft YaHei"/>
              </a:rPr>
              <a:t>瓶颈结论可复述</a:t>
            </a:r>
            <a:endParaRPr sz="1100"/>
          </a:p>
        </p:txBody>
      </p:sp>
    </p:spTree>
    <p:extLst>
      <p:ext uri="{BB962C8B-B14F-4D97-AF65-F5344CB8AC3E}">
        <p14:creationId xmlns:p14="http://schemas.microsoft.com/office/powerpoint/2010/main" val="680690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4959D-80C1-234C-5F49-0F66352AA8D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D963A07-A736-C589-41C1-496D0417B1AB}"/>
              </a:ext>
            </a:extLst>
          </p:cNvPr>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sym typeface="+mn-ea"/>
              </a:rPr>
              <a:t>学习目标</a:t>
            </a:r>
          </a:p>
          <a:p>
            <a:r>
              <a:rPr lang="en-US" dirty="0" err="1">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YOLO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单卡训练流程</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AMP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与训练参数调优</a:t>
            </a:r>
          </a:p>
          <a:p>
            <a:r>
              <a:rPr lang="en-US" altLang="zh-CN"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Profiling </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与实验验收</a:t>
            </a:r>
          </a:p>
          <a:p>
            <a:r>
              <a:rPr lang="zh-CN" altLang="en-US" dirty="0">
                <a:solidFill>
                  <a:schemeClr val="bg1">
                    <a:lumMod val="75000"/>
                  </a:schemeClr>
                </a:solidFill>
                <a:sym typeface="+mn-ea"/>
              </a:rPr>
              <a:t>实验总结与多卡扩展</a:t>
            </a:r>
          </a:p>
          <a:p>
            <a:r>
              <a:rPr lang="zh-CN" altLang="en-US" b="1" dirty="0">
                <a:latin typeface="微软雅黑" panose="020B0503020204020204" pitchFamily="34" charset="-122"/>
                <a:ea typeface="微软雅黑" panose="020B0503020204020204" pitchFamily="34" charset="-122"/>
              </a:rPr>
              <a:t>课后习题</a:t>
            </a:r>
            <a:endParaRPr lang="en-US" b="1"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3586958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B48F516-E8DE-469E-8BB7-37AF699AB9D5}"/>
              </a:ext>
            </a:extLst>
          </p:cNvPr>
          <p:cNvSpPr>
            <a:spLocks noGrp="1"/>
          </p:cNvSpPr>
          <p:nvPr/>
        </p:nvSpPr>
        <p:spPr>
          <a:xfrm>
            <a:off x="0" y="0"/>
            <a:ext cx="12192000" cy="146304"/>
          </a:xfrm>
          <a:prstGeom prst="rect">
            <a:avLst/>
          </a:prstGeom>
          <a:solidFill>
            <a:srgbClr val="27AE60"/>
          </a:solidFill>
        </p:spPr>
      </p:sp>
      <p:sp>
        <p:nvSpPr>
          <p:cNvPr id="3" name="Text 1">
            <a:extLst>
              <a:ext uri="{FF2B5EF4-FFF2-40B4-BE49-F238E27FC236}">
                <a16:creationId xmlns:a16="http://schemas.microsoft.com/office/drawing/2014/main" id="{1DFA4431-1B8B-4A8A-B420-CEB84514AD36}"/>
              </a:ext>
            </a:extLst>
          </p:cNvPr>
          <p:cNvSpPr>
            <a:spLocks noGrp="1"/>
          </p:cNvSpPr>
          <p:nvPr/>
        </p:nvSpPr>
        <p:spPr>
          <a:xfrm>
            <a:off x="731520" y="304800"/>
            <a:ext cx="10728960" cy="853440"/>
          </a:xfrm>
          <a:prstGeom prst="rect">
            <a:avLst/>
          </a:prstGeom>
          <a:noFill/>
        </p:spPr>
        <p:txBody>
          <a:bodyPr wrap="square" anchor="ctr"/>
          <a:lstStyle/>
          <a:p>
            <a:r>
              <a:rPr sz="3200" b="1" dirty="0" err="1">
                <a:latin typeface="Microsoft YaHei"/>
                <a:ea typeface="Microsoft YaHei"/>
              </a:rPr>
              <a:t>课后习题</a:t>
            </a:r>
            <a:endParaRPr sz="3200" b="1" dirty="0">
              <a:latin typeface="Microsoft YaHei"/>
              <a:ea typeface="Microsoft YaHei"/>
            </a:endParaRPr>
          </a:p>
        </p:txBody>
      </p:sp>
      <p:sp>
        <p:nvSpPr>
          <p:cNvPr id="4" name="Shape 2">
            <a:extLst>
              <a:ext uri="{FF2B5EF4-FFF2-40B4-BE49-F238E27FC236}">
                <a16:creationId xmlns:a16="http://schemas.microsoft.com/office/drawing/2014/main" id="{51670CF3-08AC-4D70-B6C0-DD520C2E2B18}"/>
              </a:ext>
            </a:extLst>
          </p:cNvPr>
          <p:cNvSpPr>
            <a:spLocks noGrp="1"/>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37A20E84-4125-4288-A4D6-41845F9049E9}"/>
              </a:ext>
            </a:extLst>
          </p:cNvPr>
          <p:cNvSpPr>
            <a:spLocks noGrp="1"/>
          </p:cNvSpPr>
          <p:nvPr/>
        </p:nvSpPr>
        <p:spPr>
          <a:xfrm>
            <a:off x="853440" y="1584960"/>
            <a:ext cx="10485120" cy="731520"/>
          </a:xfrm>
          <a:prstGeom prst="rect">
            <a:avLst/>
          </a:prstGeom>
          <a:noFill/>
        </p:spPr>
        <p:txBody>
          <a:bodyPr wrap="square" anchor="t"/>
          <a:lstStyle/>
          <a:p>
            <a:pPr marL="0" indent="0">
              <a:lnSpc>
                <a:spcPct val="115000"/>
              </a:lnSpc>
              <a:buNone/>
            </a:pPr>
            <a:r>
              <a:rPr sz="2135" b="1" dirty="0">
                <a:solidFill>
                  <a:srgbClr val="2C3E50"/>
                </a:solidFill>
                <a:latin typeface="微软雅黑"/>
                <a:ea typeface="微软雅黑"/>
                <a:cs typeface="微软雅黑"/>
              </a:rPr>
              <a:t>Q1：单卡 NPU </a:t>
            </a:r>
            <a:r>
              <a:rPr sz="2135" b="1" dirty="0" err="1">
                <a:solidFill>
                  <a:srgbClr val="2C3E50"/>
                </a:solidFill>
                <a:latin typeface="微软雅黑"/>
                <a:ea typeface="微软雅黑"/>
                <a:cs typeface="微软雅黑"/>
              </a:rPr>
              <a:t>训练启动前，需要检查哪些环境和设备信息</a:t>
            </a:r>
            <a:r>
              <a:rPr sz="2135" b="1" dirty="0">
                <a:solidFill>
                  <a:srgbClr val="2C3E50"/>
                </a:solidFill>
                <a:latin typeface="微软雅黑"/>
                <a:ea typeface="微软雅黑"/>
                <a:cs typeface="微软雅黑"/>
              </a:rPr>
              <a:t>？</a:t>
            </a:r>
          </a:p>
        </p:txBody>
      </p:sp>
      <p:sp>
        <p:nvSpPr>
          <p:cNvPr id="6" name="Text 4">
            <a:extLst>
              <a:ext uri="{FF2B5EF4-FFF2-40B4-BE49-F238E27FC236}">
                <a16:creationId xmlns:a16="http://schemas.microsoft.com/office/drawing/2014/main" id="{3D3319F1-DA59-49F9-AB6A-27380EBF8B45}"/>
              </a:ext>
            </a:extLst>
          </p:cNvPr>
          <p:cNvSpPr>
            <a:spLocks noGrp="1"/>
          </p:cNvSpPr>
          <p:nvPr/>
        </p:nvSpPr>
        <p:spPr>
          <a:xfrm>
            <a:off x="853440" y="2438400"/>
            <a:ext cx="10485120" cy="731520"/>
          </a:xfrm>
          <a:prstGeom prst="rect">
            <a:avLst/>
          </a:prstGeom>
          <a:noFill/>
        </p:spPr>
        <p:txBody>
          <a:bodyPr wrap="square" anchor="t"/>
          <a:lstStyle/>
          <a:p>
            <a:pPr marL="0" indent="0">
              <a:lnSpc>
                <a:spcPct val="115000"/>
              </a:lnSpc>
              <a:buNone/>
            </a:pPr>
            <a:r>
              <a:rPr sz="2135" b="1" dirty="0">
                <a:solidFill>
                  <a:srgbClr val="2C3E50"/>
                </a:solidFill>
                <a:latin typeface="微软雅黑"/>
                <a:ea typeface="微软雅黑"/>
                <a:cs typeface="微软雅黑"/>
              </a:rPr>
              <a:t>Q2：为什么要把 PASCAL VOC XML </a:t>
            </a:r>
            <a:r>
              <a:rPr sz="2135" b="1" dirty="0" err="1">
                <a:solidFill>
                  <a:srgbClr val="2C3E50"/>
                </a:solidFill>
                <a:latin typeface="微软雅黑"/>
                <a:ea typeface="微软雅黑"/>
                <a:cs typeface="微软雅黑"/>
              </a:rPr>
              <a:t>标注转换成</a:t>
            </a:r>
            <a:r>
              <a:rPr sz="2135" b="1" dirty="0">
                <a:solidFill>
                  <a:srgbClr val="2C3E50"/>
                </a:solidFill>
                <a:latin typeface="微软雅黑"/>
                <a:ea typeface="微软雅黑"/>
                <a:cs typeface="微软雅黑"/>
              </a:rPr>
              <a:t> YOLO txt </a:t>
            </a:r>
            <a:r>
              <a:rPr sz="2135" b="1" dirty="0" err="1">
                <a:solidFill>
                  <a:srgbClr val="2C3E50"/>
                </a:solidFill>
                <a:latin typeface="微软雅黑"/>
                <a:ea typeface="微软雅黑"/>
                <a:cs typeface="微软雅黑"/>
              </a:rPr>
              <a:t>标注</a:t>
            </a:r>
            <a:r>
              <a:rPr sz="2135" b="1" dirty="0">
                <a:solidFill>
                  <a:srgbClr val="2C3E50"/>
                </a:solidFill>
                <a:latin typeface="微软雅黑"/>
                <a:ea typeface="微软雅黑"/>
                <a:cs typeface="微软雅黑"/>
              </a:rPr>
              <a:t>？</a:t>
            </a:r>
            <a:endParaRPr sz="2135" dirty="0"/>
          </a:p>
        </p:txBody>
      </p:sp>
      <p:sp>
        <p:nvSpPr>
          <p:cNvPr id="7" name="Text 5">
            <a:extLst>
              <a:ext uri="{FF2B5EF4-FFF2-40B4-BE49-F238E27FC236}">
                <a16:creationId xmlns:a16="http://schemas.microsoft.com/office/drawing/2014/main" id="{88D723F2-425C-46F2-9714-A33C3FC12192}"/>
              </a:ext>
            </a:extLst>
          </p:cNvPr>
          <p:cNvSpPr>
            <a:spLocks noGrp="1"/>
          </p:cNvSpPr>
          <p:nvPr/>
        </p:nvSpPr>
        <p:spPr>
          <a:xfrm>
            <a:off x="853440" y="3291840"/>
            <a:ext cx="10485120" cy="731520"/>
          </a:xfrm>
          <a:prstGeom prst="rect">
            <a:avLst/>
          </a:prstGeom>
          <a:noFill/>
        </p:spPr>
        <p:txBody>
          <a:bodyPr wrap="square" anchor="t"/>
          <a:lstStyle/>
          <a:p>
            <a:pPr marL="0" indent="0">
              <a:lnSpc>
                <a:spcPct val="115000"/>
              </a:lnSpc>
              <a:buNone/>
            </a:pPr>
            <a:r>
              <a:rPr sz="2135" b="1" dirty="0">
                <a:solidFill>
                  <a:srgbClr val="2C3E50"/>
                </a:solidFill>
                <a:latin typeface="微软雅黑"/>
                <a:ea typeface="微软雅黑"/>
                <a:cs typeface="微软雅黑"/>
              </a:rPr>
              <a:t>Q3：AMP </a:t>
            </a:r>
            <a:r>
              <a:rPr sz="2135" b="1" dirty="0" err="1">
                <a:solidFill>
                  <a:srgbClr val="2C3E50"/>
                </a:solidFill>
                <a:latin typeface="微软雅黑"/>
                <a:ea typeface="微软雅黑"/>
                <a:cs typeface="微软雅黑"/>
              </a:rPr>
              <a:t>为什么能降低显存并提升吞吐？它可能带来什么稳定性风险</a:t>
            </a:r>
            <a:r>
              <a:rPr sz="2135" b="1" dirty="0">
                <a:solidFill>
                  <a:srgbClr val="2C3E50"/>
                </a:solidFill>
                <a:latin typeface="微软雅黑"/>
                <a:ea typeface="微软雅黑"/>
                <a:cs typeface="微软雅黑"/>
              </a:rPr>
              <a:t>？</a:t>
            </a:r>
          </a:p>
        </p:txBody>
      </p:sp>
      <p:sp>
        <p:nvSpPr>
          <p:cNvPr id="8" name="Text 6">
            <a:extLst>
              <a:ext uri="{FF2B5EF4-FFF2-40B4-BE49-F238E27FC236}">
                <a16:creationId xmlns:a16="http://schemas.microsoft.com/office/drawing/2014/main" id="{74963CEF-4CE8-405C-9E76-A2521F6A756D}"/>
              </a:ext>
            </a:extLst>
          </p:cNvPr>
          <p:cNvSpPr>
            <a:spLocks noGrp="1"/>
          </p:cNvSpPr>
          <p:nvPr/>
        </p:nvSpPr>
        <p:spPr>
          <a:xfrm>
            <a:off x="853440" y="4145280"/>
            <a:ext cx="10485120" cy="731520"/>
          </a:xfrm>
          <a:prstGeom prst="rect">
            <a:avLst/>
          </a:prstGeom>
          <a:noFill/>
        </p:spPr>
        <p:txBody>
          <a:bodyPr wrap="square" anchor="t"/>
          <a:lstStyle/>
          <a:p>
            <a:pPr marL="0" indent="0">
              <a:lnSpc>
                <a:spcPct val="115000"/>
              </a:lnSpc>
              <a:buNone/>
            </a:pPr>
            <a:r>
              <a:rPr sz="2135" b="1" dirty="0">
                <a:solidFill>
                  <a:srgbClr val="2C3E50"/>
                </a:solidFill>
                <a:latin typeface="微软雅黑"/>
                <a:ea typeface="微软雅黑"/>
                <a:cs typeface="微软雅黑"/>
              </a:rPr>
              <a:t>Q4：单卡训练吞吐低或 loss </a:t>
            </a:r>
            <a:r>
              <a:rPr sz="2135" b="1" dirty="0" err="1">
                <a:solidFill>
                  <a:srgbClr val="2C3E50"/>
                </a:solidFill>
                <a:latin typeface="微软雅黑"/>
                <a:ea typeface="微软雅黑"/>
                <a:cs typeface="微软雅黑"/>
              </a:rPr>
              <a:t>不稳定时，优先排查哪三类问题</a:t>
            </a:r>
            <a:r>
              <a:rPr sz="2135" b="1" dirty="0">
                <a:solidFill>
                  <a:srgbClr val="2C3E50"/>
                </a:solidFill>
                <a:latin typeface="微软雅黑"/>
                <a:ea typeface="微软雅黑"/>
                <a:cs typeface="微软雅黑"/>
              </a:rPr>
              <a:t>？</a:t>
            </a:r>
          </a:p>
        </p:txBody>
      </p:sp>
      <p:sp>
        <p:nvSpPr>
          <p:cNvPr id="9" name="Text 7">
            <a:extLst>
              <a:ext uri="{FF2B5EF4-FFF2-40B4-BE49-F238E27FC236}">
                <a16:creationId xmlns:a16="http://schemas.microsoft.com/office/drawing/2014/main" id="{23528CDF-2EB6-4C95-AEC6-238410B47E68}"/>
              </a:ext>
            </a:extLst>
          </p:cNvPr>
          <p:cNvSpPr>
            <a:spLocks noGrp="1"/>
          </p:cNvSpPr>
          <p:nvPr/>
        </p:nvSpPr>
        <p:spPr>
          <a:xfrm>
            <a:off x="853440" y="4998720"/>
            <a:ext cx="10485120" cy="731520"/>
          </a:xfrm>
          <a:prstGeom prst="rect">
            <a:avLst/>
          </a:prstGeom>
          <a:noFill/>
        </p:spPr>
        <p:txBody>
          <a:bodyPr wrap="square" anchor="t"/>
          <a:lstStyle/>
          <a:p>
            <a:pPr marL="0" indent="0">
              <a:lnSpc>
                <a:spcPct val="115000"/>
              </a:lnSpc>
              <a:buNone/>
            </a:pPr>
            <a:r>
              <a:rPr sz="2135" b="1" dirty="0">
                <a:solidFill>
                  <a:srgbClr val="2C3E50"/>
                </a:solidFill>
                <a:latin typeface="微软雅黑"/>
                <a:ea typeface="微软雅黑"/>
                <a:cs typeface="微软雅黑"/>
              </a:rPr>
              <a:t>Q5：Profiling 中 step time 与 kernel duration </a:t>
            </a:r>
            <a:r>
              <a:rPr sz="2135" b="1" dirty="0" err="1">
                <a:solidFill>
                  <a:srgbClr val="2C3E50"/>
                </a:solidFill>
                <a:latin typeface="微软雅黑"/>
                <a:ea typeface="微软雅黑"/>
                <a:cs typeface="微软雅黑"/>
              </a:rPr>
              <a:t>为什么不能直接混用</a:t>
            </a:r>
            <a:r>
              <a:rPr sz="2135" b="1" dirty="0">
                <a:solidFill>
                  <a:srgbClr val="2C3E50"/>
                </a:solidFill>
                <a:latin typeface="微软雅黑"/>
                <a:ea typeface="微软雅黑"/>
                <a:cs typeface="微软雅黑"/>
              </a:rPr>
              <a:t>？</a:t>
            </a:r>
          </a:p>
        </p:txBody>
      </p:sp>
      <p:sp>
        <p:nvSpPr>
          <p:cNvPr id="10" name="Text 8">
            <a:extLst>
              <a:ext uri="{FF2B5EF4-FFF2-40B4-BE49-F238E27FC236}">
                <a16:creationId xmlns:a16="http://schemas.microsoft.com/office/drawing/2014/main" id="{8D2B236F-E8AF-44B8-A61D-E6400BDE1CC7}"/>
              </a:ext>
            </a:extLst>
          </p:cNvPr>
          <p:cNvSpPr>
            <a:spLocks noGrp="1"/>
          </p:cNvSpPr>
          <p:nvPr/>
        </p:nvSpPr>
        <p:spPr>
          <a:xfrm>
            <a:off x="853440" y="5852160"/>
            <a:ext cx="10485120" cy="731520"/>
          </a:xfrm>
          <a:prstGeom prst="rect">
            <a:avLst/>
          </a:prstGeom>
          <a:noFill/>
        </p:spPr>
        <p:txBody>
          <a:bodyPr wrap="square" anchor="t"/>
          <a:lstStyle/>
          <a:p>
            <a:pPr marL="0" indent="0">
              <a:lnSpc>
                <a:spcPct val="115000"/>
              </a:lnSpc>
              <a:buNone/>
            </a:pPr>
            <a:r>
              <a:rPr sz="2135" b="1" dirty="0">
                <a:solidFill>
                  <a:srgbClr val="2C3E50"/>
                </a:solidFill>
                <a:latin typeface="微软雅黑"/>
                <a:ea typeface="微软雅黑"/>
                <a:cs typeface="微软雅黑"/>
              </a:rPr>
              <a:t>Q6（拓展）：</a:t>
            </a:r>
            <a:r>
              <a:rPr sz="2135" b="1" dirty="0" err="1">
                <a:solidFill>
                  <a:srgbClr val="2C3E50"/>
                </a:solidFill>
                <a:latin typeface="微软雅黑"/>
                <a:ea typeface="微软雅黑"/>
                <a:cs typeface="微软雅黑"/>
              </a:rPr>
              <a:t>如果扩展到多卡</a:t>
            </a:r>
            <a:r>
              <a:rPr sz="2135" b="1" dirty="0">
                <a:solidFill>
                  <a:srgbClr val="2C3E50"/>
                </a:solidFill>
                <a:latin typeface="微软雅黑"/>
                <a:ea typeface="微软雅黑"/>
                <a:cs typeface="微软雅黑"/>
              </a:rPr>
              <a:t> </a:t>
            </a:r>
            <a:r>
              <a:rPr sz="2135" b="1" dirty="0" err="1">
                <a:solidFill>
                  <a:srgbClr val="2C3E50"/>
                </a:solidFill>
                <a:latin typeface="微软雅黑"/>
                <a:ea typeface="微软雅黑"/>
                <a:cs typeface="微软雅黑"/>
              </a:rPr>
              <a:t>DDP，需要额外关注</a:t>
            </a:r>
            <a:r>
              <a:rPr sz="2135" b="1" dirty="0">
                <a:solidFill>
                  <a:srgbClr val="2C3E50"/>
                </a:solidFill>
                <a:latin typeface="微软雅黑"/>
                <a:ea typeface="微软雅黑"/>
                <a:cs typeface="微软雅黑"/>
              </a:rPr>
              <a:t> </a:t>
            </a:r>
            <a:r>
              <a:rPr sz="2135" b="1" dirty="0" err="1">
                <a:solidFill>
                  <a:srgbClr val="2C3E50"/>
                </a:solidFill>
                <a:latin typeface="微软雅黑"/>
                <a:ea typeface="微软雅黑"/>
                <a:cs typeface="微软雅黑"/>
              </a:rPr>
              <a:t>rank、world_size</a:t>
            </a:r>
            <a:r>
              <a:rPr sz="2135" b="1" dirty="0">
                <a:solidFill>
                  <a:srgbClr val="2C3E50"/>
                </a:solidFill>
                <a:latin typeface="微软雅黑"/>
                <a:ea typeface="微软雅黑"/>
                <a:cs typeface="微软雅黑"/>
              </a:rPr>
              <a:t> 和 HCCL </a:t>
            </a:r>
            <a:r>
              <a:rPr sz="2135" b="1" dirty="0" err="1">
                <a:solidFill>
                  <a:srgbClr val="2C3E50"/>
                </a:solidFill>
                <a:latin typeface="微软雅黑"/>
                <a:ea typeface="微软雅黑"/>
                <a:cs typeface="微软雅黑"/>
              </a:rPr>
              <a:t>的哪些信息</a:t>
            </a:r>
            <a:r>
              <a:rPr sz="2135" b="1" dirty="0">
                <a:solidFill>
                  <a:srgbClr val="2C3E50"/>
                </a:solidFill>
                <a:latin typeface="微软雅黑"/>
                <a:ea typeface="微软雅黑"/>
                <a:cs typeface="微软雅黑"/>
              </a:rPr>
              <a:t>？</a:t>
            </a:r>
            <a:endParaRPr sz="2135" dirty="0"/>
          </a:p>
        </p:txBody>
      </p:sp>
    </p:spTree>
    <p:extLst>
      <p:ext uri="{BB962C8B-B14F-4D97-AF65-F5344CB8AC3E}">
        <p14:creationId xmlns:p14="http://schemas.microsoft.com/office/powerpoint/2010/main" val="826477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R="0" lvl="0" fontAlgn="auto">
              <a:lnSpc>
                <a:spcPct val="100000"/>
              </a:lnSpc>
              <a:spcBef>
                <a:spcPts val="0"/>
              </a:spcBef>
              <a:spcAft>
                <a:spcPts val="0"/>
              </a:spcAft>
              <a:buClrTx/>
              <a:buSzTx/>
              <a:tabLst/>
              <a:defRPr/>
            </a:pPr>
            <a:r>
              <a:rPr lang="en-US" sz="3200" b="1" dirty="0" err="1">
                <a:latin typeface="Microsoft YaHei"/>
                <a:ea typeface="Microsoft YaHei"/>
              </a:rPr>
              <a:t>课后习题</a:t>
            </a:r>
            <a:endParaRPr lang="en-US" sz="3200" b="1" dirty="0">
              <a:latin typeface="Microsoft YaHei"/>
              <a:ea typeface="Microsoft YaHei"/>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731520"/>
          </a:xfrm>
          <a:prstGeom prst="rect">
            <a:avLst/>
          </a:prstGeom>
          <a:noFill/>
        </p:spPr>
        <p:txBody>
          <a:bodyPr wrap="square"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Q1：</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单卡 </a:t>
            </a:r>
            <a:r>
              <a:rPr kumimoji="0" lang="en-US" altLang="zh-CN"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训练启动前，需要检查哪些环境和设备信息？</a:t>
            </a: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主要检查三方面。第一，检查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设备是否可见，可以使用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npu-smi</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info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查看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Ascend 910B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是否正常；第二，检查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PyTorch</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和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torch_npu</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是否能够正常导入，并确认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设备数量；第三，检查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CANN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环境、</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Python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依赖、训练脚本和数据路径是否正确，确保训练进程能够绑定到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0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并正常启动。</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9CDC-0011-91E1-7FCF-C8BCBFB8CE7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0750A75-9B53-421B-3BB6-ECA8162DEEC4}"/>
              </a:ext>
            </a:extLst>
          </p:cNvPr>
          <p:cNvSpPr/>
          <p:nvPr/>
        </p:nvSpPr>
        <p:spPr>
          <a:xfrm>
            <a:off x="0" y="0"/>
            <a:ext cx="12192000" cy="146304"/>
          </a:xfrm>
          <a:prstGeom prst="rect">
            <a:avLst/>
          </a:prstGeom>
          <a:solidFill>
            <a:srgbClr val="27AE60"/>
          </a:solidFill>
        </p:spPr>
      </p:sp>
      <p:sp>
        <p:nvSpPr>
          <p:cNvPr id="3" name="Text 1">
            <a:extLst>
              <a:ext uri="{FF2B5EF4-FFF2-40B4-BE49-F238E27FC236}">
                <a16:creationId xmlns:a16="http://schemas.microsoft.com/office/drawing/2014/main" id="{0709AF5A-6996-B254-2751-B864AD7AC404}"/>
              </a:ext>
            </a:extLst>
          </p:cNvPr>
          <p:cNvSpPr/>
          <p:nvPr/>
        </p:nvSpPr>
        <p:spPr>
          <a:xfrm>
            <a:off x="731520" y="304800"/>
            <a:ext cx="10728960" cy="853440"/>
          </a:xfrm>
          <a:prstGeom prst="rect">
            <a:avLst/>
          </a:prstGeom>
          <a:noFill/>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课后习题</a:t>
            </a:r>
          </a:p>
        </p:txBody>
      </p:sp>
      <p:sp>
        <p:nvSpPr>
          <p:cNvPr id="4" name="Shape 2">
            <a:extLst>
              <a:ext uri="{FF2B5EF4-FFF2-40B4-BE49-F238E27FC236}">
                <a16:creationId xmlns:a16="http://schemas.microsoft.com/office/drawing/2014/main" id="{B6BA885F-0AB7-4558-11C8-AA87452DE08A}"/>
              </a:ext>
            </a:extLst>
          </p:cNvPr>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36BAB5CF-2BD0-F8A8-0165-5D2B2DBC6A0E}"/>
              </a:ext>
            </a:extLst>
          </p:cNvPr>
          <p:cNvSpPr/>
          <p:nvPr/>
        </p:nvSpPr>
        <p:spPr>
          <a:xfrm>
            <a:off x="853440" y="1584960"/>
            <a:ext cx="10485120" cy="731520"/>
          </a:xfrm>
          <a:prstGeom prst="rect">
            <a:avLst/>
          </a:prstGeom>
          <a:noFill/>
        </p:spPr>
        <p:txBody>
          <a:bodyPr wrap="square"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Q2：</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为什么要把 </a:t>
            </a:r>
            <a:r>
              <a:rPr kumimoji="0" lang="en-US" altLang="zh-CN"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PASCAL VOC XML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标注转换成 </a:t>
            </a:r>
            <a:r>
              <a:rPr kumimoji="0" lang="en-US" altLang="zh-CN"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YOLO txt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标注？</a:t>
            </a: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因为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VOC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原始标注采用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XML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格式，记录的是目标类别名称和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xmin</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ymin</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xmax</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ymax</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绝对像素坐标，而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YOLO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训练默认使用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txt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标签，每行格式为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class_id</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x_center</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y_center</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width</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height</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。因此需要把类别名称转换成类别编号，同时把边界框坐标转换为中心点和宽高，并归一化到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0</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1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范围，才能被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YOLO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训练脚本直接读取。</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1348647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1556E-DFDF-5003-35ED-BAB7309ED44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9E62F8D-3F71-6CAF-15CC-DFC482A91B5E}"/>
              </a:ext>
            </a:extLst>
          </p:cNvPr>
          <p:cNvSpPr/>
          <p:nvPr/>
        </p:nvSpPr>
        <p:spPr>
          <a:xfrm>
            <a:off x="0" y="0"/>
            <a:ext cx="12192000" cy="146304"/>
          </a:xfrm>
          <a:prstGeom prst="rect">
            <a:avLst/>
          </a:prstGeom>
          <a:solidFill>
            <a:srgbClr val="27AE60"/>
          </a:solidFill>
        </p:spPr>
      </p:sp>
      <p:sp>
        <p:nvSpPr>
          <p:cNvPr id="3" name="Text 1">
            <a:extLst>
              <a:ext uri="{FF2B5EF4-FFF2-40B4-BE49-F238E27FC236}">
                <a16:creationId xmlns:a16="http://schemas.microsoft.com/office/drawing/2014/main" id="{61BF2CEE-E159-253D-5F0A-9F96B94426B4}"/>
              </a:ext>
            </a:extLst>
          </p:cNvPr>
          <p:cNvSpPr/>
          <p:nvPr/>
        </p:nvSpPr>
        <p:spPr>
          <a:xfrm>
            <a:off x="731520" y="304800"/>
            <a:ext cx="10728960" cy="853440"/>
          </a:xfrm>
          <a:prstGeom prst="rect">
            <a:avLst/>
          </a:prstGeom>
          <a:noFill/>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课后习题</a:t>
            </a:r>
          </a:p>
        </p:txBody>
      </p:sp>
      <p:sp>
        <p:nvSpPr>
          <p:cNvPr id="4" name="Shape 2">
            <a:extLst>
              <a:ext uri="{FF2B5EF4-FFF2-40B4-BE49-F238E27FC236}">
                <a16:creationId xmlns:a16="http://schemas.microsoft.com/office/drawing/2014/main" id="{87872160-F52D-DEEE-B2E1-F0298697A35F}"/>
              </a:ext>
            </a:extLst>
          </p:cNvPr>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ABF819E2-5003-E322-9B60-4355593560B2}"/>
              </a:ext>
            </a:extLst>
          </p:cNvPr>
          <p:cNvSpPr/>
          <p:nvPr/>
        </p:nvSpPr>
        <p:spPr>
          <a:xfrm>
            <a:off x="853440" y="1584960"/>
            <a:ext cx="10485120" cy="731520"/>
          </a:xfrm>
          <a:prstGeom prst="rect">
            <a:avLst/>
          </a:prstGeom>
          <a:noFill/>
        </p:spPr>
        <p:txBody>
          <a:bodyPr wrap="square"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Q3：</a:t>
            </a:r>
            <a:r>
              <a:rPr kumimoji="0" lang="en-US" altLang="zh-CN"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AMP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为什么能降低显存并提升吞吐？它可能带来什么稳定性风险？</a:t>
            </a: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AMP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会让部分适合低精度计算的算子使用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FP16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或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BF16</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，而不是全部使用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FP32</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。低精度数据占用的显存更少，同时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对低精度计算通常具有更高的吞吐能力，因此可以降低显存占用并提高训练速度。风险主要是低精度数值范围较小，可能出现梯度下溢、数值精度下降甚至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loss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异常，因此通常结合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autocast</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和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GradScaler</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保证训练稳定。</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3879078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D63A-E369-B9EA-DCC1-68F1406DFB5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CB0ECA4-F16E-5045-D8EE-051896F339F6}"/>
              </a:ext>
            </a:extLst>
          </p:cNvPr>
          <p:cNvSpPr/>
          <p:nvPr/>
        </p:nvSpPr>
        <p:spPr>
          <a:xfrm>
            <a:off x="0" y="0"/>
            <a:ext cx="12192000" cy="146304"/>
          </a:xfrm>
          <a:prstGeom prst="rect">
            <a:avLst/>
          </a:prstGeom>
          <a:solidFill>
            <a:srgbClr val="27AE60"/>
          </a:solidFill>
        </p:spPr>
      </p:sp>
      <p:sp>
        <p:nvSpPr>
          <p:cNvPr id="3" name="Text 1">
            <a:extLst>
              <a:ext uri="{FF2B5EF4-FFF2-40B4-BE49-F238E27FC236}">
                <a16:creationId xmlns:a16="http://schemas.microsoft.com/office/drawing/2014/main" id="{F5B28ABC-8776-428F-ABD9-B100044ED6C8}"/>
              </a:ext>
            </a:extLst>
          </p:cNvPr>
          <p:cNvSpPr/>
          <p:nvPr/>
        </p:nvSpPr>
        <p:spPr>
          <a:xfrm>
            <a:off x="731520" y="304800"/>
            <a:ext cx="10728960" cy="853440"/>
          </a:xfrm>
          <a:prstGeom prst="rect">
            <a:avLst/>
          </a:prstGeom>
          <a:noFill/>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课后习题</a:t>
            </a:r>
          </a:p>
        </p:txBody>
      </p:sp>
      <p:sp>
        <p:nvSpPr>
          <p:cNvPr id="4" name="Shape 2">
            <a:extLst>
              <a:ext uri="{FF2B5EF4-FFF2-40B4-BE49-F238E27FC236}">
                <a16:creationId xmlns:a16="http://schemas.microsoft.com/office/drawing/2014/main" id="{9CDBF9BA-A10E-CCBC-B870-63C9A05B5581}"/>
              </a:ext>
            </a:extLst>
          </p:cNvPr>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02D4F842-C84A-951F-8E20-69D9C73E8B4B}"/>
              </a:ext>
            </a:extLst>
          </p:cNvPr>
          <p:cNvSpPr/>
          <p:nvPr/>
        </p:nvSpPr>
        <p:spPr>
          <a:xfrm>
            <a:off x="853440" y="1584960"/>
            <a:ext cx="10485120" cy="731520"/>
          </a:xfrm>
          <a:prstGeom prst="rect">
            <a:avLst/>
          </a:prstGeom>
          <a:noFill/>
        </p:spPr>
        <p:txBody>
          <a:bodyPr wrap="square"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Q4：</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单卡训练吞吐低或 </a:t>
            </a:r>
            <a:r>
              <a:rPr kumimoji="0" lang="en-US" altLang="zh-CN"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loss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不稳定时，优先排查哪三类问题？</a:t>
            </a: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第一类是数据加载问题，例如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DataLoader</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workers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太少、数据读取速度慢，导致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等待数据；第二类是训练参数问题，例如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batch size</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、学习率、</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Warmup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设置不合理，可能导致吞吐低或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loss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波动；第三类是计算与环境问题，例如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AMP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是否正常启用、模型是否真正运行在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Host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侧调度或日志保存是否产生较大开销。</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2741339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D32BD-B070-51ED-06E6-C688473CCC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FE8D6B0-4A95-C614-CC0A-1FA97CA37284}"/>
              </a:ext>
            </a:extLst>
          </p:cNvPr>
          <p:cNvSpPr/>
          <p:nvPr/>
        </p:nvSpPr>
        <p:spPr>
          <a:xfrm>
            <a:off x="0" y="0"/>
            <a:ext cx="12192000" cy="146304"/>
          </a:xfrm>
          <a:prstGeom prst="rect">
            <a:avLst/>
          </a:prstGeom>
          <a:solidFill>
            <a:srgbClr val="27AE60"/>
          </a:solidFill>
        </p:spPr>
      </p:sp>
      <p:sp>
        <p:nvSpPr>
          <p:cNvPr id="3" name="Text 1">
            <a:extLst>
              <a:ext uri="{FF2B5EF4-FFF2-40B4-BE49-F238E27FC236}">
                <a16:creationId xmlns:a16="http://schemas.microsoft.com/office/drawing/2014/main" id="{782C7046-D358-890A-55FD-40960BA2946D}"/>
              </a:ext>
            </a:extLst>
          </p:cNvPr>
          <p:cNvSpPr/>
          <p:nvPr/>
        </p:nvSpPr>
        <p:spPr>
          <a:xfrm>
            <a:off x="731520" y="304800"/>
            <a:ext cx="10728960" cy="853440"/>
          </a:xfrm>
          <a:prstGeom prst="rect">
            <a:avLst/>
          </a:prstGeom>
          <a:noFill/>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课后习题</a:t>
            </a:r>
          </a:p>
        </p:txBody>
      </p:sp>
      <p:sp>
        <p:nvSpPr>
          <p:cNvPr id="4" name="Shape 2">
            <a:extLst>
              <a:ext uri="{FF2B5EF4-FFF2-40B4-BE49-F238E27FC236}">
                <a16:creationId xmlns:a16="http://schemas.microsoft.com/office/drawing/2014/main" id="{D59C369A-71E9-5617-1614-CDE51BC92959}"/>
              </a:ext>
            </a:extLst>
          </p:cNvPr>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0D6E872F-3F06-9764-B3A1-C427303900DA}"/>
              </a:ext>
            </a:extLst>
          </p:cNvPr>
          <p:cNvSpPr/>
          <p:nvPr/>
        </p:nvSpPr>
        <p:spPr>
          <a:xfrm>
            <a:off x="853440" y="1584960"/>
            <a:ext cx="10485120" cy="731520"/>
          </a:xfrm>
          <a:prstGeom prst="rect">
            <a:avLst/>
          </a:prstGeom>
          <a:noFill/>
        </p:spPr>
        <p:txBody>
          <a:bodyPr wrap="square"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Q5：Profiling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中 </a:t>
            </a: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step time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与 </a:t>
            </a: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kernel duration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为什么不能直接混用</a:t>
            </a: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因为两者统计口径不同。</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step time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是一个完整训练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step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的端到端时间，通常包含数据加载、</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Host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调度、前向计算、反向传播、优化器更新、同步和日志等开销；</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kernel duration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只表示某个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kernel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或算子在设备侧的实际执行时间。因此不能用某个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kernel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的耗时直接代表整个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step</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，也不能用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step time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判断某个具体算子的纯计算性能。</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2289157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2857B-2088-2CCA-6235-BC6641004B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FF66910-FE4E-C314-CAE4-F803F81C7D02}"/>
              </a:ext>
            </a:extLst>
          </p:cNvPr>
          <p:cNvSpPr/>
          <p:nvPr/>
        </p:nvSpPr>
        <p:spPr>
          <a:xfrm>
            <a:off x="0" y="0"/>
            <a:ext cx="12192000" cy="146304"/>
          </a:xfrm>
          <a:prstGeom prst="rect">
            <a:avLst/>
          </a:prstGeom>
          <a:solidFill>
            <a:srgbClr val="27AE60"/>
          </a:solidFill>
        </p:spPr>
      </p:sp>
      <p:sp>
        <p:nvSpPr>
          <p:cNvPr id="3" name="Text 1">
            <a:extLst>
              <a:ext uri="{FF2B5EF4-FFF2-40B4-BE49-F238E27FC236}">
                <a16:creationId xmlns:a16="http://schemas.microsoft.com/office/drawing/2014/main" id="{FAE56E38-D862-3269-D582-4EB3E7473387}"/>
              </a:ext>
            </a:extLst>
          </p:cNvPr>
          <p:cNvSpPr/>
          <p:nvPr/>
        </p:nvSpPr>
        <p:spPr>
          <a:xfrm>
            <a:off x="731520" y="304800"/>
            <a:ext cx="10728960" cy="853440"/>
          </a:xfrm>
          <a:prstGeom prst="rect">
            <a:avLst/>
          </a:prstGeom>
          <a:noFill/>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课后习题</a:t>
            </a:r>
          </a:p>
        </p:txBody>
      </p:sp>
      <p:sp>
        <p:nvSpPr>
          <p:cNvPr id="4" name="Shape 2">
            <a:extLst>
              <a:ext uri="{FF2B5EF4-FFF2-40B4-BE49-F238E27FC236}">
                <a16:creationId xmlns:a16="http://schemas.microsoft.com/office/drawing/2014/main" id="{F13A5FCE-F739-18B5-9092-D25E7F46147A}"/>
              </a:ext>
            </a:extLst>
          </p:cNvPr>
          <p:cNvSpPr/>
          <p:nvPr/>
        </p:nvSpPr>
        <p:spPr>
          <a:xfrm>
            <a:off x="755904" y="1194816"/>
            <a:ext cx="2682240" cy="60960"/>
          </a:xfrm>
          <a:prstGeom prst="rect">
            <a:avLst/>
          </a:prstGeom>
          <a:solidFill>
            <a:srgbClr val="E67E22"/>
          </a:solidFill>
        </p:spPr>
      </p:sp>
      <p:sp>
        <p:nvSpPr>
          <p:cNvPr id="5" name="Text 3">
            <a:extLst>
              <a:ext uri="{FF2B5EF4-FFF2-40B4-BE49-F238E27FC236}">
                <a16:creationId xmlns:a16="http://schemas.microsoft.com/office/drawing/2014/main" id="{6886CA1A-CED7-62AA-5456-C3964D44EA68}"/>
              </a:ext>
            </a:extLst>
          </p:cNvPr>
          <p:cNvSpPr/>
          <p:nvPr/>
        </p:nvSpPr>
        <p:spPr>
          <a:xfrm>
            <a:off x="853440" y="1584960"/>
            <a:ext cx="10485120" cy="731520"/>
          </a:xfrm>
          <a:prstGeom prst="rect">
            <a:avLst/>
          </a:prstGeom>
          <a:noFill/>
        </p:spPr>
        <p:txBody>
          <a:bodyPr wrap="square"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Q6</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（拓展）</a:t>
            </a: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如果扩展到多卡 </a:t>
            </a: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DDP，</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需要额外关注 </a:t>
            </a:r>
            <a:r>
              <a:rPr kumimoji="0" lang="en-US" sz="2135" b="1"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rank、world_size</a:t>
            </a: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和 </a:t>
            </a:r>
            <a:r>
              <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HCCL </a:t>
            </a:r>
            <a:r>
              <a:rPr kumimoji="0" lang="zh-CN" alt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的哪些信息？</a:t>
            </a: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135" b="1"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rank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表示每个训练进程的全局编号，</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world_size</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表示参与训练的总进程数，通常每张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对应一个进程；还需要关注 </a:t>
            </a:r>
            <a:r>
              <a:rPr kumimoji="0" lang="en-US" altLang="zh-CN" sz="2400" b="0" i="0" u="none" strike="noStrike" kern="1200" cap="none" spc="0" normalizeH="0" baseline="0" noProof="0" dirty="0" err="1">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local_rank</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与本机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NPU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的绑定关系。</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HCCL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负责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Ascend NPU </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之间的集合通信和梯度同步，因此需要确保通信后端设置为 </a:t>
            </a:r>
            <a:r>
              <a:rPr kumimoji="0" lang="en-US" altLang="zh-CN"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HCCL</a:t>
            </a:r>
            <a:r>
              <a:rPr kumimoji="0" lang="zh-CN" altLang="en-US" sz="2400" b="0" i="0" u="none" strike="noStrike" kern="1200" cap="none" spc="0" normalizeH="0" baseline="0" noProof="0" dirty="0">
                <a:ln>
                  <a:noFill/>
                </a:ln>
                <a:solidFill>
                  <a:srgbClr val="2C3E50"/>
                </a:solidFill>
                <a:effectLst/>
                <a:uLnTx/>
                <a:uFillTx/>
                <a:latin typeface="微软雅黑" panose="020B0503020204020204" pitchFamily="34" charset="-122"/>
                <a:ea typeface="微软雅黑" panose="020B0503020204020204" pitchFamily="34" charset="-122"/>
                <a:cs typeface="微软雅黑" panose="020B0503020204020204" pitchFamily="34" charset="-120"/>
              </a:rPr>
              <a:t>、各进程能够正确加入通信组，并检查是否存在通信初始化失败、梯度同步等待或通信开销过大的问题。</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1583459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174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2210">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2394</Words>
  <Application>Microsoft Office PowerPoint</Application>
  <DocSecurity>0</DocSecurity>
  <PresentationFormat>宽屏</PresentationFormat>
  <Paragraphs>228</Paragraphs>
  <Slides>29</Slides>
  <Notes>29</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29</vt:i4>
      </vt:variant>
    </vt:vector>
  </HeadingPairs>
  <TitlesOfParts>
    <vt:vector size="40" baseType="lpstr">
      <vt:lpstr>Huawei Sans</vt:lpstr>
      <vt:lpstr>方正兰亭黑简体</vt:lpstr>
      <vt:lpstr>微软雅黑</vt:lpstr>
      <vt:lpstr>微软雅黑</vt:lpstr>
      <vt:lpstr>Arial</vt:lpstr>
      <vt:lpstr>Consolas</vt:lpstr>
      <vt:lpstr>Wingdings</vt:lpstr>
      <vt:lpstr>Office Theme</vt:lpstr>
      <vt:lpstr>5_感谢页模板</vt:lpstr>
      <vt:lpstr>3_功能页模板</vt:lpstr>
      <vt:lpstr>4_内容页模板</vt:lpstr>
      <vt:lpstr>YOLO 单卡训练与性能调优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岚禹 张</cp:lastModifiedBy>
  <cp:revision>10</cp:revision>
  <dcterms:created xsi:type="dcterms:W3CDTF">2026-08-12T06:18:21Z</dcterms:created>
  <dcterms:modified xsi:type="dcterms:W3CDTF">2026-08-20T12:21:32Z</dcterms:modified>
</cp:coreProperties>
</file>