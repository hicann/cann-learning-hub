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50" r:id="rId3"/>
    <p:sldMasterId id="2147483661" r:id="rId4"/>
    <p:sldMasterId id="2147483669" r:id="rId5"/>
  </p:sldMasterIdLst>
  <p:notesMasterIdLst>
    <p:notesMasterId r:id="rId7"/>
  </p:notesMasterIdLst>
  <p:handoutMasterIdLst>
    <p:handoutMasterId r:id="rId36"/>
  </p:handoutMasterIdLst>
  <p:sldIdLst>
    <p:sldId id="308" r:id="rId6"/>
    <p:sldId id="309" r:id="rId8"/>
    <p:sldId id="261" r:id="rId9"/>
    <p:sldId id="310" r:id="rId10"/>
    <p:sldId id="311" r:id="rId11"/>
    <p:sldId id="312" r:id="rId12"/>
    <p:sldId id="332" r:id="rId13"/>
    <p:sldId id="314" r:id="rId14"/>
    <p:sldId id="315" r:id="rId15"/>
    <p:sldId id="316" r:id="rId16"/>
    <p:sldId id="317" r:id="rId17"/>
    <p:sldId id="340" r:id="rId18"/>
    <p:sldId id="341" r:id="rId19"/>
    <p:sldId id="339" r:id="rId20"/>
    <p:sldId id="333" r:id="rId21"/>
    <p:sldId id="342" r:id="rId22"/>
    <p:sldId id="343" r:id="rId23"/>
    <p:sldId id="344" r:id="rId24"/>
    <p:sldId id="345" r:id="rId25"/>
    <p:sldId id="346" r:id="rId26"/>
    <p:sldId id="347" r:id="rId27"/>
    <p:sldId id="334" r:id="rId28"/>
    <p:sldId id="329" r:id="rId29"/>
    <p:sldId id="335" r:id="rId30"/>
    <p:sldId id="331" r:id="rId31"/>
    <p:sldId id="348" r:id="rId32"/>
    <p:sldId id="349" r:id="rId33"/>
    <p:sldId id="350" r:id="rId34"/>
    <p:sldId id="270" r:id="rId3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5" userDrawn="1">
          <p15:clr>
            <a:srgbClr val="A4A3A4"/>
          </p15:clr>
        </p15:guide>
        <p15:guide id="4" orient="horz" pos="22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000B"/>
    <a:srgbClr val="ADCDEA"/>
    <a:srgbClr val="404040"/>
    <a:srgbClr val="EBEBEB"/>
    <a:srgbClr val="151515"/>
    <a:srgbClr val="575756"/>
    <a:srgbClr val="FFFFFF"/>
    <a:srgbClr val="DD4654"/>
    <a:srgbClr val="F3D2D5"/>
    <a:srgbClr val="E6A8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91"/>
  </p:normalViewPr>
  <p:slideViewPr>
    <p:cSldViewPr snapToGrid="0" snapToObjects="1" showGuides="1">
      <p:cViewPr varScale="1">
        <p:scale>
          <a:sx n="65" d="100"/>
          <a:sy n="65" d="100"/>
        </p:scale>
        <p:origin x="556" y="60"/>
      </p:cViewPr>
      <p:guideLst>
        <p:guide pos="3845"/>
        <p:guide orient="horz" pos="223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49" d="100"/>
          <a:sy n="49" d="100"/>
        </p:scale>
        <p:origin x="2716" y="44"/>
      </p:cViewPr>
      <p:guideLst>
        <p:guide orient="horz"/>
        <p:guide pos="2211"/>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2" Type="http://schemas.openxmlformats.org/officeDocument/2006/relationships/customXml" Target="../customXml/item3.xml"/><Relationship Id="rId41" Type="http://schemas.openxmlformats.org/officeDocument/2006/relationships/customXml" Target="../customXml/item2.xml"/><Relationship Id="rId40" Type="http://schemas.openxmlformats.org/officeDocument/2006/relationships/customXml" Target="../customXml/item1.xml"/><Relationship Id="rId4" Type="http://schemas.openxmlformats.org/officeDocument/2006/relationships/slideMaster" Target="slideMasters/slideMaster3.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fld>
            <a:endParaRPr lang="en-US" dirty="0">
              <a:latin typeface="Huawei Sans" panose="020C0503030203020204" pitchFamily="34" charset="0"/>
            </a:endParaRPr>
          </a:p>
        </p:txBody>
      </p:sp>
      <p:sp>
        <p:nvSpPr>
          <p:cNvPr id="4" name="Footer Placeholder 3"/>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fld>
            <a:endParaRPr lang="en-US" dirty="0">
              <a:latin typeface="Huawei Sans" panose="020C0503030203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 bg1="lt1" tx1="dk1" bg2="lt2" tx2="dk2" accent1="accent1" accent2="accent2" accent3="accent3" accent4="accent4" accent5="accent5" accent6="accent6" hlink="hlink" folHlink="folHlink"/>
  <p:notesStyle>
    <a:lvl1pPr marL="179705" indent="-179705" algn="l" defTabSz="1219200"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39750" indent="-179705" algn="l" defTabSz="1219200"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899795" indent="-179705" algn="l" defTabSz="1219200"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59840"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19885"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添加页码</a:t>
            </a:r>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ea typeface="微软雅黑" panose="020B0503020204020204" pitchFamily="34" charset="-122"/>
              </a:rPr>
            </a:fld>
            <a:endParaRPr lang="en-US">
              <a:latin typeface="Arial" panose="020B0604020202020204" pitchFamily="34" charset="0"/>
              <a:ea typeface="微软雅黑"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攀登">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0" y="0"/>
            <a:ext cx="12187239"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5817" y="562718"/>
            <a:ext cx="1068804" cy="1025944"/>
          </a:xfrm>
          <a:prstGeom prst="rect">
            <a:avLst/>
          </a:prstGeom>
        </p:spPr>
      </p:pic>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5817" y="562718"/>
            <a:ext cx="1067056" cy="1026710"/>
          </a:xfrm>
          <a:prstGeom prst="rect">
            <a:avLst/>
          </a:prstGeom>
          <a:noFill/>
          <a:ln>
            <a:noFill/>
          </a:ln>
        </p:spPr>
      </p:pic>
      <p:sp>
        <p:nvSpPr>
          <p:cNvPr id="5" name="Title 1"/>
          <p:cNvSpPr>
            <a:spLocks noGrp="1"/>
          </p:cNvSpPr>
          <p:nvPr>
            <p:ph type="ctrTitle" hasCustomPrompt="1"/>
          </p:nvPr>
        </p:nvSpPr>
        <p:spPr>
          <a:xfrm>
            <a:off x="665818" y="2738746"/>
            <a:ext cx="6557247" cy="690255"/>
          </a:xfrm>
          <a:prstGeom prst="rect">
            <a:avLst/>
          </a:prstGeom>
          <a:ln>
            <a:noFill/>
            <a:prstDash val="dash"/>
          </a:ln>
        </p:spPr>
        <p:txBody>
          <a:bodyPr lIns="0" tIns="0" rIns="0" bIns="0" anchor="t">
            <a:normAutofit/>
          </a:bodyPr>
          <a:lstStyle>
            <a:lvl1pPr algn="l">
              <a:lnSpc>
                <a:spcPct val="100000"/>
              </a:lnSpc>
              <a:defRPr sz="48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gridCol w="1967450"/>
                <a:gridCol w="3023155"/>
                <a:gridCol w="2084624"/>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gridCol w="1967450"/>
                <a:gridCol w="3023155"/>
                <a:gridCol w="2067692"/>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endParaRPr lang="zh-CN" altLang="en-US" dirty="0"/>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endParaRPr lang="zh-CN" altLang="en-US" dirty="0"/>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endParaRPr lang="zh-CN" altLang="en-US" dirty="0"/>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ln>
        </p:spPr>
        <p:txBody>
          <a:bodyPr lIns="78227" tIns="39112" rIns="78227" bIns="39112" anchor="ctr"/>
          <a:lstStyle/>
          <a:p>
            <a:pPr algn="l" defTabSz="1001395" rtl="0" eaLnBrk="0" fontAlgn="ctr" hangingPunct="0">
              <a:spcBef>
                <a:spcPct val="0"/>
              </a:spcBef>
              <a:spcAft>
                <a:spcPct val="0"/>
              </a:spcAft>
            </a:pPr>
            <a:r>
              <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endPar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ln>
        </p:spPr>
        <p:txBody>
          <a:bodyPr wrap="square">
            <a:spAutoFit/>
          </a:bodyPr>
          <a:lstStyle/>
          <a:p>
            <a:pPr fontAlgn="ctr">
              <a:spcBef>
                <a:spcPct val="50000"/>
              </a:spcBef>
            </a:pPr>
            <a:r>
              <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endPar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17614"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前言</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20820"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200" marR="0" indent="-457200" algn="just" defTabSz="801370" rtl="0" eaLnBrk="1" fontAlgn="ctr" latinLnBrk="0" hangingPunct="1">
              <a:lnSpc>
                <a:spcPct val="140000"/>
              </a:lnSpc>
              <a:spcBef>
                <a:spcPct val="30000"/>
              </a:spcBef>
              <a:spcAft>
                <a:spcPct val="0"/>
              </a:spcAft>
              <a:buClrTx/>
              <a:buSzPct val="100000"/>
              <a:buFont typeface="+mj-lt"/>
              <a:buAutoNum type="arabicPeriod"/>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4050" lvl="1" indent="-457200">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p:cNvSpPr txBox="1"/>
          <p:nvPr userDrawn="1"/>
        </p:nvSpPr>
        <p:spPr>
          <a:xfrm>
            <a:off x="918916" y="630373"/>
            <a:ext cx="1147485" cy="653509"/>
          </a:xfrm>
          <a:prstGeom prst="rect">
            <a:avLst/>
          </a:prstGeom>
          <a:noFill/>
        </p:spPr>
        <p:txBody>
          <a:bodyPr wrap="none" rtlCol="0">
            <a:spAutoFit/>
          </a:bodyPr>
          <a:lstStyle>
            <a:defPPr>
              <a:defRPr lang="en-US"/>
            </a:defPPr>
            <a:lvl1pPr defTabSz="1001395"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4397358"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2005" rtl="0" eaLnBrk="1" fontAlgn="ctr" latinLnBrk="0" hangingPunct="1">
              <a:lnSpc>
                <a:spcPct val="140000"/>
              </a:lnSpc>
              <a:spcBef>
                <a:spcPct val="30000"/>
              </a:spcBef>
              <a:spcAft>
                <a:spcPct val="0"/>
              </a:spcAft>
              <a:buClr>
                <a:schemeClr val="tx1"/>
              </a:buClr>
              <a:buSzPct val="100000"/>
              <a:buFont typeface="+mj-lt"/>
              <a:buAutoNum type="arabicPeriod"/>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220"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此版式用于思考题具体格式</a:t>
            </a:r>
            <a:endParaRPr lang="en-US" altLang="zh-CN" dirty="0"/>
          </a:p>
        </p:txBody>
      </p:sp>
      <p:cxnSp>
        <p:nvCxnSpPr>
          <p:cNvPr id="24" name="直线连接符 14"/>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p:cNvSpPr txBox="1"/>
          <p:nvPr userDrawn="1"/>
        </p:nvSpPr>
        <p:spPr>
          <a:xfrm>
            <a:off x="918916" y="630373"/>
            <a:ext cx="1584088"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思考题</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11"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本节小结</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9"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本章总结</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endParaRPr lang="zh-CN" altLang="en-US" dirty="0"/>
          </a:p>
        </p:txBody>
      </p:sp>
      <p:cxnSp>
        <p:nvCxnSpPr>
          <p:cNvPr id="12"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更多信息</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学习推荐</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200" marR="0" indent="-457200" algn="just" defTabSz="801370" rtl="0" eaLnBrk="1" fontAlgn="ctr" latinLnBrk="0" hangingPunct="1">
              <a:lnSpc>
                <a:spcPct val="140000"/>
              </a:lnSpc>
              <a:spcBef>
                <a:spcPct val="30000"/>
              </a:spcBef>
              <a:spcAft>
                <a:spcPct val="0"/>
              </a:spcAft>
              <a:buClrTx/>
              <a:buSzPct val="100000"/>
              <a:buFont typeface="+mj-lt"/>
              <a:buAutoNum type="arabicPeriod"/>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4050" lvl="1" indent="-457200">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p:cNvSpPr txBox="1"/>
          <p:nvPr userDrawn="1"/>
        </p:nvSpPr>
        <p:spPr>
          <a:xfrm>
            <a:off x="918916" y="630373"/>
            <a:ext cx="1147485" cy="653509"/>
          </a:xfrm>
          <a:prstGeom prst="rect">
            <a:avLst/>
          </a:prstGeom>
          <a:noFill/>
        </p:spPr>
        <p:txBody>
          <a:bodyPr wrap="none" rtlCol="0">
            <a:spAutoFit/>
          </a:bodyPr>
          <a:lstStyle>
            <a:defPPr>
              <a:defRPr lang="en-US"/>
            </a:defPPr>
            <a:lvl1pPr defTabSz="1001395"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p:cNvSpPr txBox="1"/>
          <p:nvPr userDrawn="1"/>
        </p:nvSpPr>
        <p:spPr>
          <a:xfrm>
            <a:off x="607486" y="1402064"/>
            <a:ext cx="3921034" cy="854717"/>
          </a:xfrm>
          <a:prstGeom prst="rect">
            <a:avLst/>
          </a:prstGeom>
          <a:noFill/>
        </p:spPr>
        <p:txBody>
          <a:bodyPr wrap="square" rtlCol="0">
            <a:spAutoFit/>
          </a:bodyPr>
          <a:lstStyle/>
          <a:p>
            <a:pPr algn="l"/>
            <a:r>
              <a:rPr lang="en-US" sz="4940" baseline="0" dirty="0">
                <a:solidFill>
                  <a:schemeClr val="tx1"/>
                </a:solidFill>
                <a:latin typeface="Huawei Sans" panose="020C0503030203020204" pitchFamily="34" charset="0"/>
                <a:ea typeface="方正兰亭黑简体" panose="02000000000000000000" pitchFamily="2" charset="-122"/>
              </a:rPr>
              <a:t>Thank you.</a:t>
            </a:r>
            <a:endParaRPr lang="en-US" sz="4940" baseline="0" dirty="0">
              <a:solidFill>
                <a:schemeClr val="tx1"/>
              </a:solidFill>
              <a:latin typeface="Huawei Sans" panose="020C0503030203020204" pitchFamily="34" charset="0"/>
              <a:ea typeface="方正兰亭黑简体" panose="02000000000000000000"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image" Target="../media/image4.png"/><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0" name="Group 87"/>
          <p:cNvGrpSpPr>
            <a:grpSpLocks noChangeAspect="1"/>
          </p:cNvGrpSpPr>
          <p:nvPr userDrawn="1"/>
        </p:nvGrpSpPr>
        <p:grpSpPr>
          <a:xfrm>
            <a:off x="12290471" y="2625389"/>
            <a:ext cx="1963323" cy="4233515"/>
            <a:chOff x="5343885" y="-48857"/>
            <a:chExt cx="3263586" cy="7037279"/>
          </a:xfrm>
        </p:grpSpPr>
        <p:sp>
          <p:nvSpPr>
            <p:cNvPr id="31"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2"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3"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5"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7"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8"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9"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40"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5"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6"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7"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8"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9"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0"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1"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52"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3"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4"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5"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6"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7"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8"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9"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0"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1"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2"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3"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4"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9"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7" name="Group 87"/>
          <p:cNvGrpSpPr>
            <a:grpSpLocks noChangeAspect="1"/>
          </p:cNvGrpSpPr>
          <p:nvPr userDrawn="1"/>
        </p:nvGrpSpPr>
        <p:grpSpPr>
          <a:xfrm>
            <a:off x="12290471" y="2625389"/>
            <a:ext cx="1963323" cy="4233515"/>
            <a:chOff x="5343885" y="-48857"/>
            <a:chExt cx="3263586" cy="7037279"/>
          </a:xfrm>
        </p:grpSpPr>
        <p:sp>
          <p:nvSpPr>
            <p:cNvPr id="28"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29"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0"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1"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2"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3"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7"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8"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9"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0"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9"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1"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2"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3"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4"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5"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6"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7"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8"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9"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0"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1"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2"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3"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4"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5"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6"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7"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txStyles>
    <p:titleStyle>
      <a:lvl1pPr algn="l" defTabSz="913765"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Lst>
  <p:txStyles>
    <p:title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4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190/23/238</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35/24/21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grpSp>
      <p:sp>
        <p:nvSpPr>
          <p:cNvPr id="70" name="Title Placeholder 1"/>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71"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Huawei Sans" panose="020C0503030203020204" pitchFamily="34" charset="0"/>
                <a:ea typeface="方正兰亭黑简体" panose="02000000000000000000" pitchFamily="2" charset="-122"/>
              </a:rPr>
              <a:t>Copyright©2026 Huawei Technologies Co., Ltd.</a:t>
            </a:r>
            <a:br>
              <a:rPr kumimoji="1" lang="en-US" altLang="zh-CN" sz="850" b="1" baseline="0" dirty="0">
                <a:solidFill>
                  <a:srgbClr val="1D1D1B"/>
                </a:solidFill>
                <a:latin typeface="Huawei Sans" panose="020C0503030203020204" pitchFamily="34" charset="0"/>
                <a:ea typeface="方正兰亭黑简体" panose="02000000000000000000" pitchFamily="2" charset="-122"/>
              </a:rPr>
            </a:br>
            <a:r>
              <a:rPr kumimoji="1" lang="en-US" altLang="zh-CN" sz="850" b="1" baseline="0" dirty="0">
                <a:solidFill>
                  <a:srgbClr val="1D1D1B"/>
                </a:solidFill>
                <a:latin typeface="Huawei Sans" panose="020C0503030203020204" pitchFamily="34" charset="0"/>
                <a:ea typeface="方正兰亭黑简体" panose="02000000000000000000" pitchFamily="2" charset="-122"/>
              </a:rPr>
              <a:t>All Rights Reserved.</a:t>
            </a:r>
            <a:br>
              <a:rPr kumimoji="1" lang="en-US" altLang="zh-CN" sz="780" dirty="0">
                <a:solidFill>
                  <a:srgbClr val="1D1D1B"/>
                </a:solidFill>
                <a:latin typeface="+mn-lt"/>
              </a:rPr>
            </a:br>
            <a:br>
              <a:rPr kumimoji="1" lang="en-US" altLang="zh-CN" sz="780" dirty="0">
                <a:solidFill>
                  <a:srgbClr val="1D1D1B"/>
                </a:solidFill>
                <a:latin typeface="+mn-lt"/>
              </a:rPr>
            </a:br>
            <a:r>
              <a:rPr kumimoji="1" lang="en-US" altLang="zh-CN" sz="85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1" lang="en-US" altLang="zh-CN" sz="85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endParaRPr>
          </a:p>
          <a:p>
            <a:pPr>
              <a:lnSpc>
                <a:spcPts val="1065"/>
              </a:lnSpc>
            </a:pPr>
            <a:endParaRPr kumimoji="1" lang="zh-CN" altLang="en-US" sz="780" dirty="0">
              <a:solidFill>
                <a:srgbClr val="1D1D1B"/>
              </a:solidFill>
              <a:latin typeface="+mn-lt"/>
            </a:endParaRPr>
          </a:p>
        </p:txBody>
      </p:sp>
      <p:sp>
        <p:nvSpPr>
          <p:cNvPr id="72"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rPr>
              <a:t>把数字世界带入每个人、每个家庭、</a:t>
            </a:r>
            <a:br>
              <a:rPr kumimoji="1" lang="en-US" altLang="zh-CN"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rPr>
            </a:br>
            <a:r>
              <a:rPr kumimoji="1" lang="zh-CN" altLang="en-US"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rPr>
              <a:t>每个组织，构建万物互联的智能世界。</a:t>
            </a:r>
            <a:endParaRPr kumimoji="1" lang="zh-CN" altLang="en-US"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
        <p:nvSpPr>
          <p:cNvPr id="73"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Bring digital to every person, home, and </a:t>
            </a:r>
            <a:b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br>
            <a: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organization for a fully connected, </a:t>
            </a:r>
            <a:b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br>
            <a: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intelligent world.</a:t>
            </a:r>
            <a:endParaRPr kumimoji="1" lang="zh-CN" altLang="en-US" sz="12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endParaRPr>
          </a:p>
        </p:txBody>
      </p:sp>
      <p:pic>
        <p:nvPicPr>
          <p:cNvPr id="74" name="图片 7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cSld>
  <p:clrMap bg1="lt1" tx1="dk1" bg2="lt2" tx2="dk2" accent1="accent1" accent2="accent2" accent3="accent3" accent4="accent4" accent5="accent5" accent6="accent6" hlink="hlink" folHlink="folHlink"/>
  <p:sldLayoutIdLst>
    <p:sldLayoutId id="2147483670" r:id="rId1"/>
  </p:sldLayoutIdLst>
  <p:hf hdr="0" ftr="0" dt="0"/>
  <p:txStyles>
    <p:titleStyle>
      <a:lvl1pPr algn="l" defTabSz="1187450" rtl="0" eaLnBrk="1" latinLnBrk="0" hangingPunct="1">
        <a:lnSpc>
          <a:spcPct val="90000"/>
        </a:lnSpc>
        <a:spcBef>
          <a:spcPct val="0"/>
        </a:spcBef>
        <a:buNone/>
        <a:defRPr sz="5000"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450" rtl="0" eaLnBrk="1" latinLnBrk="0" hangingPunct="1">
        <a:lnSpc>
          <a:spcPct val="90000"/>
        </a:lnSpc>
        <a:spcBef>
          <a:spcPts val="1300"/>
        </a:spcBef>
        <a:buFont typeface="Arial" panose="020B0604020202020204" pitchFamily="34" charset="0"/>
        <a:buNone/>
        <a:defRPr sz="1820" kern="1200">
          <a:solidFill>
            <a:srgbClr val="FFFFFF"/>
          </a:solidFill>
          <a:latin typeface="微软雅黑" panose="020B0503020204020204" pitchFamily="34" charset="-122"/>
          <a:ea typeface="微软雅黑" panose="020B0503020204020204" pitchFamily="34" charset="-122"/>
          <a:cs typeface="+mn-cs"/>
        </a:defRPr>
      </a:lvl1pPr>
      <a:lvl2pPr marL="593725" indent="0" algn="l" defTabSz="1187450" rtl="0" eaLnBrk="1" latinLnBrk="0" hangingPunct="1">
        <a:lnSpc>
          <a:spcPct val="90000"/>
        </a:lnSpc>
        <a:spcBef>
          <a:spcPts val="650"/>
        </a:spcBef>
        <a:buFont typeface="Arial" panose="020B0604020202020204" pitchFamily="34" charset="0"/>
        <a:buNone/>
        <a:defRPr sz="3115" kern="1200">
          <a:solidFill>
            <a:schemeClr val="tx1"/>
          </a:solidFill>
          <a:latin typeface="+mn-lt"/>
          <a:ea typeface="+mn-ea"/>
          <a:cs typeface="+mn-cs"/>
        </a:defRPr>
      </a:lvl2pPr>
      <a:lvl3pPr marL="1187450" indent="0" algn="l"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3pPr>
      <a:lvl4pPr marL="1781175"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4pPr>
      <a:lvl5pPr marL="2374900"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7.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7.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7.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61672" y="3446033"/>
            <a:ext cx="2550356" cy="0"/>
          </a:xfrm>
          <a:prstGeom prst="line">
            <a:avLst/>
          </a:prstGeom>
          <a:ln w="25400">
            <a:solidFill>
              <a:srgbClr val="E9002F"/>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ctrTitle"/>
          </p:nvPr>
        </p:nvSpPr>
        <p:spPr>
          <a:xfrm>
            <a:off x="661670" y="2537460"/>
            <a:ext cx="8903335" cy="690245"/>
          </a:xfrm>
        </p:spPr>
        <p:txBody>
          <a:bodyPr>
            <a:normAutofit fontScale="90000"/>
          </a:bodyPr>
          <a:lstStyle/>
          <a:p>
            <a:r>
              <a:rPr lang="en-US" dirty="0">
                <a:solidFill>
                  <a:srgbClr val="595959"/>
                </a:solidFill>
                <a:cs typeface="微软雅黑" panose="020B0503020204020204" pitchFamily="34" charset="-120"/>
                <a:sym typeface="+mn-ea"/>
              </a:rPr>
              <a:t>算子优化实验 · Conv+BN 算子融合</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配置</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算子与优化</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原理介绍</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sym typeface="+mn-ea"/>
              </a:rPr>
              <a:t>课后习题</a:t>
            </a:r>
            <a:endParaRPr lang="en-US" dirty="0">
              <a:solidFill>
                <a:schemeClr val="bg1">
                  <a:lumMod val="75000"/>
                </a:schemeClr>
              </a:solidFill>
            </a:endParaRPr>
          </a:p>
          <a:p>
            <a:endParaRPr lang="en-US" dirty="0"/>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rPr>
              <a:t>深度学习模型最终编译成一系列算子在硬件上执行，算子实现直接影响时延、显存和硬件利用率。</a:t>
            </a:r>
            <a:endParaRPr lang="en-US" dirty="0"/>
          </a:p>
          <a:p>
            <a:r>
              <a:rPr lang="en-US"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rPr>
              <a:t>本实验只优化一个算子：MobileNetV3 中的 Conv2d + BatchNorm2d。通过 BN 折叠把 BatchNorm 折进卷积权重，推理时每个 Conv+BN 对只执行一次卷积。</a:t>
            </a:r>
            <a:endParaRPr lang="en-US" dirty="0"/>
          </a:p>
          <a:p>
            <a:r>
              <a:rPr 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实验按「定位算子 → 分析原理 → 优化前基线 → 实施优化 → 优化后对比」完整展开。</a:t>
            </a:r>
            <a:endParaRPr lang="en-US" dirty="0">
              <a:solidFill>
                <a:schemeClr val="tx1"/>
              </a:solidFill>
            </a:endParaRPr>
          </a:p>
          <a:p>
            <a:endParaRPr lang="en-US"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3108" y="274320"/>
            <a:ext cx="10058400" cy="640080"/>
          </a:xfrm>
          <a:prstGeom prst="rect">
            <a:avLst/>
          </a:prstGeom>
          <a:noFill/>
        </p:spPr>
        <p:txBody>
          <a:bodyPr wrap="square" rtlCol="0" anchor="ctr"/>
          <a:lstStyle/>
          <a:p>
            <a:pPr marL="0" indent="0">
              <a:buNone/>
            </a:pPr>
            <a:endParaRPr lang="en-US" sz="2400" dirty="0"/>
          </a:p>
        </p:txBody>
      </p:sp>
      <p:sp>
        <p:nvSpPr>
          <p:cNvPr id="4" name="Shape 2"/>
          <p:cNvSpPr/>
          <p:nvPr/>
        </p:nvSpPr>
        <p:spPr>
          <a:xfrm>
            <a:off x="733108" y="1234440"/>
            <a:ext cx="10515600" cy="27432"/>
          </a:xfrm>
          <a:prstGeom prst="rect">
            <a:avLst/>
          </a:prstGeom>
          <a:solidFill>
            <a:srgbClr val="0072C6"/>
          </a:solidFill>
        </p:spPr>
      </p:sp>
      <p:sp>
        <p:nvSpPr>
          <p:cNvPr id="5" name="Text 3"/>
          <p:cNvSpPr/>
          <p:nvPr/>
        </p:nvSpPr>
        <p:spPr>
          <a:xfrm>
            <a:off x="733108" y="1463040"/>
            <a:ext cx="10515600" cy="4754880"/>
          </a:xfrm>
          <a:prstGeom prst="rect">
            <a:avLst/>
          </a:prstGeom>
          <a:noFill/>
        </p:spPr>
        <p:txBody>
          <a:bodyPr wrap="square" rtlCol="0" anchor="t"/>
          <a:lstStyle/>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完成本课程后，你应当能：</a:t>
            </a:r>
            <a:endParaRPr lang="en-US" sz="1600" dirty="0"/>
          </a:p>
          <a:p>
            <a:pPr marL="0" indent="0">
              <a:lnSpc>
                <a:spcPct val="150000"/>
              </a:lnSpc>
              <a:buNone/>
            </a:pP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1） </a:t>
            </a:r>
            <a:r>
              <a:rPr lang="en-US" sz="16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rPr>
              <a:t>理解常见算子优化方法：融合、Tiling、低精度、内存复用</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2） </a:t>
            </a:r>
            <a:r>
              <a:rPr lang="en-US" sz="16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rPr>
              <a:t>在 MobileNetV3 中定位所有 Conv+BN 算子对，推导 BN 折叠公式</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3） </a:t>
            </a:r>
            <a:r>
              <a:rPr lang="en-US" sz="16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rPr>
              <a:t>实现 fuse_conv_bn_eval 与 fuse_model，验证融合前后输出一致</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4） </a:t>
            </a:r>
            <a:r>
              <a:rPr lang="en-US" sz="16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rPr>
              <a:t>理解昇腾 CANN / ATC 图编译阶段的算子融合思路</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5） </a:t>
            </a:r>
            <a:r>
              <a:rPr lang="en-US" sz="16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rPr>
              <a:t>能把 Conv+BN 融合方法推广到其他模型和算子</a:t>
            </a:r>
            <a:endParaRPr lang="en-US" sz="1600" dirty="0"/>
          </a:p>
          <a:p>
            <a:pPr marL="0" indent="0">
              <a:lnSpc>
                <a:spcPct val="150000"/>
              </a:lnSpc>
              <a:buNone/>
            </a:pP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配置</a:t>
            </a:r>
            <a:endPar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算子与优化</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原理介绍</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sym typeface="+mn-ea"/>
              </a:rPr>
              <a:t>课后习题</a:t>
            </a:r>
            <a:endParaRPr lang="en-US" dirty="0">
              <a:solidFill>
                <a:schemeClr val="bg1">
                  <a:lumMod val="75000"/>
                </a:schemeClr>
              </a:solidFill>
            </a:endParaRPr>
          </a:p>
          <a:p>
            <a:endParaRPr lang="en-US" dirty="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实验环境-硬件要求</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1097280" y="1706880"/>
            <a:ext cx="3048000" cy="1219200"/>
          </a:xfrm>
          <a:prstGeom prst="roundRect">
            <a:avLst>
              <a:gd name="adj" fmla="val 8000"/>
            </a:avLst>
          </a:prstGeom>
          <a:solidFill>
            <a:srgbClr val="1F4E79"/>
          </a:solidFill>
          <a:ln w="12700">
            <a:solidFill>
              <a:srgbClr val="FFFFFF"/>
            </a:solidFill>
            <a:prstDash val="solid"/>
          </a:ln>
        </p:spPr>
      </p:sp>
      <p:sp>
        <p:nvSpPr>
          <p:cNvPr id="6" name="Text 4"/>
          <p:cNvSpPr/>
          <p:nvPr/>
        </p:nvSpPr>
        <p:spPr>
          <a:xfrm>
            <a:off x="1158240" y="1706880"/>
            <a:ext cx="2926080" cy="12192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Ascend NPU</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910B3 32GB HBM</a:t>
            </a:r>
            <a:endParaRPr lang="en-US" sz="2135" dirty="0"/>
          </a:p>
        </p:txBody>
      </p:sp>
      <p:sp>
        <p:nvSpPr>
          <p:cNvPr id="7" name="Shape 5"/>
          <p:cNvSpPr/>
          <p:nvPr/>
        </p:nvSpPr>
        <p:spPr>
          <a:xfrm>
            <a:off x="4572000" y="1706880"/>
            <a:ext cx="3048000" cy="1219200"/>
          </a:xfrm>
          <a:prstGeom prst="roundRect">
            <a:avLst>
              <a:gd name="adj" fmla="val 8000"/>
            </a:avLst>
          </a:prstGeom>
          <a:solidFill>
            <a:srgbClr val="2E86AB"/>
          </a:solidFill>
          <a:ln w="12700">
            <a:solidFill>
              <a:srgbClr val="FFFFFF"/>
            </a:solidFill>
            <a:prstDash val="solid"/>
          </a:ln>
        </p:spPr>
      </p:sp>
      <p:sp>
        <p:nvSpPr>
          <p:cNvPr id="8" name="Text 6"/>
          <p:cNvSpPr/>
          <p:nvPr/>
        </p:nvSpPr>
        <p:spPr>
          <a:xfrm>
            <a:off x="4632960" y="1706880"/>
            <a:ext cx="2926080" cy="12192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CPU</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8 核以上</a:t>
            </a:r>
            <a:endParaRPr lang="en-US" sz="2135" dirty="0"/>
          </a:p>
        </p:txBody>
      </p:sp>
      <p:sp>
        <p:nvSpPr>
          <p:cNvPr id="9" name="Shape 7"/>
          <p:cNvSpPr/>
          <p:nvPr/>
        </p:nvSpPr>
        <p:spPr>
          <a:xfrm>
            <a:off x="8046720" y="1706880"/>
            <a:ext cx="3048000" cy="1219200"/>
          </a:xfrm>
          <a:prstGeom prst="roundRect">
            <a:avLst>
              <a:gd name="adj" fmla="val 8000"/>
            </a:avLst>
          </a:prstGeom>
          <a:solidFill>
            <a:srgbClr val="E67E22"/>
          </a:solidFill>
          <a:ln w="12700">
            <a:solidFill>
              <a:srgbClr val="FFFFFF"/>
            </a:solidFill>
            <a:prstDash val="solid"/>
          </a:ln>
        </p:spPr>
      </p:sp>
      <p:sp>
        <p:nvSpPr>
          <p:cNvPr id="10" name="Text 8"/>
          <p:cNvSpPr/>
          <p:nvPr/>
        </p:nvSpPr>
        <p:spPr>
          <a:xfrm>
            <a:off x="8107680" y="1706880"/>
            <a:ext cx="2926080" cy="12192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内存</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16 GB</a:t>
            </a:r>
            <a:endParaRPr lang="en-US" sz="2135" dirty="0"/>
          </a:p>
        </p:txBody>
      </p:sp>
      <p:sp>
        <p:nvSpPr>
          <p:cNvPr id="11" name="Shape 9"/>
          <p:cNvSpPr/>
          <p:nvPr/>
        </p:nvSpPr>
        <p:spPr>
          <a:xfrm>
            <a:off x="1097280" y="3413760"/>
            <a:ext cx="3048000" cy="1219200"/>
          </a:xfrm>
          <a:prstGeom prst="roundRect">
            <a:avLst>
              <a:gd name="adj" fmla="val 8000"/>
            </a:avLst>
          </a:prstGeom>
          <a:solidFill>
            <a:srgbClr val="27AE60"/>
          </a:solidFill>
          <a:ln w="12700">
            <a:solidFill>
              <a:srgbClr val="FFFFFF"/>
            </a:solidFill>
            <a:prstDash val="solid"/>
          </a:ln>
        </p:spPr>
      </p:sp>
      <p:sp>
        <p:nvSpPr>
          <p:cNvPr id="12" name="Text 10"/>
          <p:cNvSpPr/>
          <p:nvPr/>
        </p:nvSpPr>
        <p:spPr>
          <a:xfrm>
            <a:off x="1158240" y="3413760"/>
            <a:ext cx="2926080" cy="12192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硬盘</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 GB</a:t>
            </a:r>
            <a:endParaRPr lang="en-US" sz="2135" dirty="0"/>
          </a:p>
        </p:txBody>
      </p:sp>
      <p:sp>
        <p:nvSpPr>
          <p:cNvPr id="13" name="Shape 11"/>
          <p:cNvSpPr/>
          <p:nvPr/>
        </p:nvSpPr>
        <p:spPr>
          <a:xfrm>
            <a:off x="4572000" y="3413760"/>
            <a:ext cx="3048000" cy="1219200"/>
          </a:xfrm>
          <a:prstGeom prst="roundRect">
            <a:avLst>
              <a:gd name="adj" fmla="val 8000"/>
            </a:avLst>
          </a:prstGeom>
          <a:solidFill>
            <a:srgbClr val="8E44AD"/>
          </a:solidFill>
          <a:ln w="12700">
            <a:solidFill>
              <a:srgbClr val="FFFFFF"/>
            </a:solidFill>
            <a:prstDash val="solid"/>
          </a:ln>
        </p:spPr>
      </p:sp>
      <p:sp>
        <p:nvSpPr>
          <p:cNvPr id="14" name="Text 12"/>
          <p:cNvSpPr/>
          <p:nvPr/>
        </p:nvSpPr>
        <p:spPr>
          <a:xfrm>
            <a:off x="4632960" y="3413760"/>
            <a:ext cx="2926080" cy="12192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平台</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CANNLab</a:t>
            </a:r>
            <a:endParaRPr lang="en-US" sz="2135" dirty="0"/>
          </a:p>
        </p:txBody>
      </p:sp>
      <p:sp>
        <p:nvSpPr>
          <p:cNvPr id="15" name="Shape 13"/>
          <p:cNvSpPr/>
          <p:nvPr/>
        </p:nvSpPr>
        <p:spPr>
          <a:xfrm>
            <a:off x="8046720" y="3413760"/>
            <a:ext cx="3048000" cy="1219200"/>
          </a:xfrm>
          <a:prstGeom prst="roundRect">
            <a:avLst>
              <a:gd name="adj" fmla="val 8000"/>
            </a:avLst>
          </a:prstGeom>
          <a:solidFill>
            <a:srgbClr val="2E86AB"/>
          </a:solidFill>
          <a:ln w="12700">
            <a:solidFill>
              <a:srgbClr val="FFFFFF"/>
            </a:solidFill>
            <a:prstDash val="solid"/>
          </a:ln>
        </p:spPr>
      </p:sp>
      <p:sp>
        <p:nvSpPr>
          <p:cNvPr id="16" name="Text 14"/>
          <p:cNvSpPr/>
          <p:nvPr/>
        </p:nvSpPr>
        <p:spPr>
          <a:xfrm>
            <a:off x="8107680" y="3413760"/>
            <a:ext cx="2926080" cy="121920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数据</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随机张量即可</a:t>
            </a:r>
            <a:endParaRPr lang="en-US" sz="2000" dirty="0"/>
          </a:p>
        </p:txBody>
      </p:sp>
      <p:sp>
        <p:nvSpPr>
          <p:cNvPr id="17" name="Text 15"/>
          <p:cNvSpPr/>
          <p:nvPr/>
        </p:nvSpPr>
        <p:spPr>
          <a:xfrm>
            <a:off x="853440" y="5242560"/>
            <a:ext cx="10485120" cy="731520"/>
          </a:xfrm>
          <a:prstGeom prst="rect">
            <a:avLst/>
          </a:prstGeom>
          <a:noFill/>
        </p:spPr>
        <p:txBody>
          <a:bodyPr wrap="square" rtlCol="0" anchor="t"/>
          <a:lstStyle/>
          <a:p>
            <a:pPr marL="0" indent="0" algn="ctr">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无 NPU 时可回退 CPU，代码自动选择设备。</a:t>
            </a:r>
            <a:endParaRPr lang="en-US" sz="213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配置</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算子与优化</a:t>
            </a:r>
            <a:r>
              <a:rPr 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原理介绍</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sym typeface="+mn-ea"/>
              </a:rPr>
              <a:t>课后习题</a:t>
            </a:r>
            <a:endParaRPr lang="en-US" dirty="0">
              <a:solidFill>
                <a:schemeClr val="bg1">
                  <a:lumMod val="75000"/>
                </a:schemeClr>
              </a:solidFill>
            </a:endParaRPr>
          </a:p>
          <a:p>
            <a:endParaRPr lang="en-US" dirty="0"/>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8E44AD"/>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算子是什么，为什么要优化</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2400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算子（Operator）是神经网络的最小计算单元，如卷积、矩阵乘、Softmax。</a:t>
            </a:r>
            <a:endParaRPr lang="en-US" sz="2265" dirty="0"/>
          </a:p>
        </p:txBody>
      </p:sp>
      <p:sp>
        <p:nvSpPr>
          <p:cNvPr id="6" name="Text 4"/>
          <p:cNvSpPr/>
          <p:nvPr/>
        </p:nvSpPr>
        <p:spPr>
          <a:xfrm>
            <a:off x="853440" y="2438400"/>
            <a:ext cx="10485120" cy="609600"/>
          </a:xfrm>
          <a:prstGeom prst="rect">
            <a:avLst/>
          </a:prstGeom>
          <a:noFill/>
        </p:spPr>
        <p:txBody>
          <a:bodyPr wrap="square" rtlCol="0" anchor="t"/>
          <a:lstStyle/>
          <a:p>
            <a:pPr marL="0" indent="0">
              <a:lnSpc>
                <a:spcPct val="115000"/>
              </a:lnSpc>
              <a:buNone/>
            </a:pPr>
            <a:r>
              <a:rPr lang="en-US" sz="2265"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算子的实现方式直接影响：</a:t>
            </a:r>
            <a:endParaRPr lang="en-US" sz="2265"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7" name="Text 5"/>
          <p:cNvSpPr/>
          <p:nvPr/>
        </p:nvSpPr>
        <p:spPr>
          <a:xfrm>
            <a:off x="853440" y="329184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执行时延：kernel 是否高效、是否被频繁启动</a:t>
            </a:r>
            <a:endParaRPr lang="en-US" sz="2135" dirty="0"/>
          </a:p>
        </p:txBody>
      </p:sp>
      <p:sp>
        <p:nvSpPr>
          <p:cNvPr id="8" name="Text 6"/>
          <p:cNvSpPr/>
          <p:nvPr/>
        </p:nvSpPr>
        <p:spPr>
          <a:xfrm>
            <a:off x="853440" y="402336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显存占用：中间张量是否会反复落地到 HBM</a:t>
            </a:r>
            <a:endParaRPr lang="en-US" sz="2135" dirty="0"/>
          </a:p>
        </p:txBody>
      </p:sp>
      <p:sp>
        <p:nvSpPr>
          <p:cNvPr id="9" name="Text 7"/>
          <p:cNvSpPr/>
          <p:nvPr/>
        </p:nvSpPr>
        <p:spPr>
          <a:xfrm>
            <a:off x="853440" y="475488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硬件利用率：AI Core / Cube Unit 是否被充分利用</a:t>
            </a:r>
            <a:endParaRPr lang="en-US" sz="2135" dirty="0"/>
          </a:p>
        </p:txBody>
      </p:sp>
      <p:sp>
        <p:nvSpPr>
          <p:cNvPr id="10" name="Shape 8"/>
          <p:cNvSpPr/>
          <p:nvPr/>
        </p:nvSpPr>
        <p:spPr>
          <a:xfrm>
            <a:off x="1463040" y="5547360"/>
            <a:ext cx="9265920" cy="975360"/>
          </a:xfrm>
          <a:prstGeom prst="roundRect">
            <a:avLst>
              <a:gd name="adj" fmla="val 10000"/>
            </a:avLst>
          </a:prstGeom>
          <a:solidFill>
            <a:srgbClr val="F2F6FA"/>
          </a:solidFill>
          <a:ln w="12700">
            <a:solidFill>
              <a:srgbClr val="FFFFFF"/>
            </a:solidFill>
            <a:prstDash val="solid"/>
          </a:ln>
        </p:spPr>
      </p:sp>
      <p:sp>
        <p:nvSpPr>
          <p:cNvPr id="11" name="Text 9"/>
          <p:cNvSpPr/>
          <p:nvPr/>
        </p:nvSpPr>
        <p:spPr>
          <a:xfrm>
            <a:off x="1524000" y="5547360"/>
            <a:ext cx="9144000" cy="975360"/>
          </a:xfrm>
          <a:prstGeom prst="rect">
            <a:avLst/>
          </a:prstGeom>
          <a:noFill/>
        </p:spPr>
        <p:txBody>
          <a:bodyPr wrap="square" rtlCol="0" anchor="ctr"/>
          <a:lstStyle/>
          <a:p>
            <a:pPr marL="0" indent="0" algn="ctr">
              <a:buNone/>
            </a:pPr>
            <a:r>
              <a:rPr lang="en-US" sz="2000"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rPr>
              <a:t>算子优化 = 用更少的启动、更少的搬运、更高的利用率完成同样计算</a:t>
            </a:r>
            <a:endParaRPr lang="en-US" sz="2000"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8E44AD"/>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常见算子优化方法</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853440" y="1706880"/>
            <a:ext cx="5120640" cy="975360"/>
          </a:xfrm>
          <a:prstGeom prst="roundRect">
            <a:avLst>
              <a:gd name="adj" fmla="val 10000"/>
            </a:avLst>
          </a:prstGeom>
          <a:solidFill>
            <a:srgbClr val="1F4E79"/>
          </a:solidFill>
          <a:ln w="12700">
            <a:solidFill>
              <a:srgbClr val="FFFFFF"/>
            </a:solidFill>
            <a:prstDash val="solid"/>
          </a:ln>
        </p:spPr>
      </p:sp>
      <p:sp>
        <p:nvSpPr>
          <p:cNvPr id="6" name="Text 4"/>
          <p:cNvSpPr/>
          <p:nvPr/>
        </p:nvSpPr>
        <p:spPr>
          <a:xfrm>
            <a:off x="914400" y="1706880"/>
            <a:ext cx="4998720" cy="975360"/>
          </a:xfrm>
          <a:prstGeom prst="rect">
            <a:avLst/>
          </a:prstGeom>
          <a:noFill/>
        </p:spPr>
        <p:txBody>
          <a:bodyPr wrap="square" rtlCol="0" anchor="ctr"/>
          <a:lstStyle/>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算子融合</a:t>
            </a:r>
            <a:endParaRPr lang="en-US" sz="2265" dirty="0"/>
          </a:p>
        </p:txBody>
      </p:sp>
      <p:sp>
        <p:nvSpPr>
          <p:cNvPr id="7" name="Text 5"/>
          <p:cNvSpPr/>
          <p:nvPr/>
        </p:nvSpPr>
        <p:spPr>
          <a:xfrm>
            <a:off x="853440" y="2804160"/>
            <a:ext cx="5120640" cy="109728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把多个连续算子合成一个内核，减少启动与数据搬运</a:t>
            </a:r>
            <a:endParaRPr lang="en-US" sz="2000" dirty="0"/>
          </a:p>
        </p:txBody>
      </p:sp>
      <p:sp>
        <p:nvSpPr>
          <p:cNvPr id="8" name="Shape 6"/>
          <p:cNvSpPr/>
          <p:nvPr/>
        </p:nvSpPr>
        <p:spPr>
          <a:xfrm>
            <a:off x="6217920" y="1706880"/>
            <a:ext cx="5120640" cy="975360"/>
          </a:xfrm>
          <a:prstGeom prst="roundRect">
            <a:avLst>
              <a:gd name="adj" fmla="val 10000"/>
            </a:avLst>
          </a:prstGeom>
          <a:solidFill>
            <a:srgbClr val="2E86AB"/>
          </a:solidFill>
          <a:ln w="12700">
            <a:solidFill>
              <a:srgbClr val="FFFFFF"/>
            </a:solidFill>
            <a:prstDash val="solid"/>
          </a:ln>
        </p:spPr>
      </p:sp>
      <p:sp>
        <p:nvSpPr>
          <p:cNvPr id="9" name="Text 7"/>
          <p:cNvSpPr/>
          <p:nvPr/>
        </p:nvSpPr>
        <p:spPr>
          <a:xfrm>
            <a:off x="6278880" y="1706880"/>
            <a:ext cx="4998720" cy="975360"/>
          </a:xfrm>
          <a:prstGeom prst="rect">
            <a:avLst/>
          </a:prstGeom>
          <a:noFill/>
        </p:spPr>
        <p:txBody>
          <a:bodyPr wrap="square" rtlCol="0" anchor="ctr"/>
          <a:lstStyle/>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Tiling / 分块</a:t>
            </a:r>
            <a:endParaRPr lang="en-US" sz="2265" dirty="0"/>
          </a:p>
        </p:txBody>
      </p:sp>
      <p:sp>
        <p:nvSpPr>
          <p:cNvPr id="10" name="Text 8"/>
          <p:cNvSpPr/>
          <p:nvPr/>
        </p:nvSpPr>
        <p:spPr>
          <a:xfrm>
            <a:off x="6217920" y="2804160"/>
            <a:ext cx="5120640" cy="109728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把大张量切块，提升缓存命中</a:t>
            </a:r>
            <a:endParaRPr lang="en-US" sz="2000" dirty="0"/>
          </a:p>
        </p:txBody>
      </p:sp>
      <p:sp>
        <p:nvSpPr>
          <p:cNvPr id="11" name="Shape 9"/>
          <p:cNvSpPr/>
          <p:nvPr/>
        </p:nvSpPr>
        <p:spPr>
          <a:xfrm>
            <a:off x="853440" y="4023360"/>
            <a:ext cx="5120640" cy="975360"/>
          </a:xfrm>
          <a:prstGeom prst="roundRect">
            <a:avLst>
              <a:gd name="adj" fmla="val 10000"/>
            </a:avLst>
          </a:prstGeom>
          <a:solidFill>
            <a:srgbClr val="27AE60"/>
          </a:solidFill>
          <a:ln w="12700">
            <a:solidFill>
              <a:srgbClr val="FFFFFF"/>
            </a:solidFill>
            <a:prstDash val="solid"/>
          </a:ln>
        </p:spPr>
      </p:sp>
      <p:sp>
        <p:nvSpPr>
          <p:cNvPr id="12" name="Text 10"/>
          <p:cNvSpPr/>
          <p:nvPr/>
        </p:nvSpPr>
        <p:spPr>
          <a:xfrm>
            <a:off x="914400" y="4023360"/>
            <a:ext cx="4998720" cy="975360"/>
          </a:xfrm>
          <a:prstGeom prst="rect">
            <a:avLst/>
          </a:prstGeom>
          <a:noFill/>
        </p:spPr>
        <p:txBody>
          <a:bodyPr wrap="square" rtlCol="0" anchor="ctr"/>
          <a:lstStyle/>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低精度</a:t>
            </a:r>
            <a:endParaRPr lang="en-US" sz="2265" dirty="0"/>
          </a:p>
        </p:txBody>
      </p:sp>
      <p:sp>
        <p:nvSpPr>
          <p:cNvPr id="13" name="Text 11"/>
          <p:cNvSpPr/>
          <p:nvPr/>
        </p:nvSpPr>
        <p:spPr>
          <a:xfrm>
            <a:off x="853440" y="5120640"/>
            <a:ext cx="5120640" cy="109728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用 FP16 / BF16 代替 FP32，降低显存和耗时</a:t>
            </a:r>
            <a:endParaRPr lang="en-US" sz="2000" dirty="0"/>
          </a:p>
        </p:txBody>
      </p:sp>
      <p:sp>
        <p:nvSpPr>
          <p:cNvPr id="14" name="Shape 12"/>
          <p:cNvSpPr/>
          <p:nvPr/>
        </p:nvSpPr>
        <p:spPr>
          <a:xfrm>
            <a:off x="6217920" y="4023360"/>
            <a:ext cx="5120640" cy="975360"/>
          </a:xfrm>
          <a:prstGeom prst="roundRect">
            <a:avLst>
              <a:gd name="adj" fmla="val 10000"/>
            </a:avLst>
          </a:prstGeom>
          <a:solidFill>
            <a:srgbClr val="E67E22"/>
          </a:solidFill>
          <a:ln w="12700">
            <a:solidFill>
              <a:srgbClr val="FFFFFF"/>
            </a:solidFill>
            <a:prstDash val="solid"/>
          </a:ln>
        </p:spPr>
      </p:sp>
      <p:sp>
        <p:nvSpPr>
          <p:cNvPr id="15" name="Text 13"/>
          <p:cNvSpPr/>
          <p:nvPr/>
        </p:nvSpPr>
        <p:spPr>
          <a:xfrm>
            <a:off x="6278880" y="4023360"/>
            <a:ext cx="4998720" cy="975360"/>
          </a:xfrm>
          <a:prstGeom prst="rect">
            <a:avLst/>
          </a:prstGeom>
          <a:noFill/>
        </p:spPr>
        <p:txBody>
          <a:bodyPr wrap="square" rtlCol="0" anchor="ctr"/>
          <a:lstStyle/>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内存复用</a:t>
            </a:r>
            <a:endParaRPr lang="en-US" sz="2265" dirty="0"/>
          </a:p>
        </p:txBody>
      </p:sp>
      <p:sp>
        <p:nvSpPr>
          <p:cNvPr id="16" name="Text 14"/>
          <p:cNvSpPr/>
          <p:nvPr/>
        </p:nvSpPr>
        <p:spPr>
          <a:xfrm>
            <a:off x="6217920" y="5120640"/>
            <a:ext cx="5120640" cy="109728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复用 workspace，减少中间张量峰值显存</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8E44AD"/>
          </a:solidFill>
        </p:spPr>
      </p:sp>
      <p:sp>
        <p:nvSpPr>
          <p:cNvPr id="3" name="Text 1"/>
          <p:cNvSpPr/>
          <p:nvPr/>
        </p:nvSpPr>
        <p:spPr>
          <a:xfrm>
            <a:off x="731520" y="304800"/>
            <a:ext cx="10728960" cy="853440"/>
          </a:xfrm>
          <a:prstGeom prst="rect">
            <a:avLst/>
          </a:prstGeom>
          <a:noFill/>
        </p:spPr>
        <p:txBody>
          <a:bodyPr wrap="square" rtlCol="0" anchor="ctr"/>
          <a:lstStyle/>
          <a:p>
            <a:pPr marL="0" algn="l">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为什么选择 Conv+BN 这一个算子</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数量多：MobileNetV3-Large 有 40+ 个可融合的 Conv+BN 算子对。</a:t>
            </a:r>
            <a:endParaRPr lang="en-US" sz="2265" dirty="0"/>
          </a:p>
        </p:txBody>
      </p:sp>
      <p:sp>
        <p:nvSpPr>
          <p:cNvPr id="6" name="Text 4"/>
          <p:cNvSpPr/>
          <p:nvPr/>
        </p:nvSpPr>
        <p:spPr>
          <a:xfrm>
            <a:off x="853440" y="249936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数学等价：BN 折叠不改变模型输出，便于做正确性校验。</a:t>
            </a:r>
            <a:endParaRPr lang="en-US" sz="2265" dirty="0"/>
          </a:p>
        </p:txBody>
      </p:sp>
      <p:sp>
        <p:nvSpPr>
          <p:cNvPr id="7" name="Text 5"/>
          <p:cNvSpPr/>
          <p:nvPr/>
        </p:nvSpPr>
        <p:spPr>
          <a:xfrm>
            <a:off x="853440" y="341376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通用性强：Conv+BN 是 CNN 最常见的算子组合。</a:t>
            </a:r>
            <a:endParaRPr lang="en-US" sz="2265" dirty="0"/>
          </a:p>
        </p:txBody>
      </p:sp>
      <p:sp>
        <p:nvSpPr>
          <p:cNvPr id="8" name="Text 6"/>
          <p:cNvSpPr/>
          <p:nvPr/>
        </p:nvSpPr>
        <p:spPr>
          <a:xfrm>
            <a:off x="853440" y="4389120"/>
            <a:ext cx="10485120" cy="609600"/>
          </a:xfrm>
          <a:prstGeom prst="rect">
            <a:avLst/>
          </a:prstGeom>
          <a:noFill/>
        </p:spPr>
        <p:txBody>
          <a:bodyPr wrap="square" rtlCol="0" anchor="t"/>
          <a:lstStyle/>
          <a:p>
            <a:pPr marL="0" indent="0">
              <a:lnSpc>
                <a:spcPct val="115000"/>
              </a:lnSpc>
              <a:buNone/>
            </a:pPr>
            <a:r>
              <a:rPr lang="en-US" sz="2265"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融合后：</a:t>
            </a:r>
            <a:endParaRPr lang="en-US" sz="2265"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Text 7"/>
          <p:cNvSpPr/>
          <p:nvPr/>
        </p:nvSpPr>
        <p:spPr>
          <a:xfrm>
            <a:off x="853440" y="5242560"/>
            <a:ext cx="10485120" cy="731520"/>
          </a:xfrm>
          <a:prstGeom prst="rect">
            <a:avLst/>
          </a:prstGeom>
          <a:noFill/>
        </p:spPr>
        <p:txBody>
          <a:bodyPr wrap="square" rtlCol="0" anchor="t"/>
          <a:lstStyle/>
          <a:p>
            <a:pPr marL="0" indent="0">
              <a:lnSpc>
                <a:spcPct val="115000"/>
              </a:lnSpc>
              <a:buNone/>
            </a:pPr>
            <a:r>
              <a:rPr lang="en-US" sz="2400"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rPr>
              <a:t>BatchNorm 全部移除，算子总数从 96 降到 49。</a:t>
            </a:r>
            <a:endParaRPr lang="en-US" sz="2400"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8E44AD"/>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Conv+BN 融合原理</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2400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推理阶段 BN 使用固定统计量：</a:t>
            </a:r>
            <a:endParaRPr lang="en-US" sz="2135" dirty="0"/>
          </a:p>
        </p:txBody>
      </p:sp>
      <p:sp>
        <p:nvSpPr>
          <p:cNvPr id="25" name="Shape 3"/>
          <p:cNvSpPr/>
          <p:nvPr/>
        </p:nvSpPr>
        <p:spPr>
          <a:xfrm>
            <a:off x="686118" y="2133600"/>
            <a:ext cx="10835640" cy="2377440"/>
          </a:xfrm>
          <a:prstGeom prst="rect">
            <a:avLst/>
          </a:prstGeom>
          <a:solidFill>
            <a:srgbClr val="EDEDED"/>
          </a:solidFill>
          <a:ln w="12700">
            <a:solidFill>
              <a:srgbClr val="FFFFFF"/>
            </a:solidFill>
            <a:prstDash val="solid"/>
          </a:ln>
        </p:spPr>
      </p:sp>
      <p:sp>
        <p:nvSpPr>
          <p:cNvPr id="26" name="Text 4"/>
          <p:cNvSpPr/>
          <p:nvPr/>
        </p:nvSpPr>
        <p:spPr>
          <a:xfrm>
            <a:off x="686118" y="2453640"/>
            <a:ext cx="10835640" cy="1005840"/>
          </a:xfrm>
          <a:prstGeom prst="rect">
            <a:avLst/>
          </a:prstGeom>
          <a:noFill/>
        </p:spPr>
        <p:txBody>
          <a:bodyPr wrap="square" rtlCol="0" anchor="ctr"/>
          <a:lstStyle/>
          <a:p>
            <a:pPr marL="0" indent="0" algn="ctr">
              <a:lnSpc>
                <a:spcPct val="115000"/>
              </a:lnSpc>
              <a:buNone/>
            </a:pPr>
            <a:r>
              <a:rPr lang="en-US" sz="3400" b="1" dirty="0">
                <a:solidFill>
                  <a:srgbClr val="111111"/>
                </a:solidFill>
                <a:latin typeface="Arial" panose="020B0604020202020204" pitchFamily="34" charset="0"/>
                <a:ea typeface="Arial" panose="020B0604020202020204" pitchFamily="34" charset="-122"/>
                <a:cs typeface="Arial" panose="020B0604020202020204" pitchFamily="34" charset="-120"/>
              </a:rPr>
              <a:t>y = γ · (x − μ) / √(σ² + ε) + β</a:t>
            </a:r>
            <a:endParaRPr lang="en-US" sz="3400" dirty="0"/>
          </a:p>
        </p:txBody>
      </p:sp>
      <p:sp>
        <p:nvSpPr>
          <p:cNvPr id="27" name="Text 5"/>
          <p:cNvSpPr/>
          <p:nvPr/>
        </p:nvSpPr>
        <p:spPr>
          <a:xfrm>
            <a:off x="686118" y="3550920"/>
            <a:ext cx="10835640" cy="548640"/>
          </a:xfrm>
          <a:prstGeom prst="rect">
            <a:avLst/>
          </a:prstGeom>
          <a:noFill/>
        </p:spPr>
        <p:txBody>
          <a:bodyPr wrap="square" rtlCol="0" anchor="t"/>
          <a:lstStyle/>
          <a:p>
            <a:pPr marL="0" indent="0" algn="ctr">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μ 与 σ² 是训练阶段累计的 running_mean / running_var，推理时固定不变。</a:t>
            </a:r>
            <a:endParaRPr lang="en-US" sz="1800" dirty="0"/>
          </a:p>
        </p:txBody>
      </p:sp>
      <p:sp>
        <p:nvSpPr>
          <p:cNvPr id="28" name="Text 6"/>
          <p:cNvSpPr/>
          <p:nvPr/>
        </p:nvSpPr>
        <p:spPr>
          <a:xfrm>
            <a:off x="868998" y="4785360"/>
            <a:ext cx="5029200" cy="502920"/>
          </a:xfrm>
          <a:prstGeom prst="rect">
            <a:avLst/>
          </a:prstGeom>
          <a:noFill/>
        </p:spPr>
        <p:txBody>
          <a:bodyPr wrap="square" rtlCol="0" anchor="t"/>
          <a:lstStyle/>
          <a:p>
            <a:pPr marL="0" indent="0">
              <a:lnSpc>
                <a:spcPct val="115000"/>
              </a:lnSpc>
              <a:buNone/>
            </a:pPr>
            <a:r>
              <a:rPr lang="en-US" sz="1800" b="1" dirty="0">
                <a:solidFill>
                  <a:srgbClr val="111111"/>
                </a:solidFill>
                <a:latin typeface="Arial" panose="020B0604020202020204" pitchFamily="34" charset="0"/>
                <a:ea typeface="Arial" panose="020B0604020202020204" pitchFamily="34" charset="-122"/>
                <a:cs typeface="Arial" panose="020B0604020202020204" pitchFamily="34" charset="-120"/>
              </a:rPr>
              <a:t>γ、β：BN 的可学习参数</a:t>
            </a:r>
            <a:endParaRPr lang="en-US" sz="1800" dirty="0"/>
          </a:p>
        </p:txBody>
      </p:sp>
      <p:sp>
        <p:nvSpPr>
          <p:cNvPr id="29" name="Text 7"/>
          <p:cNvSpPr/>
          <p:nvPr/>
        </p:nvSpPr>
        <p:spPr>
          <a:xfrm>
            <a:off x="868998" y="5288280"/>
            <a:ext cx="5029200" cy="822960"/>
          </a:xfrm>
          <a:prstGeom prst="rect">
            <a:avLst/>
          </a:prstGeom>
          <a:noFill/>
        </p:spPr>
        <p:txBody>
          <a:bodyPr wrap="square" rtlCol="0" anchor="t"/>
          <a:lstStyle/>
          <a:p>
            <a:pPr marL="0" indent="0">
              <a:lnSpc>
                <a:spcPct val="115000"/>
              </a:lnSpc>
              <a:buNone/>
            </a:pPr>
            <a:r>
              <a:rPr lang="en-US" sz="1600" dirty="0">
                <a:solidFill>
                  <a:srgbClr val="555555"/>
                </a:solidFill>
                <a:latin typeface="Arial" panose="020B0604020202020204" pitchFamily="34" charset="0"/>
                <a:ea typeface="Arial" panose="020B0604020202020204" pitchFamily="34" charset="-122"/>
                <a:cs typeface="Arial" panose="020B0604020202020204" pitchFamily="34" charset="-120"/>
              </a:rPr>
              <a:t>γ 控制缩放，β 控制偏移；推理时都是确定值。</a:t>
            </a:r>
            <a:endParaRPr lang="en-US" sz="1600" dirty="0"/>
          </a:p>
        </p:txBody>
      </p:sp>
      <p:sp>
        <p:nvSpPr>
          <p:cNvPr id="30" name="Text 8"/>
          <p:cNvSpPr/>
          <p:nvPr/>
        </p:nvSpPr>
        <p:spPr>
          <a:xfrm>
            <a:off x="6355398" y="4785360"/>
            <a:ext cx="5029200" cy="502920"/>
          </a:xfrm>
          <a:prstGeom prst="rect">
            <a:avLst/>
          </a:prstGeom>
          <a:noFill/>
        </p:spPr>
        <p:txBody>
          <a:bodyPr wrap="square" rtlCol="0" anchor="t"/>
          <a:lstStyle/>
          <a:p>
            <a:pPr marL="0" indent="0">
              <a:lnSpc>
                <a:spcPct val="115000"/>
              </a:lnSpc>
              <a:buNone/>
            </a:pPr>
            <a:r>
              <a:rPr lang="en-US" sz="1800" b="1" dirty="0">
                <a:solidFill>
                  <a:srgbClr val="111111"/>
                </a:solidFill>
                <a:latin typeface="Arial" panose="020B0604020202020204" pitchFamily="34" charset="0"/>
                <a:ea typeface="Arial" panose="020B0604020202020204" pitchFamily="34" charset="-122"/>
                <a:cs typeface="Arial" panose="020B0604020202020204" pitchFamily="34" charset="-120"/>
              </a:rPr>
              <a:t>ε：防止除零的常数</a:t>
            </a:r>
            <a:endParaRPr lang="en-US" sz="1800" dirty="0"/>
          </a:p>
        </p:txBody>
      </p:sp>
      <p:sp>
        <p:nvSpPr>
          <p:cNvPr id="31" name="Text 9"/>
          <p:cNvSpPr/>
          <p:nvPr/>
        </p:nvSpPr>
        <p:spPr>
          <a:xfrm>
            <a:off x="6355398" y="5288280"/>
            <a:ext cx="5029200" cy="822960"/>
          </a:xfrm>
          <a:prstGeom prst="rect">
            <a:avLst/>
          </a:prstGeom>
          <a:noFill/>
        </p:spPr>
        <p:txBody>
          <a:bodyPr wrap="square" rtlCol="0" anchor="t"/>
          <a:lstStyle/>
          <a:p>
            <a:pPr marL="0" indent="0">
              <a:lnSpc>
                <a:spcPct val="115000"/>
              </a:lnSpc>
              <a:buNone/>
            </a:pPr>
            <a:r>
              <a:rPr lang="en-US" sz="1600" dirty="0">
                <a:solidFill>
                  <a:srgbClr val="555555"/>
                </a:solidFill>
                <a:latin typeface="Arial" panose="020B0604020202020204" pitchFamily="34" charset="0"/>
                <a:ea typeface="Arial" panose="020B0604020202020204" pitchFamily="34" charset="-122"/>
                <a:cs typeface="Arial" panose="020B0604020202020204" pitchFamily="34" charset="-120"/>
              </a:rPr>
              <a:t>通常为 1e-5 量级，使分母在方差很小时仍然稳定。</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8E44AD"/>
          </a:solidFill>
        </p:spPr>
      </p:sp>
      <p:sp>
        <p:nvSpPr>
          <p:cNvPr id="3" name="Text 1"/>
          <p:cNvSpPr/>
          <p:nvPr/>
        </p:nvSpPr>
        <p:spPr>
          <a:xfrm>
            <a:off x="731520" y="304800"/>
            <a:ext cx="10728960" cy="853440"/>
          </a:xfrm>
          <a:prstGeom prst="rect">
            <a:avLst/>
          </a:prstGeom>
          <a:noFill/>
        </p:spPr>
        <p:txBody>
          <a:bodyPr wrap="square" rtlCol="0" anchor="ctr"/>
          <a:lstStyle/>
          <a:p>
            <a:pPr marL="0" algn="l">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Conv+BN 融合原理</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6" name="文本框 5"/>
          <p:cNvSpPr txBox="1"/>
          <p:nvPr/>
        </p:nvSpPr>
        <p:spPr>
          <a:xfrm>
            <a:off x="755650" y="1433830"/>
            <a:ext cx="6096000" cy="420370"/>
          </a:xfrm>
          <a:prstGeom prst="rect">
            <a:avLst/>
          </a:prstGeom>
          <a:noFill/>
        </p:spPr>
        <p:txBody>
          <a:bodyPr wrap="square" rtlCol="0" anchor="t">
            <a:spAutoFit/>
          </a:bodyPr>
          <a:p>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rPr>
              <a:t>把卷积输出代入 BN</a:t>
            </a:r>
            <a:r>
              <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13" name="Shape 3"/>
          <p:cNvSpPr/>
          <p:nvPr/>
        </p:nvSpPr>
        <p:spPr>
          <a:xfrm>
            <a:off x="686118" y="2171700"/>
            <a:ext cx="10835640" cy="2011680"/>
          </a:xfrm>
          <a:prstGeom prst="rect">
            <a:avLst/>
          </a:prstGeom>
          <a:solidFill>
            <a:srgbClr val="EDEDED"/>
          </a:solidFill>
          <a:ln w="12700">
            <a:solidFill>
              <a:srgbClr val="FFFFFF"/>
            </a:solidFill>
            <a:prstDash val="solid"/>
          </a:ln>
        </p:spPr>
      </p:sp>
      <p:sp>
        <p:nvSpPr>
          <p:cNvPr id="14" name="Text 4"/>
          <p:cNvSpPr/>
          <p:nvPr/>
        </p:nvSpPr>
        <p:spPr>
          <a:xfrm>
            <a:off x="686118" y="2446020"/>
            <a:ext cx="10835640" cy="685800"/>
          </a:xfrm>
          <a:prstGeom prst="rect">
            <a:avLst/>
          </a:prstGeom>
          <a:noFill/>
        </p:spPr>
        <p:txBody>
          <a:bodyPr wrap="square" rtlCol="0" anchor="t"/>
          <a:lstStyle/>
          <a:p>
            <a:pPr marL="0" indent="0" algn="ctr">
              <a:lnSpc>
                <a:spcPct val="115000"/>
              </a:lnSpc>
              <a:buNone/>
            </a:pPr>
            <a:r>
              <a:rPr lang="en-US" sz="2600" b="1" dirty="0">
                <a:solidFill>
                  <a:srgbClr val="111111"/>
                </a:solidFill>
                <a:latin typeface="Arial" panose="020B0604020202020204" pitchFamily="34" charset="0"/>
                <a:ea typeface="Arial" panose="020B0604020202020204" pitchFamily="34" charset="-122"/>
                <a:cs typeface="Arial" panose="020B0604020202020204" pitchFamily="34" charset="-120"/>
              </a:rPr>
              <a:t>卷积输出：z = W·x + b</a:t>
            </a:r>
            <a:endParaRPr lang="en-US" sz="2600" dirty="0"/>
          </a:p>
        </p:txBody>
      </p:sp>
      <p:sp>
        <p:nvSpPr>
          <p:cNvPr id="15" name="Text 5"/>
          <p:cNvSpPr/>
          <p:nvPr/>
        </p:nvSpPr>
        <p:spPr>
          <a:xfrm>
            <a:off x="686118" y="3223260"/>
            <a:ext cx="10835640" cy="685800"/>
          </a:xfrm>
          <a:prstGeom prst="rect">
            <a:avLst/>
          </a:prstGeom>
          <a:noFill/>
        </p:spPr>
        <p:txBody>
          <a:bodyPr wrap="square" rtlCol="0" anchor="t"/>
          <a:lstStyle/>
          <a:p>
            <a:pPr marL="0" indent="0" algn="ctr">
              <a:lnSpc>
                <a:spcPct val="115000"/>
              </a:lnSpc>
              <a:buNone/>
            </a:pPr>
            <a:r>
              <a:rPr lang="en-US" sz="2400" b="1" dirty="0">
                <a:solidFill>
                  <a:srgbClr val="C7000B"/>
                </a:solidFill>
                <a:latin typeface="Arial" panose="020B0604020202020204" pitchFamily="34" charset="0"/>
                <a:ea typeface="Arial" panose="020B0604020202020204" pitchFamily="34" charset="-122"/>
                <a:cs typeface="Arial" panose="020B0604020202020204" pitchFamily="34" charset="-120"/>
              </a:rPr>
              <a:t>代入 BN：y = γ · (Wx + b − μ) / √(σ² + ε) + β</a:t>
            </a:r>
            <a:endParaRPr lang="en-US" sz="24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
        <p:nvSpPr>
          <p:cNvPr id="16" name="Text 6"/>
          <p:cNvSpPr/>
          <p:nvPr/>
        </p:nvSpPr>
        <p:spPr>
          <a:xfrm>
            <a:off x="868998" y="4457700"/>
            <a:ext cx="10424160" cy="548640"/>
          </a:xfrm>
          <a:prstGeom prst="rect">
            <a:avLst/>
          </a:prstGeom>
          <a:noFill/>
        </p:spPr>
        <p:txBody>
          <a:bodyPr wrap="square" rtlCol="0" anchor="t"/>
          <a:lstStyle/>
          <a:p>
            <a:pPr marL="0" indent="0" algn="ctr">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整理后，x 的系数和常数项可以合并成一个新的卷积参数。</a:t>
            </a:r>
            <a:endParaRPr lang="en-US" sz="1800" dirty="0"/>
          </a:p>
        </p:txBody>
      </p:sp>
      <p:sp>
        <p:nvSpPr>
          <p:cNvPr id="17" name="Shape 7"/>
          <p:cNvSpPr/>
          <p:nvPr/>
        </p:nvSpPr>
        <p:spPr>
          <a:xfrm>
            <a:off x="1966278" y="5280660"/>
            <a:ext cx="8229600" cy="1051560"/>
          </a:xfrm>
          <a:prstGeom prst="rect">
            <a:avLst/>
          </a:prstGeom>
          <a:solidFill>
            <a:srgbClr val="EDEDED"/>
          </a:solidFill>
          <a:ln w="12700">
            <a:solidFill>
              <a:srgbClr val="FFFFFF"/>
            </a:solidFill>
            <a:prstDash val="solid"/>
          </a:ln>
        </p:spPr>
      </p:sp>
      <p:sp>
        <p:nvSpPr>
          <p:cNvPr id="18" name="Text 8"/>
          <p:cNvSpPr/>
          <p:nvPr/>
        </p:nvSpPr>
        <p:spPr>
          <a:xfrm>
            <a:off x="1966278" y="5463540"/>
            <a:ext cx="8229600" cy="640080"/>
          </a:xfrm>
          <a:prstGeom prst="rect">
            <a:avLst/>
          </a:prstGeom>
          <a:noFill/>
        </p:spPr>
        <p:txBody>
          <a:bodyPr wrap="square" rtlCol="0" anchor="ctr"/>
          <a:lstStyle/>
          <a:p>
            <a:pPr marL="0" indent="0" algn="ctr">
              <a:lnSpc>
                <a:spcPct val="115000"/>
              </a:lnSpc>
              <a:buNone/>
            </a:pPr>
            <a:r>
              <a:rPr lang="en-US" sz="2000" b="1" dirty="0">
                <a:solidFill>
                  <a:srgbClr val="111111"/>
                </a:solidFill>
                <a:latin typeface="Arial" panose="020B0604020202020204" pitchFamily="34" charset="0"/>
                <a:ea typeface="Arial" panose="020B0604020202020204" pitchFamily="34" charset="-122"/>
                <a:cs typeface="Arial" panose="020B0604020202020204" pitchFamily="34" charset="-120"/>
              </a:rPr>
              <a:t>目标：构造 W′ 与 b′，使 y = W′·x + b′</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8E44AD"/>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Conv+BN 融合原理</a:t>
            </a:r>
            <a:endParaRPr lang="en-US" sz="4265" dirty="0"/>
          </a:p>
        </p:txBody>
      </p:sp>
      <p:sp>
        <p:nvSpPr>
          <p:cNvPr id="4" name="Shape 2"/>
          <p:cNvSpPr/>
          <p:nvPr/>
        </p:nvSpPr>
        <p:spPr>
          <a:xfrm>
            <a:off x="755904" y="1194816"/>
            <a:ext cx="2682240" cy="60960"/>
          </a:xfrm>
          <a:prstGeom prst="rect">
            <a:avLst/>
          </a:prstGeom>
          <a:solidFill>
            <a:srgbClr val="E67E22"/>
          </a:solidFill>
        </p:spPr>
      </p:sp>
      <p:sp>
        <p:nvSpPr>
          <p:cNvPr id="5" name="Shape 3"/>
          <p:cNvSpPr/>
          <p:nvPr>
            <p:custDataLst>
              <p:tags r:id="rId1"/>
            </p:custDataLst>
          </p:nvPr>
        </p:nvSpPr>
        <p:spPr>
          <a:xfrm>
            <a:off x="686118" y="1783080"/>
            <a:ext cx="5394960" cy="2286000"/>
          </a:xfrm>
          <a:prstGeom prst="rect">
            <a:avLst/>
          </a:prstGeom>
          <a:solidFill>
            <a:srgbClr val="EDEDED"/>
          </a:solidFill>
          <a:ln w="12700">
            <a:solidFill>
              <a:srgbClr val="FFFFFF"/>
            </a:solidFill>
            <a:prstDash val="solid"/>
          </a:ln>
        </p:spPr>
      </p:sp>
      <p:sp>
        <p:nvSpPr>
          <p:cNvPr id="7" name="Text 4"/>
          <p:cNvSpPr/>
          <p:nvPr>
            <p:custDataLst>
              <p:tags r:id="rId2"/>
            </p:custDataLst>
          </p:nvPr>
        </p:nvSpPr>
        <p:spPr>
          <a:xfrm>
            <a:off x="960438" y="2011680"/>
            <a:ext cx="4846320" cy="45720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新权重</a:t>
            </a:r>
            <a:endParaRPr lang="en-US" sz="2400" dirty="0"/>
          </a:p>
        </p:txBody>
      </p:sp>
      <p:sp>
        <p:nvSpPr>
          <p:cNvPr id="8" name="Text 5"/>
          <p:cNvSpPr/>
          <p:nvPr>
            <p:custDataLst>
              <p:tags r:id="rId3"/>
            </p:custDataLst>
          </p:nvPr>
        </p:nvSpPr>
        <p:spPr>
          <a:xfrm>
            <a:off x="960438" y="2606040"/>
            <a:ext cx="4846320" cy="822960"/>
          </a:xfrm>
          <a:prstGeom prst="rect">
            <a:avLst/>
          </a:prstGeom>
          <a:noFill/>
        </p:spPr>
        <p:txBody>
          <a:bodyPr wrap="square" rtlCol="0" anchor="ctr"/>
          <a:lstStyle/>
          <a:p>
            <a:pPr marL="0" indent="0">
              <a:lnSpc>
                <a:spcPct val="115000"/>
              </a:lnSpc>
              <a:buNone/>
            </a:pPr>
            <a:r>
              <a:rPr lang="en-US" sz="2600" b="1" dirty="0">
                <a:solidFill>
                  <a:srgbClr val="C7000B"/>
                </a:solidFill>
                <a:latin typeface="Arial" panose="020B0604020202020204" pitchFamily="34" charset="0"/>
                <a:ea typeface="Arial" panose="020B0604020202020204" pitchFamily="34" charset="-122"/>
                <a:cs typeface="Arial" panose="020B0604020202020204" pitchFamily="34" charset="-120"/>
              </a:rPr>
              <a:t>W′ = γ·W / √(σ² + ε)</a:t>
            </a:r>
            <a:endParaRPr lang="en-US" sz="26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
        <p:nvSpPr>
          <p:cNvPr id="9" name="Shape 6"/>
          <p:cNvSpPr/>
          <p:nvPr>
            <p:custDataLst>
              <p:tags r:id="rId4"/>
            </p:custDataLst>
          </p:nvPr>
        </p:nvSpPr>
        <p:spPr>
          <a:xfrm>
            <a:off x="6355398" y="1783080"/>
            <a:ext cx="5166360" cy="2286000"/>
          </a:xfrm>
          <a:prstGeom prst="rect">
            <a:avLst/>
          </a:prstGeom>
          <a:solidFill>
            <a:srgbClr val="EDEDED"/>
          </a:solidFill>
          <a:ln w="12700">
            <a:solidFill>
              <a:srgbClr val="FFFFFF"/>
            </a:solidFill>
            <a:prstDash val="solid"/>
          </a:ln>
        </p:spPr>
      </p:sp>
      <p:sp>
        <p:nvSpPr>
          <p:cNvPr id="10" name="Text 7"/>
          <p:cNvSpPr/>
          <p:nvPr>
            <p:custDataLst>
              <p:tags r:id="rId5"/>
            </p:custDataLst>
          </p:nvPr>
        </p:nvSpPr>
        <p:spPr>
          <a:xfrm>
            <a:off x="6629718" y="2011680"/>
            <a:ext cx="4572000" cy="45720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新偏置</a:t>
            </a:r>
            <a:endParaRPr lang="en-US" sz="2400" dirty="0"/>
          </a:p>
        </p:txBody>
      </p:sp>
      <p:sp>
        <p:nvSpPr>
          <p:cNvPr id="11" name="Text 8"/>
          <p:cNvSpPr/>
          <p:nvPr>
            <p:custDataLst>
              <p:tags r:id="rId6"/>
            </p:custDataLst>
          </p:nvPr>
        </p:nvSpPr>
        <p:spPr>
          <a:xfrm>
            <a:off x="6629718" y="2606040"/>
            <a:ext cx="4663440" cy="822960"/>
          </a:xfrm>
          <a:prstGeom prst="rect">
            <a:avLst/>
          </a:prstGeom>
          <a:noFill/>
        </p:spPr>
        <p:txBody>
          <a:bodyPr wrap="square" rtlCol="0" anchor="ctr"/>
          <a:lstStyle/>
          <a:p>
            <a:pPr marL="0" indent="0">
              <a:lnSpc>
                <a:spcPct val="115000"/>
              </a:lnSpc>
              <a:buNone/>
            </a:pPr>
            <a:r>
              <a:rPr lang="en-US" sz="2400" b="1" dirty="0">
                <a:solidFill>
                  <a:srgbClr val="C7000B"/>
                </a:solidFill>
                <a:latin typeface="Arial" panose="020B0604020202020204" pitchFamily="34" charset="0"/>
                <a:ea typeface="Arial" panose="020B0604020202020204" pitchFamily="34" charset="-122"/>
                <a:cs typeface="Arial" panose="020B0604020202020204" pitchFamily="34" charset="-120"/>
              </a:rPr>
              <a:t>b′ = γ·(b − μ)/√(σ² + ε) + β</a:t>
            </a:r>
            <a:endParaRPr lang="en-US" sz="24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
        <p:nvSpPr>
          <p:cNvPr id="12" name="Shape 9"/>
          <p:cNvSpPr/>
          <p:nvPr/>
        </p:nvSpPr>
        <p:spPr>
          <a:xfrm>
            <a:off x="686118" y="4343400"/>
            <a:ext cx="10835640" cy="1737360"/>
          </a:xfrm>
          <a:prstGeom prst="rect">
            <a:avLst/>
          </a:prstGeom>
          <a:solidFill>
            <a:srgbClr val="EDEDED"/>
          </a:solidFill>
          <a:ln w="12700">
            <a:solidFill>
              <a:srgbClr val="FFFFFF"/>
            </a:solidFill>
            <a:prstDash val="solid"/>
          </a:ln>
        </p:spPr>
      </p:sp>
      <p:sp>
        <p:nvSpPr>
          <p:cNvPr id="19" name="Text 10"/>
          <p:cNvSpPr/>
          <p:nvPr/>
        </p:nvSpPr>
        <p:spPr>
          <a:xfrm>
            <a:off x="686118" y="4617720"/>
            <a:ext cx="10835640" cy="822960"/>
          </a:xfrm>
          <a:prstGeom prst="rect">
            <a:avLst/>
          </a:prstGeom>
          <a:noFill/>
        </p:spPr>
        <p:txBody>
          <a:bodyPr wrap="square" rtlCol="0" anchor="ctr"/>
          <a:lstStyle/>
          <a:p>
            <a:pPr marL="0" indent="0" algn="ctr">
              <a:lnSpc>
                <a:spcPct val="115000"/>
              </a:lnSpc>
              <a:buNone/>
            </a:pPr>
            <a:r>
              <a:rPr lang="en-US" sz="3000" b="1" dirty="0">
                <a:solidFill>
                  <a:srgbClr val="111111"/>
                </a:solidFill>
                <a:latin typeface="Arial" panose="020B0604020202020204" pitchFamily="34" charset="0"/>
                <a:ea typeface="Arial" panose="020B0604020202020204" pitchFamily="34" charset="-122"/>
                <a:cs typeface="Arial" panose="020B0604020202020204" pitchFamily="34" charset="-120"/>
              </a:rPr>
              <a:t>融合后：y = W′·x + b′</a:t>
            </a:r>
            <a:endParaRPr lang="en-US" sz="3000" dirty="0"/>
          </a:p>
        </p:txBody>
      </p:sp>
      <p:sp>
        <p:nvSpPr>
          <p:cNvPr id="20" name="Text 11"/>
          <p:cNvSpPr/>
          <p:nvPr/>
        </p:nvSpPr>
        <p:spPr>
          <a:xfrm>
            <a:off x="686118" y="5532120"/>
            <a:ext cx="10835640" cy="457200"/>
          </a:xfrm>
          <a:prstGeom prst="rect">
            <a:avLst/>
          </a:prstGeom>
          <a:noFill/>
        </p:spPr>
        <p:txBody>
          <a:bodyPr wrap="square" rtlCol="0" anchor="t"/>
          <a:lstStyle/>
          <a:p>
            <a:pPr marL="0" indent="0" algn="ctr">
              <a:lnSpc>
                <a:spcPct val="115000"/>
              </a:lnSpc>
              <a:buNone/>
            </a:pPr>
            <a:r>
              <a:rPr lang="en-US" sz="1700" dirty="0">
                <a:solidFill>
                  <a:srgbClr val="555555"/>
                </a:solidFill>
                <a:latin typeface="Arial" panose="020B0604020202020204" pitchFamily="34" charset="0"/>
                <a:ea typeface="Arial" panose="020B0604020202020204" pitchFamily="34" charset="-122"/>
                <a:cs typeface="Arial" panose="020B0604020202020204" pitchFamily="34" charset="-120"/>
              </a:rPr>
              <a:t>推理时只需要执行一次卷积，BatchNorm 算子被完全消除。</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训练时统计量逐 batch 变化，不能提前折叠</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783080"/>
            <a:ext cx="5394960" cy="3886200"/>
          </a:xfrm>
          <a:prstGeom prst="rect">
            <a:avLst/>
          </a:prstGeom>
          <a:solidFill>
            <a:srgbClr val="EDEDED"/>
          </a:solidFill>
          <a:ln w="12700">
            <a:solidFill>
              <a:srgbClr val="FFFFFF"/>
            </a:solidFill>
            <a:prstDash val="solid"/>
          </a:ln>
        </p:spPr>
      </p:sp>
      <p:sp>
        <p:nvSpPr>
          <p:cNvPr id="6" name="Text 4"/>
          <p:cNvSpPr/>
          <p:nvPr/>
        </p:nvSpPr>
        <p:spPr>
          <a:xfrm>
            <a:off x="960438" y="2011680"/>
            <a:ext cx="484632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训练模式</a:t>
            </a:r>
            <a:endParaRPr lang="en-US" sz="2400" dirty="0"/>
          </a:p>
        </p:txBody>
      </p:sp>
      <p:sp>
        <p:nvSpPr>
          <p:cNvPr id="7" name="Text 5"/>
          <p:cNvSpPr/>
          <p:nvPr/>
        </p:nvSpPr>
        <p:spPr>
          <a:xfrm>
            <a:off x="960438" y="2606040"/>
            <a:ext cx="4846320" cy="640080"/>
          </a:xfrm>
          <a:prstGeom prst="rect">
            <a:avLst/>
          </a:prstGeom>
          <a:noFill/>
        </p:spPr>
        <p:txBody>
          <a:bodyPr wrap="square" rtlCol="0" anchor="t"/>
          <a:lstStyle/>
          <a:p>
            <a:pPr marL="0" indent="0">
              <a:lnSpc>
                <a:spcPct val="115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BN 使用当前 batch 的均值与方差</a:t>
            </a:r>
            <a:endParaRPr lang="en-US" sz="1700" dirty="0"/>
          </a:p>
        </p:txBody>
      </p:sp>
      <p:sp>
        <p:nvSpPr>
          <p:cNvPr id="8" name="Text 6"/>
          <p:cNvSpPr/>
          <p:nvPr/>
        </p:nvSpPr>
        <p:spPr>
          <a:xfrm>
            <a:off x="960438" y="3291840"/>
            <a:ext cx="4846320" cy="548640"/>
          </a:xfrm>
          <a:prstGeom prst="rect">
            <a:avLst/>
          </a:prstGeom>
          <a:noFill/>
        </p:spPr>
        <p:txBody>
          <a:bodyPr wrap="square" rtlCol="0" anchor="t"/>
          <a:lstStyle/>
          <a:p>
            <a:pPr marL="0" indent="0">
              <a:lnSpc>
                <a:spcPct val="115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统计量每个 step 都在变化</a:t>
            </a:r>
            <a:endParaRPr lang="en-US" sz="1700" dirty="0"/>
          </a:p>
        </p:txBody>
      </p:sp>
      <p:sp>
        <p:nvSpPr>
          <p:cNvPr id="9" name="Text 7"/>
          <p:cNvSpPr/>
          <p:nvPr/>
        </p:nvSpPr>
        <p:spPr>
          <a:xfrm>
            <a:off x="960438" y="3977640"/>
            <a:ext cx="4846320" cy="1280160"/>
          </a:xfrm>
          <a:prstGeom prst="rect">
            <a:avLst/>
          </a:prstGeom>
          <a:noFill/>
        </p:spPr>
        <p:txBody>
          <a:bodyPr wrap="square" rtlCol="0" anchor="t"/>
          <a:lstStyle/>
          <a:p>
            <a:pPr marL="0" indent="0">
              <a:lnSpc>
                <a:spcPct val="115000"/>
              </a:lnSpc>
              <a:buNone/>
            </a:pPr>
            <a:r>
              <a:rPr lang="en-US" sz="1600" dirty="0">
                <a:solidFill>
                  <a:srgbClr val="555555"/>
                </a:solidFill>
                <a:latin typeface="Arial" panose="020B0604020202020204" pitchFamily="34" charset="0"/>
                <a:ea typeface="Arial" panose="020B0604020202020204" pitchFamily="34" charset="-122"/>
                <a:cs typeface="Arial" panose="020B0604020202020204" pitchFamily="34" charset="-120"/>
              </a:rPr>
              <a:t>如果提前折进权重，权重会随 batch 统计量漂移，训练不再等价。</a:t>
            </a:r>
            <a:endParaRPr lang="en-US" sz="1600" dirty="0"/>
          </a:p>
        </p:txBody>
      </p:sp>
      <p:sp>
        <p:nvSpPr>
          <p:cNvPr id="10" name="Shape 8"/>
          <p:cNvSpPr/>
          <p:nvPr/>
        </p:nvSpPr>
        <p:spPr>
          <a:xfrm>
            <a:off x="6355398" y="1783080"/>
            <a:ext cx="5166360" cy="3886200"/>
          </a:xfrm>
          <a:prstGeom prst="rect">
            <a:avLst/>
          </a:prstGeom>
          <a:solidFill>
            <a:srgbClr val="EDEDED"/>
          </a:solidFill>
          <a:ln w="12700">
            <a:solidFill>
              <a:srgbClr val="FFFFFF"/>
            </a:solidFill>
            <a:prstDash val="solid"/>
          </a:ln>
        </p:spPr>
      </p:sp>
      <p:sp>
        <p:nvSpPr>
          <p:cNvPr id="11" name="Text 9"/>
          <p:cNvSpPr/>
          <p:nvPr/>
        </p:nvSpPr>
        <p:spPr>
          <a:xfrm>
            <a:off x="6629718" y="2011680"/>
            <a:ext cx="457200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推理模式</a:t>
            </a:r>
            <a:endParaRPr lang="en-US" sz="2400" dirty="0"/>
          </a:p>
        </p:txBody>
      </p:sp>
      <p:sp>
        <p:nvSpPr>
          <p:cNvPr id="12" name="Text 10"/>
          <p:cNvSpPr/>
          <p:nvPr/>
        </p:nvSpPr>
        <p:spPr>
          <a:xfrm>
            <a:off x="6629718" y="2606040"/>
            <a:ext cx="4663440" cy="640080"/>
          </a:xfrm>
          <a:prstGeom prst="rect">
            <a:avLst/>
          </a:prstGeom>
          <a:noFill/>
        </p:spPr>
        <p:txBody>
          <a:bodyPr wrap="square" rtlCol="0" anchor="t"/>
          <a:lstStyle/>
          <a:p>
            <a:pPr marL="0" indent="0">
              <a:lnSpc>
                <a:spcPct val="115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BN 使用固定的 running_mean / running_var</a:t>
            </a:r>
            <a:endParaRPr lang="en-US" sz="1700" dirty="0"/>
          </a:p>
        </p:txBody>
      </p:sp>
      <p:sp>
        <p:nvSpPr>
          <p:cNvPr id="13" name="Text 11"/>
          <p:cNvSpPr/>
          <p:nvPr/>
        </p:nvSpPr>
        <p:spPr>
          <a:xfrm>
            <a:off x="6629718" y="3291840"/>
            <a:ext cx="4663440" cy="548640"/>
          </a:xfrm>
          <a:prstGeom prst="rect">
            <a:avLst/>
          </a:prstGeom>
          <a:noFill/>
        </p:spPr>
        <p:txBody>
          <a:bodyPr wrap="square" rtlCol="0" anchor="t"/>
          <a:lstStyle/>
          <a:p>
            <a:pPr marL="0" indent="0">
              <a:lnSpc>
                <a:spcPct val="115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统计量不再变化</a:t>
            </a:r>
            <a:endParaRPr lang="en-US" sz="1700" dirty="0"/>
          </a:p>
        </p:txBody>
      </p:sp>
      <p:sp>
        <p:nvSpPr>
          <p:cNvPr id="14" name="Text 12"/>
          <p:cNvSpPr/>
          <p:nvPr/>
        </p:nvSpPr>
        <p:spPr>
          <a:xfrm>
            <a:off x="6629718" y="3977640"/>
            <a:ext cx="4663440" cy="1280160"/>
          </a:xfrm>
          <a:prstGeom prst="rect">
            <a:avLst/>
          </a:prstGeom>
          <a:noFill/>
        </p:spPr>
        <p:txBody>
          <a:bodyPr wrap="square" rtlCol="0" anchor="t"/>
          <a:lstStyle/>
          <a:p>
            <a:pPr marL="0" indent="0">
              <a:lnSpc>
                <a:spcPct val="115000"/>
              </a:lnSpc>
              <a:buNone/>
            </a:pPr>
            <a:r>
              <a:rPr lang="en-US" sz="1600" dirty="0">
                <a:solidFill>
                  <a:srgbClr val="555555"/>
                </a:solidFill>
                <a:latin typeface="Arial" panose="020B0604020202020204" pitchFamily="34" charset="0"/>
                <a:ea typeface="Arial" panose="020B0604020202020204" pitchFamily="34" charset="-122"/>
                <a:cs typeface="Arial" panose="020B0604020202020204" pitchFamily="34" charset="-120"/>
              </a:rPr>
              <a:t>所以可以把归一化参数稳定地折进卷积权重。</a:t>
            </a:r>
            <a:endParaRPr lang="en-US" sz="1600" dirty="0"/>
          </a:p>
        </p:txBody>
      </p:sp>
      <p:sp>
        <p:nvSpPr>
          <p:cNvPr id="15" name="Shape 13"/>
          <p:cNvSpPr/>
          <p:nvPr/>
        </p:nvSpPr>
        <p:spPr>
          <a:xfrm>
            <a:off x="686118" y="5806440"/>
            <a:ext cx="10835640" cy="685800"/>
          </a:xfrm>
          <a:prstGeom prst="rect">
            <a:avLst/>
          </a:prstGeom>
          <a:solidFill>
            <a:srgbClr val="EDEDED"/>
          </a:solidFill>
          <a:ln w="12700">
            <a:solidFill>
              <a:srgbClr val="FFFFFF"/>
            </a:solidFill>
            <a:prstDash val="solid"/>
          </a:ln>
        </p:spPr>
      </p:sp>
      <p:sp>
        <p:nvSpPr>
          <p:cNvPr id="16" name="Text 14"/>
          <p:cNvSpPr/>
          <p:nvPr/>
        </p:nvSpPr>
        <p:spPr>
          <a:xfrm>
            <a:off x="686118" y="5925312"/>
            <a:ext cx="10835640" cy="457200"/>
          </a:xfrm>
          <a:prstGeom prst="rect">
            <a:avLst/>
          </a:prstGeom>
          <a:noFill/>
        </p:spPr>
        <p:txBody>
          <a:bodyPr wrap="square" rtlCol="0" anchor="t"/>
          <a:lstStyle/>
          <a:p>
            <a:pPr marL="0" indent="0" algn="ctr">
              <a:lnSpc>
                <a:spcPct val="115000"/>
              </a:lnSpc>
              <a:buNone/>
            </a:pPr>
            <a:r>
              <a:rPr lang="en-US" sz="1800" b="1" dirty="0">
                <a:solidFill>
                  <a:srgbClr val="111111"/>
                </a:solidFill>
                <a:latin typeface="Arial" panose="020B0604020202020204" pitchFamily="34" charset="0"/>
                <a:ea typeface="Arial" panose="020B0604020202020204" pitchFamily="34" charset="-122"/>
                <a:cs typeface="Arial" panose="020B0604020202020204" pitchFamily="34" charset="-120"/>
              </a:rPr>
              <a:t>结论：Conv+BN 融合只适用于 eval / 推理模式</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配置</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算子与优化</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原理介绍</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sym typeface="+mn-ea"/>
              </a:rPr>
              <a:t>课后习题</a:t>
            </a:r>
            <a:endParaRPr lang="en-US" dirty="0">
              <a:solidFill>
                <a:schemeClr val="bg1">
                  <a:lumMod val="75000"/>
                </a:schemeClr>
              </a:solidFill>
            </a:endParaRPr>
          </a:p>
          <a:p>
            <a:endParaRPr lang="en-US" dirty="0"/>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Shape 1"/>
          <p:cNvSpPr/>
          <p:nvPr/>
        </p:nvSpPr>
        <p:spPr>
          <a:xfrm>
            <a:off x="686118" y="502920"/>
            <a:ext cx="1143000" cy="914400"/>
          </a:xfrm>
          <a:prstGeom prst="rect">
            <a:avLst/>
          </a:prstGeom>
          <a:solidFill>
            <a:srgbClr val="EDEDED"/>
          </a:solidFill>
          <a:ln w="12700">
            <a:solidFill>
              <a:srgbClr val="FFFFFF"/>
            </a:solidFill>
            <a:prstDash val="solid"/>
          </a:ln>
        </p:spPr>
      </p:sp>
      <p:sp>
        <p:nvSpPr>
          <p:cNvPr id="4" name="Text 2"/>
          <p:cNvSpPr/>
          <p:nvPr/>
        </p:nvSpPr>
        <p:spPr>
          <a:xfrm>
            <a:off x="686118" y="640080"/>
            <a:ext cx="1143000" cy="731520"/>
          </a:xfrm>
          <a:prstGeom prst="rect">
            <a:avLst/>
          </a:prstGeom>
          <a:noFill/>
        </p:spPr>
        <p:txBody>
          <a:bodyPr wrap="square" rtlCol="0" anchor="ctr"/>
          <a:lstStyle/>
          <a:p>
            <a:pPr marL="0" indent="0" algn="ctr">
              <a:lnSpc>
                <a:spcPct val="115000"/>
              </a:lnSpc>
              <a:buNone/>
            </a:pPr>
            <a:r>
              <a:rPr lang="en-US" sz="2400" b="1" dirty="0">
                <a:solidFill>
                  <a:srgbClr val="3D8DFF"/>
                </a:solidFill>
                <a:latin typeface="Arial" panose="020B0604020202020204" pitchFamily="34" charset="0"/>
                <a:ea typeface="Arial" panose="020B0604020202020204" pitchFamily="34" charset="-122"/>
                <a:cs typeface="Arial" panose="020B0604020202020204" pitchFamily="34" charset="-120"/>
              </a:rPr>
              <a:t>01</a:t>
            </a:r>
            <a:endParaRPr lang="en-US" sz="2400" dirty="0"/>
          </a:p>
        </p:txBody>
      </p:sp>
      <p:sp>
        <p:nvSpPr>
          <p:cNvPr id="5" name="Text 3"/>
          <p:cNvSpPr/>
          <p:nvPr/>
        </p:nvSpPr>
        <p:spPr>
          <a:xfrm>
            <a:off x="2011998" y="502920"/>
            <a:ext cx="9509760" cy="822960"/>
          </a:xfrm>
          <a:prstGeom prst="rect">
            <a:avLst/>
          </a:prstGeom>
          <a:noFill/>
        </p:spPr>
        <p:txBody>
          <a:bodyPr wrap="square" rtlCol="0" anchor="ctr"/>
          <a:lstStyle/>
          <a:p>
            <a:pPr marL="0" algn="l">
              <a:lnSpc>
                <a:spcPct val="100000"/>
              </a:lnSpc>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先明确优化目标</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 name="Shape 4"/>
          <p:cNvSpPr/>
          <p:nvPr/>
        </p:nvSpPr>
        <p:spPr>
          <a:xfrm>
            <a:off x="2057718" y="1353312"/>
            <a:ext cx="1463040" cy="41148"/>
          </a:xfrm>
          <a:prstGeom prst="rect">
            <a:avLst/>
          </a:prstGeom>
          <a:solidFill>
            <a:srgbClr val="3D8DFF"/>
          </a:solidFill>
          <a:ln w="12700">
            <a:solidFill>
              <a:srgbClr val="3D8DFF"/>
            </a:solidFill>
            <a:prstDash val="solid"/>
          </a:ln>
        </p:spPr>
      </p:sp>
      <p:sp>
        <p:nvSpPr>
          <p:cNvPr id="7" name="Shape 5"/>
          <p:cNvSpPr/>
          <p:nvPr/>
        </p:nvSpPr>
        <p:spPr>
          <a:xfrm>
            <a:off x="686118" y="1874520"/>
            <a:ext cx="10835640" cy="3566160"/>
          </a:xfrm>
          <a:prstGeom prst="rect">
            <a:avLst/>
          </a:prstGeom>
          <a:solidFill>
            <a:srgbClr val="EDEDED"/>
          </a:solidFill>
          <a:ln w="12700">
            <a:solidFill>
              <a:srgbClr val="FFFFFF"/>
            </a:solidFill>
            <a:prstDash val="solid"/>
          </a:ln>
        </p:spPr>
      </p:sp>
      <p:sp>
        <p:nvSpPr>
          <p:cNvPr id="8" name="Text 6"/>
          <p:cNvSpPr/>
          <p:nvPr/>
        </p:nvSpPr>
        <p:spPr>
          <a:xfrm>
            <a:off x="1051878" y="2148840"/>
            <a:ext cx="10149840" cy="3017520"/>
          </a:xfrm>
          <a:prstGeom prst="rect">
            <a:avLst/>
          </a:prstGeom>
          <a:noFill/>
        </p:spPr>
        <p:txBody>
          <a:bodyPr wrap="square" rtlCol="0" anchor="t"/>
          <a:lstStyle/>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理解算子融合与 Conv+BN 折叠的基本原理</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建立“定位 → 基线 → 优化 → 验证 → 对比”的方法论</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熟悉 Ascend NPU、torch_npu、CANN 环境</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确定优化对象：MobileNetV3-Large 中的 Conv+BN 组合</a:t>
            </a:r>
            <a:endParaRPr lang="en-US" sz="1800" dirty="0"/>
          </a:p>
        </p:txBody>
      </p:sp>
      <p:sp>
        <p:nvSpPr>
          <p:cNvPr id="9" name="Shape 7"/>
          <p:cNvSpPr/>
          <p:nvPr/>
        </p:nvSpPr>
        <p:spPr>
          <a:xfrm>
            <a:off x="686118" y="5623560"/>
            <a:ext cx="10835640" cy="777240"/>
          </a:xfrm>
          <a:prstGeom prst="rect">
            <a:avLst/>
          </a:prstGeom>
          <a:solidFill>
            <a:srgbClr val="EDEDED"/>
          </a:solidFill>
          <a:ln w="12700">
            <a:solidFill>
              <a:srgbClr val="FFFFFF"/>
            </a:solidFill>
            <a:prstDash val="solid"/>
          </a:ln>
        </p:spPr>
      </p:sp>
      <p:sp>
        <p:nvSpPr>
          <p:cNvPr id="10" name="Text 8"/>
          <p:cNvSpPr/>
          <p:nvPr/>
        </p:nvSpPr>
        <p:spPr>
          <a:xfrm>
            <a:off x="686118" y="5760720"/>
            <a:ext cx="10835640" cy="502920"/>
          </a:xfrm>
          <a:prstGeom prst="rect">
            <a:avLst/>
          </a:prstGeom>
          <a:noFill/>
        </p:spPr>
        <p:txBody>
          <a:bodyPr wrap="square" rtlCol="0" anchor="ctr"/>
          <a:lstStyle/>
          <a:p>
            <a:pPr marL="0" indent="0" algn="ctr">
              <a:lnSpc>
                <a:spcPct val="115000"/>
              </a:lnSpc>
              <a:buNone/>
            </a:pPr>
            <a:r>
              <a:rPr lang="en-US" sz="2000" b="1" dirty="0">
                <a:solidFill>
                  <a:srgbClr val="C7000B"/>
                </a:solidFill>
                <a:latin typeface="Arial" panose="020B0604020202020204" pitchFamily="34" charset="0"/>
                <a:ea typeface="Arial" panose="020B0604020202020204" pitchFamily="34" charset="-122"/>
                <a:cs typeface="Arial" panose="020B0604020202020204" pitchFamily="34" charset="-120"/>
              </a:rPr>
              <a:t>本实验用“数学等价变换”换取算子数与访存开销的下降</a:t>
            </a:r>
            <a:endParaRPr lang="en-US" sz="20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Shape 1"/>
          <p:cNvSpPr/>
          <p:nvPr/>
        </p:nvSpPr>
        <p:spPr>
          <a:xfrm>
            <a:off x="686118" y="502920"/>
            <a:ext cx="1143000" cy="914400"/>
          </a:xfrm>
          <a:prstGeom prst="rect">
            <a:avLst/>
          </a:prstGeom>
          <a:solidFill>
            <a:srgbClr val="EDEDED"/>
          </a:solidFill>
          <a:ln w="12700">
            <a:solidFill>
              <a:srgbClr val="FFFFFF"/>
            </a:solidFill>
            <a:prstDash val="solid"/>
          </a:ln>
        </p:spPr>
      </p:sp>
      <p:sp>
        <p:nvSpPr>
          <p:cNvPr id="4" name="Text 2"/>
          <p:cNvSpPr/>
          <p:nvPr/>
        </p:nvSpPr>
        <p:spPr>
          <a:xfrm>
            <a:off x="686118" y="640080"/>
            <a:ext cx="1143000" cy="731520"/>
          </a:xfrm>
          <a:prstGeom prst="rect">
            <a:avLst/>
          </a:prstGeom>
          <a:noFill/>
        </p:spPr>
        <p:txBody>
          <a:bodyPr wrap="square" rtlCol="0" anchor="ctr"/>
          <a:lstStyle/>
          <a:p>
            <a:pPr marL="0" indent="0" algn="ctr">
              <a:lnSpc>
                <a:spcPct val="115000"/>
              </a:lnSpc>
              <a:buNone/>
            </a:pPr>
            <a:r>
              <a:rPr lang="en-US" sz="2400" b="1" dirty="0">
                <a:solidFill>
                  <a:srgbClr val="3D8DFF"/>
                </a:solidFill>
                <a:latin typeface="Arial" panose="020B0604020202020204" pitchFamily="34" charset="0"/>
                <a:ea typeface="Arial" panose="020B0604020202020204" pitchFamily="34" charset="-122"/>
                <a:cs typeface="Arial" panose="020B0604020202020204" pitchFamily="34" charset="-120"/>
              </a:rPr>
              <a:t>02</a:t>
            </a:r>
            <a:endParaRPr lang="en-US" sz="2400" dirty="0"/>
          </a:p>
        </p:txBody>
      </p:sp>
      <p:sp>
        <p:nvSpPr>
          <p:cNvPr id="5" name="Text 3"/>
          <p:cNvSpPr/>
          <p:nvPr/>
        </p:nvSpPr>
        <p:spPr>
          <a:xfrm>
            <a:off x="2011998" y="502920"/>
            <a:ext cx="9509760" cy="822960"/>
          </a:xfrm>
          <a:prstGeom prst="rect">
            <a:avLst/>
          </a:prstGeom>
          <a:noFill/>
        </p:spPr>
        <p:txBody>
          <a:bodyPr wrap="square" rtlCol="0" anchor="ctr"/>
          <a:lstStyle/>
          <a:p>
            <a:pPr marL="0" indent="0">
              <a:lnSpc>
                <a:spcPct val="115000"/>
              </a:lnSpc>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找到可融合的 Conv+BN</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 name="Shape 4"/>
          <p:cNvSpPr/>
          <p:nvPr/>
        </p:nvSpPr>
        <p:spPr>
          <a:xfrm>
            <a:off x="2057718" y="1353312"/>
            <a:ext cx="1463040" cy="41148"/>
          </a:xfrm>
          <a:prstGeom prst="rect">
            <a:avLst/>
          </a:prstGeom>
          <a:solidFill>
            <a:srgbClr val="3D8DFF"/>
          </a:solidFill>
          <a:ln w="12700">
            <a:solidFill>
              <a:srgbClr val="3D8DFF"/>
            </a:solidFill>
            <a:prstDash val="solid"/>
          </a:ln>
        </p:spPr>
      </p:sp>
      <p:sp>
        <p:nvSpPr>
          <p:cNvPr id="7" name="Shape 5"/>
          <p:cNvSpPr/>
          <p:nvPr/>
        </p:nvSpPr>
        <p:spPr>
          <a:xfrm>
            <a:off x="686118" y="1874520"/>
            <a:ext cx="10835640" cy="3566160"/>
          </a:xfrm>
          <a:prstGeom prst="rect">
            <a:avLst/>
          </a:prstGeom>
          <a:solidFill>
            <a:srgbClr val="EDEDED"/>
          </a:solidFill>
          <a:ln w="12700">
            <a:solidFill>
              <a:srgbClr val="FFFFFF"/>
            </a:solidFill>
            <a:prstDash val="solid"/>
          </a:ln>
        </p:spPr>
      </p:sp>
      <p:sp>
        <p:nvSpPr>
          <p:cNvPr id="8" name="Text 6"/>
          <p:cNvSpPr/>
          <p:nvPr/>
        </p:nvSpPr>
        <p:spPr>
          <a:xfrm>
            <a:off x="1051878" y="2148840"/>
            <a:ext cx="10149840" cy="3017520"/>
          </a:xfrm>
          <a:prstGeom prst="rect">
            <a:avLst/>
          </a:prstGeom>
          <a:noFill/>
        </p:spPr>
        <p:txBody>
          <a:bodyPr wrap="square" rtlCol="0" anchor="t"/>
          <a:lstStyle/>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运行内嵌的 MobileNetV3-Large 模型定义</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使用 find_conv_bn_pairs 遍历所有子模块</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识别“Conv2d 后紧跟 BatchNorm2d”的相邻算子对</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打印每个算子对的位置、输入输出通道、kernel、groups</a:t>
            </a:r>
            <a:endParaRPr lang="en-US" sz="1800" dirty="0"/>
          </a:p>
        </p:txBody>
      </p:sp>
      <p:sp>
        <p:nvSpPr>
          <p:cNvPr id="9" name="Shape 7"/>
          <p:cNvSpPr/>
          <p:nvPr/>
        </p:nvSpPr>
        <p:spPr>
          <a:xfrm>
            <a:off x="686118" y="5623560"/>
            <a:ext cx="10835640" cy="777240"/>
          </a:xfrm>
          <a:prstGeom prst="rect">
            <a:avLst/>
          </a:prstGeom>
          <a:solidFill>
            <a:srgbClr val="EDEDED"/>
          </a:solidFill>
          <a:ln w="12700">
            <a:solidFill>
              <a:srgbClr val="FFFFFF"/>
            </a:solidFill>
            <a:prstDash val="solid"/>
          </a:ln>
        </p:spPr>
      </p:sp>
      <p:sp>
        <p:nvSpPr>
          <p:cNvPr id="10" name="Text 8"/>
          <p:cNvSpPr/>
          <p:nvPr/>
        </p:nvSpPr>
        <p:spPr>
          <a:xfrm>
            <a:off x="686118" y="5760720"/>
            <a:ext cx="10835640" cy="502920"/>
          </a:xfrm>
          <a:prstGeom prst="rect">
            <a:avLst/>
          </a:prstGeom>
          <a:noFill/>
        </p:spPr>
        <p:txBody>
          <a:bodyPr wrap="square" rtlCol="0" anchor="ctr"/>
          <a:lstStyle/>
          <a:p>
            <a:pPr marL="0" indent="0" algn="ctr">
              <a:lnSpc>
                <a:spcPct val="115000"/>
              </a:lnSpc>
              <a:buNone/>
            </a:pPr>
            <a:r>
              <a:rPr lang="en-US" sz="2000" b="1" dirty="0">
                <a:solidFill>
                  <a:srgbClr val="C7000B"/>
                </a:solidFill>
                <a:latin typeface="Arial" panose="020B0604020202020204" pitchFamily="34" charset="0"/>
                <a:ea typeface="Arial" panose="020B0604020202020204" pitchFamily="34" charset="-122"/>
                <a:cs typeface="Arial" panose="020B0604020202020204" pitchFamily="34" charset="-120"/>
              </a:rPr>
              <a:t>预计定位到约 47 组可融合的 Conv+BN 算子对</a:t>
            </a:r>
            <a:endParaRPr lang="en-US" sz="20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pic>
        <p:nvPicPr>
          <p:cNvPr id="11" name="图片 10"/>
          <p:cNvPicPr>
            <a:picLocks noChangeAspect="1"/>
          </p:cNvPicPr>
          <p:nvPr/>
        </p:nvPicPr>
        <p:blipFill>
          <a:blip r:embed="rId1"/>
          <a:stretch>
            <a:fillRect/>
          </a:stretch>
        </p:blipFill>
        <p:spPr>
          <a:xfrm>
            <a:off x="1295400" y="3714750"/>
            <a:ext cx="7048500" cy="1295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Shape 1"/>
          <p:cNvSpPr/>
          <p:nvPr/>
        </p:nvSpPr>
        <p:spPr>
          <a:xfrm>
            <a:off x="686118" y="502920"/>
            <a:ext cx="1143000" cy="914400"/>
          </a:xfrm>
          <a:prstGeom prst="rect">
            <a:avLst/>
          </a:prstGeom>
          <a:solidFill>
            <a:srgbClr val="EDEDED"/>
          </a:solidFill>
          <a:ln w="12700">
            <a:solidFill>
              <a:srgbClr val="FFFFFF"/>
            </a:solidFill>
            <a:prstDash val="solid"/>
          </a:ln>
        </p:spPr>
      </p:sp>
      <p:sp>
        <p:nvSpPr>
          <p:cNvPr id="4" name="Text 2"/>
          <p:cNvSpPr/>
          <p:nvPr/>
        </p:nvSpPr>
        <p:spPr>
          <a:xfrm>
            <a:off x="686118" y="640080"/>
            <a:ext cx="1143000" cy="731520"/>
          </a:xfrm>
          <a:prstGeom prst="rect">
            <a:avLst/>
          </a:prstGeom>
          <a:noFill/>
        </p:spPr>
        <p:txBody>
          <a:bodyPr wrap="square" rtlCol="0" anchor="ctr"/>
          <a:lstStyle/>
          <a:p>
            <a:pPr marL="0" indent="0" algn="ctr">
              <a:lnSpc>
                <a:spcPct val="115000"/>
              </a:lnSpc>
              <a:buNone/>
            </a:pPr>
            <a:r>
              <a:rPr lang="en-US" sz="2400" b="1" dirty="0">
                <a:solidFill>
                  <a:srgbClr val="3D8DFF"/>
                </a:solidFill>
                <a:latin typeface="Arial" panose="020B0604020202020204" pitchFamily="34" charset="0"/>
                <a:ea typeface="Arial" panose="020B0604020202020204" pitchFamily="34" charset="-122"/>
                <a:cs typeface="Arial" panose="020B0604020202020204" pitchFamily="34" charset="-120"/>
              </a:rPr>
              <a:t>03</a:t>
            </a:r>
            <a:endParaRPr lang="en-US" sz="2400" dirty="0"/>
          </a:p>
        </p:txBody>
      </p:sp>
      <p:sp>
        <p:nvSpPr>
          <p:cNvPr id="5" name="Text 3"/>
          <p:cNvSpPr/>
          <p:nvPr/>
        </p:nvSpPr>
        <p:spPr>
          <a:xfrm>
            <a:off x="2011998" y="502920"/>
            <a:ext cx="9509760" cy="822960"/>
          </a:xfrm>
          <a:prstGeom prst="rect">
            <a:avLst/>
          </a:prstGeom>
          <a:noFill/>
        </p:spPr>
        <p:txBody>
          <a:bodyPr wrap="square" rtlCol="0" anchor="ctr"/>
          <a:lstStyle/>
          <a:p>
            <a:pPr marL="0" algn="l">
              <a:lnSpc>
                <a:spcPct val="115000"/>
              </a:lnSpc>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先测未融合性能</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 name="Shape 4"/>
          <p:cNvSpPr/>
          <p:nvPr/>
        </p:nvSpPr>
        <p:spPr>
          <a:xfrm>
            <a:off x="2057718" y="1353312"/>
            <a:ext cx="1463040" cy="41148"/>
          </a:xfrm>
          <a:prstGeom prst="rect">
            <a:avLst/>
          </a:prstGeom>
          <a:solidFill>
            <a:srgbClr val="3D8DFF"/>
          </a:solidFill>
          <a:ln w="12700">
            <a:solidFill>
              <a:srgbClr val="3D8DFF"/>
            </a:solidFill>
            <a:prstDash val="solid"/>
          </a:ln>
        </p:spPr>
      </p:sp>
      <p:sp>
        <p:nvSpPr>
          <p:cNvPr id="7" name="Shape 5"/>
          <p:cNvSpPr/>
          <p:nvPr/>
        </p:nvSpPr>
        <p:spPr>
          <a:xfrm>
            <a:off x="686118" y="1874520"/>
            <a:ext cx="10835640" cy="3566160"/>
          </a:xfrm>
          <a:prstGeom prst="rect">
            <a:avLst/>
          </a:prstGeom>
          <a:solidFill>
            <a:srgbClr val="EDEDED"/>
          </a:solidFill>
          <a:ln w="12700">
            <a:solidFill>
              <a:srgbClr val="FFFFFF"/>
            </a:solidFill>
            <a:prstDash val="solid"/>
          </a:ln>
        </p:spPr>
      </p:sp>
      <p:sp>
        <p:nvSpPr>
          <p:cNvPr id="8" name="Text 6"/>
          <p:cNvSpPr/>
          <p:nvPr/>
        </p:nvSpPr>
        <p:spPr>
          <a:xfrm>
            <a:off x="1051878" y="2148840"/>
            <a:ext cx="10149840" cy="3017520"/>
          </a:xfrm>
          <a:prstGeom prst="rect">
            <a:avLst/>
          </a:prstGeom>
          <a:noFill/>
        </p:spPr>
        <p:txBody>
          <a:bodyPr wrap="square" rtlCol="0" anchor="t"/>
          <a:lstStyle/>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创建 MobileNetV3-Large，切换 model.eval()</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构造随机输入 torch.randn(32, 3, 224, 224)</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记录平均时延、吞吐、峰值显存、模块数量</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保存 results/baseline.json</a:t>
            </a:r>
            <a:endParaRPr lang="en-US" sz="1800" dirty="0"/>
          </a:p>
        </p:txBody>
      </p:sp>
      <p:sp>
        <p:nvSpPr>
          <p:cNvPr id="9" name="Shape 7"/>
          <p:cNvSpPr/>
          <p:nvPr/>
        </p:nvSpPr>
        <p:spPr>
          <a:xfrm>
            <a:off x="686118" y="5623560"/>
            <a:ext cx="10835640" cy="777240"/>
          </a:xfrm>
          <a:prstGeom prst="rect">
            <a:avLst/>
          </a:prstGeom>
          <a:solidFill>
            <a:srgbClr val="EDEDED"/>
          </a:solidFill>
          <a:ln w="12700">
            <a:solidFill>
              <a:srgbClr val="FFFFFF"/>
            </a:solidFill>
            <a:prstDash val="solid"/>
          </a:ln>
        </p:spPr>
      </p:sp>
      <p:sp>
        <p:nvSpPr>
          <p:cNvPr id="10" name="Text 8"/>
          <p:cNvSpPr/>
          <p:nvPr/>
        </p:nvSpPr>
        <p:spPr>
          <a:xfrm>
            <a:off x="686118" y="5760720"/>
            <a:ext cx="10835640" cy="502920"/>
          </a:xfrm>
          <a:prstGeom prst="rect">
            <a:avLst/>
          </a:prstGeom>
          <a:noFill/>
        </p:spPr>
        <p:txBody>
          <a:bodyPr wrap="square" rtlCol="0" anchor="ctr"/>
          <a:lstStyle/>
          <a:p>
            <a:pPr marL="0" indent="0" algn="ctr">
              <a:lnSpc>
                <a:spcPct val="115000"/>
              </a:lnSpc>
              <a:buNone/>
            </a:pPr>
            <a:r>
              <a:rPr lang="en-US" sz="2000" b="1" dirty="0">
                <a:solidFill>
                  <a:srgbClr val="C7000B"/>
                </a:solidFill>
                <a:latin typeface="Arial" panose="020B0604020202020204" pitchFamily="34" charset="0"/>
                <a:ea typeface="Arial" panose="020B0604020202020204" pitchFamily="34" charset="-122"/>
                <a:cs typeface="Arial" panose="020B0604020202020204" pitchFamily="34" charset="-120"/>
              </a:rPr>
              <a:t>优化前模块数量：Conv 49 + BN 47 = 96</a:t>
            </a:r>
            <a:endParaRPr lang="en-US" sz="20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pic>
        <p:nvPicPr>
          <p:cNvPr id="11" name="图片 10"/>
          <p:cNvPicPr>
            <a:picLocks noChangeAspect="1"/>
          </p:cNvPicPr>
          <p:nvPr/>
        </p:nvPicPr>
        <p:blipFill>
          <a:blip r:embed="rId1"/>
          <a:stretch>
            <a:fillRect/>
          </a:stretch>
        </p:blipFill>
        <p:spPr>
          <a:xfrm>
            <a:off x="6043930" y="1882775"/>
            <a:ext cx="5430520" cy="35521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Text 1"/>
          <p:cNvSpPr/>
          <p:nvPr/>
        </p:nvSpPr>
        <p:spPr>
          <a:xfrm>
            <a:off x="686118" y="502920"/>
            <a:ext cx="10789920" cy="822960"/>
          </a:xfrm>
          <a:prstGeom prst="rect">
            <a:avLst/>
          </a:prstGeom>
          <a:noFill/>
        </p:spPr>
        <p:txBody>
          <a:bodyPr wrap="square" rtlCol="0" anchor="ctr"/>
          <a:lstStyle/>
          <a:p>
            <a:pPr marL="0" algn="l">
              <a:lnSpc>
                <a:spcPct val="115000"/>
              </a:lnSpc>
              <a:buClrTx/>
              <a:buSzTx/>
              <a:buFontTx/>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融合实现：把 BN 折进 Conv</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13550" y="1353312"/>
            <a:ext cx="1463040" cy="41148"/>
          </a:xfrm>
          <a:prstGeom prst="rect">
            <a:avLst/>
          </a:prstGeom>
          <a:solidFill>
            <a:srgbClr val="3D8DFF"/>
          </a:solidFill>
          <a:ln w="12700">
            <a:solidFill>
              <a:srgbClr val="3D8DFF"/>
            </a:solidFill>
            <a:prstDash val="solid"/>
          </a:ln>
        </p:spPr>
      </p:sp>
      <p:sp>
        <p:nvSpPr>
          <p:cNvPr id="5" name="Shape 3"/>
          <p:cNvSpPr/>
          <p:nvPr/>
        </p:nvSpPr>
        <p:spPr>
          <a:xfrm>
            <a:off x="686118" y="1783080"/>
            <a:ext cx="5394960" cy="4206240"/>
          </a:xfrm>
          <a:prstGeom prst="rect">
            <a:avLst/>
          </a:prstGeom>
          <a:solidFill>
            <a:srgbClr val="EDEDED"/>
          </a:solidFill>
          <a:ln w="12700">
            <a:solidFill>
              <a:srgbClr val="FFFFFF"/>
            </a:solidFill>
            <a:prstDash val="solid"/>
          </a:ln>
        </p:spPr>
      </p:sp>
      <p:sp>
        <p:nvSpPr>
          <p:cNvPr id="6" name="Text 4"/>
          <p:cNvSpPr/>
          <p:nvPr/>
        </p:nvSpPr>
        <p:spPr>
          <a:xfrm>
            <a:off x="960438" y="2057400"/>
            <a:ext cx="484632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融合公式</a:t>
            </a:r>
            <a:endParaRPr lang="en-US" sz="2400" dirty="0"/>
          </a:p>
        </p:txBody>
      </p:sp>
      <p:sp>
        <p:nvSpPr>
          <p:cNvPr id="7" name="Text 5"/>
          <p:cNvSpPr/>
          <p:nvPr/>
        </p:nvSpPr>
        <p:spPr>
          <a:xfrm>
            <a:off x="960438" y="2743200"/>
            <a:ext cx="4846320" cy="731520"/>
          </a:xfrm>
          <a:prstGeom prst="rect">
            <a:avLst/>
          </a:prstGeom>
          <a:noFill/>
        </p:spPr>
        <p:txBody>
          <a:bodyPr wrap="square" rtlCol="0" anchor="t"/>
          <a:lstStyle/>
          <a:p>
            <a:pPr marL="0" indent="0">
              <a:lnSpc>
                <a:spcPct val="115000"/>
              </a:lnSpc>
              <a:buNone/>
            </a:pPr>
            <a:r>
              <a:rPr lang="en-US" sz="2400" b="1" dirty="0">
                <a:solidFill>
                  <a:srgbClr val="C7000B"/>
                </a:solidFill>
                <a:latin typeface="Arial" panose="020B0604020202020204" pitchFamily="34" charset="0"/>
                <a:ea typeface="Arial" panose="020B0604020202020204" pitchFamily="34" charset="-122"/>
                <a:cs typeface="Arial" panose="020B0604020202020204" pitchFamily="34" charset="-120"/>
              </a:rPr>
              <a:t>W′ = γ·W / √(σ² + ε)</a:t>
            </a:r>
            <a:endParaRPr lang="en-US" sz="24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
        <p:nvSpPr>
          <p:cNvPr id="8" name="Text 6"/>
          <p:cNvSpPr/>
          <p:nvPr/>
        </p:nvSpPr>
        <p:spPr>
          <a:xfrm>
            <a:off x="960438" y="3611880"/>
            <a:ext cx="4846320" cy="731520"/>
          </a:xfrm>
          <a:prstGeom prst="rect">
            <a:avLst/>
          </a:prstGeom>
          <a:noFill/>
        </p:spPr>
        <p:txBody>
          <a:bodyPr wrap="square" rtlCol="0" anchor="t"/>
          <a:lstStyle/>
          <a:p>
            <a:pPr marL="0" indent="0">
              <a:lnSpc>
                <a:spcPct val="115000"/>
              </a:lnSpc>
              <a:buNone/>
            </a:pPr>
            <a:r>
              <a:rPr lang="en-US" sz="2200" b="1" dirty="0">
                <a:solidFill>
                  <a:srgbClr val="C7000B"/>
                </a:solidFill>
                <a:latin typeface="Arial" panose="020B0604020202020204" pitchFamily="34" charset="0"/>
                <a:ea typeface="Arial" panose="020B0604020202020204" pitchFamily="34" charset="-122"/>
                <a:cs typeface="Arial" panose="020B0604020202020204" pitchFamily="34" charset="-120"/>
              </a:rPr>
              <a:t>b′ = γ·(b − μ) / √(σ² + ε) + β</a:t>
            </a:r>
            <a:endParaRPr lang="en-US" sz="22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sp>
        <p:nvSpPr>
          <p:cNvPr id="9" name="Text 7"/>
          <p:cNvSpPr/>
          <p:nvPr/>
        </p:nvSpPr>
        <p:spPr>
          <a:xfrm>
            <a:off x="960438" y="4572000"/>
            <a:ext cx="4846320" cy="731520"/>
          </a:xfrm>
          <a:prstGeom prst="rect">
            <a:avLst/>
          </a:prstGeom>
          <a:noFill/>
        </p:spPr>
        <p:txBody>
          <a:bodyPr wrap="square" rtlCol="0" anchor="t"/>
          <a:lstStyle/>
          <a:p>
            <a:pPr marL="0" indent="0">
              <a:lnSpc>
                <a:spcPct val="115000"/>
              </a:lnSpc>
              <a:buNone/>
            </a:pPr>
            <a:r>
              <a:rPr lang="en-US" sz="2000" b="1" dirty="0">
                <a:solidFill>
                  <a:srgbClr val="111111"/>
                </a:solidFill>
                <a:latin typeface="Arial" panose="020B0604020202020204" pitchFamily="34" charset="0"/>
                <a:ea typeface="Arial" panose="020B0604020202020204" pitchFamily="34" charset="-122"/>
                <a:cs typeface="Arial" panose="020B0604020202020204" pitchFamily="34" charset="-120"/>
              </a:rPr>
              <a:t>融合后：y = W′·x + b′</a:t>
            </a:r>
            <a:endParaRPr lang="en-US" sz="2000" dirty="0"/>
          </a:p>
        </p:txBody>
      </p:sp>
      <p:sp>
        <p:nvSpPr>
          <p:cNvPr id="10" name="Shape 8"/>
          <p:cNvSpPr/>
          <p:nvPr/>
        </p:nvSpPr>
        <p:spPr>
          <a:xfrm>
            <a:off x="6355398" y="1783080"/>
            <a:ext cx="5166360" cy="4206240"/>
          </a:xfrm>
          <a:prstGeom prst="rect">
            <a:avLst/>
          </a:prstGeom>
          <a:solidFill>
            <a:srgbClr val="EDEDED"/>
          </a:solidFill>
          <a:ln w="12700">
            <a:solidFill>
              <a:srgbClr val="FFFFFF"/>
            </a:solidFill>
            <a:prstDash val="solid"/>
          </a:ln>
        </p:spPr>
      </p:sp>
      <p:sp>
        <p:nvSpPr>
          <p:cNvPr id="11" name="Text 9"/>
          <p:cNvSpPr/>
          <p:nvPr/>
        </p:nvSpPr>
        <p:spPr>
          <a:xfrm>
            <a:off x="6629718" y="2057400"/>
            <a:ext cx="4572000" cy="502920"/>
          </a:xfrm>
          <a:prstGeom prst="rect">
            <a:avLst/>
          </a:prstGeom>
          <a:noFill/>
        </p:spPr>
        <p:txBody>
          <a:bodyPr wrap="square" rtlCol="0" anchor="t"/>
          <a:lstStyle/>
          <a:p>
            <a:pPr marL="0" indent="0">
              <a:lnSpc>
                <a:spcPct val="115000"/>
              </a:lnSpc>
              <a:buNone/>
            </a:pPr>
            <a:r>
              <a:rPr lang="en-US" sz="2400" b="1" dirty="0">
                <a:solidFill>
                  <a:srgbClr val="111111"/>
                </a:solidFill>
                <a:latin typeface="Arial" panose="020B0604020202020204" pitchFamily="34" charset="0"/>
                <a:ea typeface="Arial" panose="020B0604020202020204" pitchFamily="34" charset="-122"/>
                <a:cs typeface="Arial" panose="020B0604020202020204" pitchFamily="34" charset="-120"/>
              </a:rPr>
              <a:t>实现步骤</a:t>
            </a:r>
            <a:endParaRPr lang="en-US" sz="2400" dirty="0"/>
          </a:p>
        </p:txBody>
      </p:sp>
      <p:sp>
        <p:nvSpPr>
          <p:cNvPr id="12" name="Text 10"/>
          <p:cNvSpPr/>
          <p:nvPr/>
        </p:nvSpPr>
        <p:spPr>
          <a:xfrm>
            <a:off x="6629718" y="2697480"/>
            <a:ext cx="4663440" cy="2926080"/>
          </a:xfrm>
          <a:prstGeom prst="rect">
            <a:avLst/>
          </a:prstGeom>
          <a:noFill/>
        </p:spPr>
        <p:txBody>
          <a:bodyPr wrap="square" rtlCol="0" anchor="t"/>
          <a:lstStyle/>
          <a:p>
            <a:pPr marL="0" indent="0">
              <a:lnSpc>
                <a:spcPct val="120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 fuse_conv_bn_eval：融合单个 Conv+BN</a:t>
            </a:r>
            <a:endParaRPr lang="en-US" sz="1700" dirty="0"/>
          </a:p>
          <a:p>
            <a:pPr marL="0" indent="0">
              <a:lnSpc>
                <a:spcPct val="120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 fuse_model：递归融合整个模型</a:t>
            </a:r>
            <a:endParaRPr lang="en-US" sz="1700" dirty="0"/>
          </a:p>
          <a:p>
            <a:pPr marL="0" indent="0">
              <a:lnSpc>
                <a:spcPct val="120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 保持 groups / stride / padding</a:t>
            </a:r>
            <a:endParaRPr lang="en-US" sz="1700" dirty="0"/>
          </a:p>
          <a:p>
            <a:pPr marL="0" indent="0">
              <a:lnSpc>
                <a:spcPct val="120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 使用 eval 模式 + torch.no_grad()</a:t>
            </a:r>
            <a:endParaRPr lang="en-US" sz="1700" dirty="0"/>
          </a:p>
          <a:p>
            <a:pPr marL="0" indent="0">
              <a:lnSpc>
                <a:spcPct val="120000"/>
              </a:lnSpc>
              <a:buNone/>
            </a:pPr>
            <a:r>
              <a:rPr lang="en-US" sz="1700" dirty="0">
                <a:solidFill>
                  <a:srgbClr val="333333"/>
                </a:solidFill>
                <a:latin typeface="Arial" panose="020B0604020202020204" pitchFamily="34" charset="0"/>
                <a:ea typeface="Arial" panose="020B0604020202020204" pitchFamily="34" charset="-122"/>
                <a:cs typeface="Arial" panose="020B0604020202020204" pitchFamily="34" charset="-120"/>
              </a:rPr>
              <a:t>• 比较输出 shape 与最大误差</a:t>
            </a:r>
            <a:endParaRPr lang="en-US" sz="1700" dirty="0"/>
          </a:p>
        </p:txBody>
      </p:sp>
      <p:sp>
        <p:nvSpPr>
          <p:cNvPr id="13" name="Shape 11"/>
          <p:cNvSpPr/>
          <p:nvPr/>
        </p:nvSpPr>
        <p:spPr>
          <a:xfrm>
            <a:off x="686118" y="6126480"/>
            <a:ext cx="10835640" cy="594360"/>
          </a:xfrm>
          <a:prstGeom prst="rect">
            <a:avLst/>
          </a:prstGeom>
          <a:solidFill>
            <a:srgbClr val="EDEDED"/>
          </a:solidFill>
          <a:ln w="12700">
            <a:solidFill>
              <a:srgbClr val="FFFFFF"/>
            </a:solidFill>
            <a:prstDash val="solid"/>
          </a:ln>
        </p:spPr>
      </p:sp>
      <p:sp>
        <p:nvSpPr>
          <p:cNvPr id="14" name="Text 12"/>
          <p:cNvSpPr/>
          <p:nvPr/>
        </p:nvSpPr>
        <p:spPr>
          <a:xfrm>
            <a:off x="686118" y="6236208"/>
            <a:ext cx="10835640" cy="411480"/>
          </a:xfrm>
          <a:prstGeom prst="rect">
            <a:avLst/>
          </a:prstGeom>
          <a:noFill/>
        </p:spPr>
        <p:txBody>
          <a:bodyPr wrap="square" rtlCol="0" anchor="t"/>
          <a:lstStyle/>
          <a:p>
            <a:pPr marL="0" indent="0" algn="ctr">
              <a:lnSpc>
                <a:spcPct val="115000"/>
              </a:lnSpc>
              <a:buNone/>
            </a:pPr>
            <a:r>
              <a:rPr lang="en-US" sz="1700" b="1" dirty="0">
                <a:solidFill>
                  <a:srgbClr val="111111"/>
                </a:solidFill>
                <a:latin typeface="Arial" panose="020B0604020202020204" pitchFamily="34" charset="0"/>
                <a:ea typeface="Arial" panose="020B0604020202020204" pitchFamily="34" charset="-122"/>
                <a:cs typeface="Arial" panose="020B0604020202020204" pitchFamily="34" charset="-120"/>
              </a:rPr>
              <a:t>递归结果必须 setattr 写回，否则深层 BN 不会被替换</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Shape 1"/>
          <p:cNvSpPr/>
          <p:nvPr/>
        </p:nvSpPr>
        <p:spPr>
          <a:xfrm>
            <a:off x="686118" y="502920"/>
            <a:ext cx="1143000" cy="914400"/>
          </a:xfrm>
          <a:prstGeom prst="rect">
            <a:avLst/>
          </a:prstGeom>
          <a:solidFill>
            <a:srgbClr val="EDEDED"/>
          </a:solidFill>
          <a:ln w="12700">
            <a:solidFill>
              <a:srgbClr val="FFFFFF"/>
            </a:solidFill>
            <a:prstDash val="solid"/>
          </a:ln>
        </p:spPr>
      </p:sp>
      <p:sp>
        <p:nvSpPr>
          <p:cNvPr id="4" name="Text 2"/>
          <p:cNvSpPr/>
          <p:nvPr/>
        </p:nvSpPr>
        <p:spPr>
          <a:xfrm>
            <a:off x="686118" y="640080"/>
            <a:ext cx="1143000" cy="731520"/>
          </a:xfrm>
          <a:prstGeom prst="rect">
            <a:avLst/>
          </a:prstGeom>
          <a:noFill/>
        </p:spPr>
        <p:txBody>
          <a:bodyPr wrap="square" rtlCol="0" anchor="ctr"/>
          <a:lstStyle/>
          <a:p>
            <a:pPr marL="0" indent="0" algn="ctr">
              <a:lnSpc>
                <a:spcPct val="115000"/>
              </a:lnSpc>
              <a:buNone/>
            </a:pPr>
            <a:r>
              <a:rPr lang="en-US" sz="2400" b="1" dirty="0">
                <a:solidFill>
                  <a:srgbClr val="3D8DFF"/>
                </a:solidFill>
                <a:latin typeface="Arial" panose="020B0604020202020204" pitchFamily="34" charset="0"/>
                <a:ea typeface="Arial" panose="020B0604020202020204" pitchFamily="34" charset="-122"/>
                <a:cs typeface="Arial" panose="020B0604020202020204" pitchFamily="34" charset="-120"/>
              </a:rPr>
              <a:t>04</a:t>
            </a:r>
            <a:endParaRPr lang="en-US" sz="2400" dirty="0"/>
          </a:p>
        </p:txBody>
      </p:sp>
      <p:sp>
        <p:nvSpPr>
          <p:cNvPr id="5" name="Text 3"/>
          <p:cNvSpPr/>
          <p:nvPr/>
        </p:nvSpPr>
        <p:spPr>
          <a:xfrm>
            <a:off x="2011998" y="502920"/>
            <a:ext cx="9509760" cy="822960"/>
          </a:xfrm>
          <a:prstGeom prst="rect">
            <a:avLst/>
          </a:prstGeom>
          <a:noFill/>
        </p:spPr>
        <p:txBody>
          <a:bodyPr wrap="square" rtlCol="0" anchor="ctr"/>
          <a:lstStyle/>
          <a:p>
            <a:pPr marL="0" indent="0">
              <a:lnSpc>
                <a:spcPct val="115000"/>
              </a:lnSpc>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优化后测量：验证收益</a:t>
            </a:r>
            <a:endParaRPr lang="en-US" sz="3500" dirty="0"/>
          </a:p>
        </p:txBody>
      </p:sp>
      <p:sp>
        <p:nvSpPr>
          <p:cNvPr id="6" name="Shape 4"/>
          <p:cNvSpPr/>
          <p:nvPr/>
        </p:nvSpPr>
        <p:spPr>
          <a:xfrm>
            <a:off x="2057718" y="1353312"/>
            <a:ext cx="1463040" cy="41148"/>
          </a:xfrm>
          <a:prstGeom prst="rect">
            <a:avLst/>
          </a:prstGeom>
          <a:solidFill>
            <a:srgbClr val="3D8DFF"/>
          </a:solidFill>
          <a:ln w="12700">
            <a:solidFill>
              <a:srgbClr val="3D8DFF"/>
            </a:solidFill>
            <a:prstDash val="solid"/>
          </a:ln>
        </p:spPr>
      </p:sp>
      <p:sp>
        <p:nvSpPr>
          <p:cNvPr id="7" name="Shape 5"/>
          <p:cNvSpPr/>
          <p:nvPr/>
        </p:nvSpPr>
        <p:spPr>
          <a:xfrm>
            <a:off x="686118" y="1874520"/>
            <a:ext cx="10835640" cy="3566160"/>
          </a:xfrm>
          <a:prstGeom prst="rect">
            <a:avLst/>
          </a:prstGeom>
          <a:solidFill>
            <a:srgbClr val="EDEDED"/>
          </a:solidFill>
          <a:ln w="12700">
            <a:solidFill>
              <a:srgbClr val="FFFFFF"/>
            </a:solidFill>
            <a:prstDash val="solid"/>
          </a:ln>
        </p:spPr>
      </p:sp>
      <p:sp>
        <p:nvSpPr>
          <p:cNvPr id="8" name="Text 6"/>
          <p:cNvSpPr/>
          <p:nvPr/>
        </p:nvSpPr>
        <p:spPr>
          <a:xfrm>
            <a:off x="1051878" y="2148840"/>
            <a:ext cx="10149840" cy="3017520"/>
          </a:xfrm>
          <a:prstGeom prst="rect">
            <a:avLst/>
          </a:prstGeom>
          <a:noFill/>
        </p:spPr>
        <p:txBody>
          <a:bodyPr wrap="square" rtlCol="0" anchor="t"/>
          <a:lstStyle/>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对 fused_model 执行相同的 benchmark_inference</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统计融合后的模块数量</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记录平均时延、吞吐、峰值显存</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保存 results/optimized.json</a:t>
            </a:r>
            <a:endParaRPr lang="en-US" sz="1800" dirty="0"/>
          </a:p>
        </p:txBody>
      </p:sp>
      <p:sp>
        <p:nvSpPr>
          <p:cNvPr id="9" name="Shape 7"/>
          <p:cNvSpPr/>
          <p:nvPr/>
        </p:nvSpPr>
        <p:spPr>
          <a:xfrm>
            <a:off x="686118" y="5623560"/>
            <a:ext cx="10835640" cy="777240"/>
          </a:xfrm>
          <a:prstGeom prst="rect">
            <a:avLst/>
          </a:prstGeom>
          <a:solidFill>
            <a:srgbClr val="EDEDED"/>
          </a:solidFill>
          <a:ln w="12700">
            <a:solidFill>
              <a:srgbClr val="FFFFFF"/>
            </a:solidFill>
            <a:prstDash val="solid"/>
          </a:ln>
        </p:spPr>
      </p:sp>
      <p:sp>
        <p:nvSpPr>
          <p:cNvPr id="10" name="Text 8"/>
          <p:cNvSpPr/>
          <p:nvPr/>
        </p:nvSpPr>
        <p:spPr>
          <a:xfrm>
            <a:off x="686118" y="5760720"/>
            <a:ext cx="10835640" cy="502920"/>
          </a:xfrm>
          <a:prstGeom prst="rect">
            <a:avLst/>
          </a:prstGeom>
          <a:noFill/>
        </p:spPr>
        <p:txBody>
          <a:bodyPr wrap="square" rtlCol="0" anchor="ctr"/>
          <a:lstStyle/>
          <a:p>
            <a:pPr marL="0" indent="0" algn="ctr">
              <a:lnSpc>
                <a:spcPct val="115000"/>
              </a:lnSpc>
              <a:buNone/>
            </a:pPr>
            <a:r>
              <a:rPr lang="en-US" sz="2000" b="1" dirty="0">
                <a:solidFill>
                  <a:srgbClr val="C7000B"/>
                </a:solidFill>
                <a:latin typeface="Arial" panose="020B0604020202020204" pitchFamily="34" charset="0"/>
                <a:ea typeface="Arial" panose="020B0604020202020204" pitchFamily="34" charset="-122"/>
                <a:cs typeface="Arial" panose="020B0604020202020204" pitchFamily="34" charset="-120"/>
              </a:rPr>
              <a:t>优化后模块数量：Conv 49 + BN 0 = 49</a:t>
            </a:r>
            <a:endParaRPr lang="en-US" sz="20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pic>
        <p:nvPicPr>
          <p:cNvPr id="11" name="图片 10"/>
          <p:cNvPicPr>
            <a:picLocks noChangeAspect="1"/>
          </p:cNvPicPr>
          <p:nvPr/>
        </p:nvPicPr>
        <p:blipFill>
          <a:blip r:embed="rId1"/>
          <a:stretch>
            <a:fillRect/>
          </a:stretch>
        </p:blipFill>
        <p:spPr>
          <a:xfrm>
            <a:off x="7038975" y="1015365"/>
            <a:ext cx="5031105" cy="45192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8" y="0"/>
            <a:ext cx="12191695" cy="91440"/>
          </a:xfrm>
          <a:prstGeom prst="rect">
            <a:avLst/>
          </a:prstGeom>
          <a:solidFill>
            <a:srgbClr val="3D8DFF"/>
          </a:solidFill>
          <a:ln w="12700">
            <a:solidFill>
              <a:srgbClr val="3D8DFF"/>
            </a:solidFill>
            <a:prstDash val="solid"/>
          </a:ln>
        </p:spPr>
      </p:sp>
      <p:sp>
        <p:nvSpPr>
          <p:cNvPr id="3" name="Shape 1"/>
          <p:cNvSpPr/>
          <p:nvPr/>
        </p:nvSpPr>
        <p:spPr>
          <a:xfrm>
            <a:off x="686118" y="502920"/>
            <a:ext cx="1143000" cy="914400"/>
          </a:xfrm>
          <a:prstGeom prst="rect">
            <a:avLst/>
          </a:prstGeom>
          <a:solidFill>
            <a:srgbClr val="EDEDED"/>
          </a:solidFill>
          <a:ln w="12700">
            <a:solidFill>
              <a:srgbClr val="FFFFFF"/>
            </a:solidFill>
            <a:prstDash val="solid"/>
          </a:ln>
        </p:spPr>
      </p:sp>
      <p:sp>
        <p:nvSpPr>
          <p:cNvPr id="4" name="Text 2"/>
          <p:cNvSpPr/>
          <p:nvPr/>
        </p:nvSpPr>
        <p:spPr>
          <a:xfrm>
            <a:off x="686118" y="640080"/>
            <a:ext cx="1143000" cy="731520"/>
          </a:xfrm>
          <a:prstGeom prst="rect">
            <a:avLst/>
          </a:prstGeom>
          <a:noFill/>
        </p:spPr>
        <p:txBody>
          <a:bodyPr wrap="square" rtlCol="0" anchor="ctr"/>
          <a:lstStyle/>
          <a:p>
            <a:pPr marL="0" indent="0" algn="ctr">
              <a:lnSpc>
                <a:spcPct val="115000"/>
              </a:lnSpc>
              <a:buNone/>
            </a:pPr>
            <a:r>
              <a:rPr lang="en-US" sz="2400" b="1" dirty="0">
                <a:solidFill>
                  <a:srgbClr val="3D8DFF"/>
                </a:solidFill>
                <a:latin typeface="Arial" panose="020B0604020202020204" pitchFamily="34" charset="0"/>
                <a:ea typeface="Arial" panose="020B0604020202020204" pitchFamily="34" charset="-122"/>
                <a:cs typeface="Arial" panose="020B0604020202020204" pitchFamily="34" charset="-120"/>
              </a:rPr>
              <a:t>05</a:t>
            </a:r>
            <a:endParaRPr lang="en-US" sz="2400" dirty="0"/>
          </a:p>
        </p:txBody>
      </p:sp>
      <p:sp>
        <p:nvSpPr>
          <p:cNvPr id="5" name="Text 3"/>
          <p:cNvSpPr/>
          <p:nvPr/>
        </p:nvSpPr>
        <p:spPr>
          <a:xfrm>
            <a:off x="2011998" y="502920"/>
            <a:ext cx="9509760" cy="822960"/>
          </a:xfrm>
          <a:prstGeom prst="rect">
            <a:avLst/>
          </a:prstGeom>
          <a:noFill/>
        </p:spPr>
        <p:txBody>
          <a:bodyPr wrap="square" rtlCol="0" anchor="ctr"/>
          <a:lstStyle/>
          <a:p>
            <a:pPr marL="0" indent="0">
              <a:lnSpc>
                <a:spcPct val="115000"/>
              </a:lnSpc>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量化优化收益</a:t>
            </a:r>
            <a:endParaRPr lang="en-US" sz="3200" b="1" dirty="0">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 name="Shape 4"/>
          <p:cNvSpPr/>
          <p:nvPr/>
        </p:nvSpPr>
        <p:spPr>
          <a:xfrm>
            <a:off x="2057718" y="1353312"/>
            <a:ext cx="1463040" cy="41148"/>
          </a:xfrm>
          <a:prstGeom prst="rect">
            <a:avLst/>
          </a:prstGeom>
          <a:solidFill>
            <a:srgbClr val="3D8DFF"/>
          </a:solidFill>
          <a:ln w="12700">
            <a:solidFill>
              <a:srgbClr val="3D8DFF"/>
            </a:solidFill>
            <a:prstDash val="solid"/>
          </a:ln>
        </p:spPr>
      </p:sp>
      <p:sp>
        <p:nvSpPr>
          <p:cNvPr id="7" name="Shape 5"/>
          <p:cNvSpPr/>
          <p:nvPr/>
        </p:nvSpPr>
        <p:spPr>
          <a:xfrm>
            <a:off x="686118" y="1874520"/>
            <a:ext cx="10835640" cy="3566160"/>
          </a:xfrm>
          <a:prstGeom prst="rect">
            <a:avLst/>
          </a:prstGeom>
          <a:solidFill>
            <a:srgbClr val="EDEDED"/>
          </a:solidFill>
          <a:ln w="12700">
            <a:solidFill>
              <a:srgbClr val="FFFFFF"/>
            </a:solidFill>
            <a:prstDash val="solid"/>
          </a:ln>
        </p:spPr>
      </p:sp>
      <p:sp>
        <p:nvSpPr>
          <p:cNvPr id="8" name="Text 6"/>
          <p:cNvSpPr/>
          <p:nvPr/>
        </p:nvSpPr>
        <p:spPr>
          <a:xfrm>
            <a:off x="1051878" y="2148840"/>
            <a:ext cx="10149840" cy="3017520"/>
          </a:xfrm>
          <a:prstGeom prst="rect">
            <a:avLst/>
          </a:prstGeom>
          <a:noFill/>
        </p:spPr>
        <p:txBody>
          <a:bodyPr wrap="square" rtlCol="0" anchor="t"/>
          <a:lstStyle/>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对比平均时延、吞吐、峰值显存、算子数量</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计算各指标相对变化百分比</a:t>
            </a:r>
            <a:endParaRPr lang="en-US" sz="1800" dirty="0"/>
          </a:p>
          <a:p>
            <a:pPr marL="0" indent="0">
              <a:lnSpc>
                <a:spcPct val="115000"/>
              </a:lnSpc>
              <a:buNone/>
            </a:pPr>
            <a:r>
              <a:rPr lang="en-US" sz="1800" dirty="0">
                <a:solidFill>
                  <a:srgbClr val="333333"/>
                </a:solidFill>
                <a:latin typeface="Arial" panose="020B0604020202020204" pitchFamily="34" charset="0"/>
                <a:ea typeface="Arial" panose="020B0604020202020204" pitchFamily="34" charset="-122"/>
                <a:cs typeface="Arial" panose="020B0604020202020204" pitchFamily="34" charset="-120"/>
              </a:rPr>
              <a:t>• 绘制 Latency / Throughput / Memory / Operator Count 四联图</a:t>
            </a:r>
            <a:endParaRPr lang="en-US" sz="1800" dirty="0"/>
          </a:p>
          <a:p>
            <a:pPr marL="0" indent="0">
              <a:lnSpc>
                <a:spcPct val="115000"/>
              </a:lnSpc>
              <a:buNone/>
            </a:pPr>
            <a:endParaRPr lang="en-US" sz="1800" dirty="0"/>
          </a:p>
        </p:txBody>
      </p:sp>
      <p:sp>
        <p:nvSpPr>
          <p:cNvPr id="9" name="Shape 7"/>
          <p:cNvSpPr/>
          <p:nvPr/>
        </p:nvSpPr>
        <p:spPr>
          <a:xfrm>
            <a:off x="686118" y="5623560"/>
            <a:ext cx="10835640" cy="777240"/>
          </a:xfrm>
          <a:prstGeom prst="rect">
            <a:avLst/>
          </a:prstGeom>
          <a:solidFill>
            <a:srgbClr val="EDEDED"/>
          </a:solidFill>
          <a:ln w="12700">
            <a:solidFill>
              <a:srgbClr val="FFFFFF"/>
            </a:solidFill>
            <a:prstDash val="solid"/>
          </a:ln>
        </p:spPr>
      </p:sp>
      <p:sp>
        <p:nvSpPr>
          <p:cNvPr id="10" name="Text 8"/>
          <p:cNvSpPr/>
          <p:nvPr/>
        </p:nvSpPr>
        <p:spPr>
          <a:xfrm>
            <a:off x="686118" y="5760720"/>
            <a:ext cx="10835640" cy="502920"/>
          </a:xfrm>
          <a:prstGeom prst="rect">
            <a:avLst/>
          </a:prstGeom>
          <a:noFill/>
        </p:spPr>
        <p:txBody>
          <a:bodyPr wrap="square" rtlCol="0" anchor="ctr"/>
          <a:lstStyle/>
          <a:p>
            <a:pPr marL="0" indent="0" algn="ctr">
              <a:lnSpc>
                <a:spcPct val="115000"/>
              </a:lnSpc>
              <a:buNone/>
            </a:pPr>
            <a:r>
              <a:rPr lang="en-US" sz="2000" b="1" dirty="0">
                <a:solidFill>
                  <a:srgbClr val="C7000B"/>
                </a:solidFill>
                <a:latin typeface="Arial" panose="020B0604020202020204" pitchFamily="34" charset="0"/>
                <a:ea typeface="Arial" panose="020B0604020202020204" pitchFamily="34" charset="-122"/>
                <a:cs typeface="Arial" panose="020B0604020202020204" pitchFamily="34" charset="-120"/>
              </a:rPr>
              <a:t>预期变化：BN 47 → 0，总模块数 96 → 49</a:t>
            </a:r>
            <a:endParaRPr lang="en-US" sz="2000" b="1" dirty="0">
              <a:solidFill>
                <a:srgbClr val="C7000B"/>
              </a:solidFill>
              <a:latin typeface="Arial" panose="020B0604020202020204" pitchFamily="34" charset="0"/>
              <a:ea typeface="Arial" panose="020B0604020202020204" pitchFamily="34" charset="-122"/>
              <a:cs typeface="Arial" panose="020B0604020202020204" pitchFamily="34" charset="-120"/>
            </a:endParaRPr>
          </a:p>
        </p:txBody>
      </p:sp>
      <p:pic>
        <p:nvPicPr>
          <p:cNvPr id="11" name="图片 10"/>
          <p:cNvPicPr>
            <a:picLocks noChangeAspect="1"/>
          </p:cNvPicPr>
          <p:nvPr/>
        </p:nvPicPr>
        <p:blipFill>
          <a:blip r:embed="rId1"/>
          <a:stretch>
            <a:fillRect/>
          </a:stretch>
        </p:blipFill>
        <p:spPr>
          <a:xfrm>
            <a:off x="1566545" y="3307080"/>
            <a:ext cx="8336915" cy="20504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配置</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算子与优化</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原理介绍</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sym typeface="+mn-ea"/>
              </a:rPr>
              <a:t>课后习题</a:t>
            </a:r>
            <a:endParaRPr lang="en-US" dirty="0">
              <a:solidFill>
                <a:schemeClr val="bg1">
                  <a:lumMod val="75000"/>
                </a:schemeClr>
              </a:solidFill>
            </a:endParaRPr>
          </a:p>
          <a:p>
            <a:endParaRPr lang="en-US" dirty="0"/>
          </a:p>
          <a:p>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latin typeface="微软雅黑" panose="020B0503020204020204" pitchFamily="34" charset="-122"/>
                <a:ea typeface="微软雅黑" panose="020B0503020204020204" pitchFamily="34" charset="-122"/>
                <a:cs typeface="微软雅黑" panose="020B0503020204020204" pitchFamily="34" charset="-120"/>
              </a:rPr>
              <a:t>实验总结：我们完成了什么</a:t>
            </a:r>
            <a:endParaRPr lang="en-US" sz="4265" dirty="0"/>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走通「定位 → 原理 → 基线 → 优化 → 对比」完整闭环</a:t>
            </a:r>
            <a:endParaRPr lang="en-US" sz="2265" dirty="0"/>
          </a:p>
        </p:txBody>
      </p:sp>
      <p:sp>
        <p:nvSpPr>
          <p:cNvPr id="6" name="Text 4"/>
          <p:cNvSpPr/>
          <p:nvPr/>
        </p:nvSpPr>
        <p:spPr>
          <a:xfrm>
            <a:off x="853440" y="243840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Conv+BN 融合数学等价，BN 全部移除，算子 96 → 49</a:t>
            </a:r>
            <a:endParaRPr lang="en-US" sz="2265" dirty="0"/>
          </a:p>
        </p:txBody>
      </p:sp>
      <p:sp>
        <p:nvSpPr>
          <p:cNvPr id="7" name="Text 5"/>
          <p:cNvSpPr/>
          <p:nvPr/>
        </p:nvSpPr>
        <p:spPr>
          <a:xfrm>
            <a:off x="853440" y="329184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掌握 NPU/CPU 统一基准测试：时延、吞吐、峰值显存</a:t>
            </a:r>
            <a:endParaRPr lang="en-US" sz="2265" dirty="0"/>
          </a:p>
        </p:txBody>
      </p:sp>
      <p:sp>
        <p:nvSpPr>
          <p:cNvPr id="8" name="Text 6"/>
          <p:cNvSpPr/>
          <p:nvPr/>
        </p:nvSpPr>
        <p:spPr>
          <a:xfrm>
            <a:off x="853440" y="414528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理解昇腾 CANN / ATC 图编译阶段的算子融合思路</a:t>
            </a:r>
            <a:endParaRPr lang="en-US" sz="2265" dirty="0"/>
          </a:p>
        </p:txBody>
      </p:sp>
      <p:sp>
        <p:nvSpPr>
          <p:cNvPr id="9" name="Text 7"/>
          <p:cNvSpPr/>
          <p:nvPr/>
        </p:nvSpPr>
        <p:spPr>
          <a:xfrm>
            <a:off x="853440" y="4998720"/>
            <a:ext cx="10485120" cy="670560"/>
          </a:xfrm>
          <a:prstGeom prst="rect">
            <a:avLst/>
          </a:prstGeom>
          <a:noFill/>
        </p:spPr>
        <p:txBody>
          <a:bodyPr wrap="square" rtlCol="0" anchor="t"/>
          <a:lstStyle/>
          <a:p>
            <a:pPr marL="0" indent="0">
              <a:lnSpc>
                <a:spcPct val="115000"/>
              </a:lnSpc>
              <a:buNone/>
            </a:pPr>
            <a:endParaRPr lang="en-US" sz="226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背景介绍与</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学习目标</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实验环境</a:t>
            </a:r>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配置</a:t>
            </a:r>
            <a:endPar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算子与优化</a:t>
            </a:r>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原理介绍</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实验步骤</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实验总结</a:t>
            </a:r>
            <a:endParaRPr lang="zh-CN" alt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r>
              <a:rPr lang="zh-CN" altLang="en-US" b="1" dirty="0">
                <a:solidFill>
                  <a:schemeClr val="tx1"/>
                </a:solidFill>
                <a:sym typeface="+mn-ea"/>
              </a:rPr>
              <a:t>课后习题</a:t>
            </a:r>
            <a:endParaRPr lang="en-US" b="1" dirty="0">
              <a:solidFill>
                <a:schemeClr val="tx1"/>
              </a:solidFill>
            </a:endParaRPr>
          </a:p>
          <a:p>
            <a:endParaRPr lang="en-US" dirty="0"/>
          </a:p>
          <a:p>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4265"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4265" dirty="0"/>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731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Q1：BN 折叠后为什么不需要再单独计算 BatchNorm？</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dirty="0"/>
          </a:p>
          <a:p>
            <a:pPr marL="0" indent="0">
              <a:lnSpc>
                <a:spcPct val="115000"/>
              </a:lnSpc>
              <a:buNone/>
            </a:pPr>
            <a:r>
              <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BN折叠后无需再单独计算，因为推理时BN的参数（γ, β, μ, σ²）已固定，其变换 γ*(X-μ)/√(σ²+ε)+β 等价于对输入 X 的线性变换，可拆解为缩放因子 γ/√(σ²+ε) 和偏置项 β - γ*μ/√(σ²+ε)。将该缩放因子乘入卷积层的 weight，偏置加入卷积的 bias，即完成参数融合，形成单一线性层。推理时直接使用融合后的权重计算，省去了BN的均值、方差、归一化等前向操作，既加速计算又简化部署，且数学结果完全等价。</a:t>
            </a:r>
            <a:endPar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4265"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4265" dirty="0"/>
          </a:p>
        </p:txBody>
      </p:sp>
      <p:sp>
        <p:nvSpPr>
          <p:cNvPr id="4" name="Shape 2"/>
          <p:cNvSpPr/>
          <p:nvPr/>
        </p:nvSpPr>
        <p:spPr>
          <a:xfrm>
            <a:off x="755904" y="1194816"/>
            <a:ext cx="2682240" cy="60960"/>
          </a:xfrm>
          <a:prstGeom prst="rect">
            <a:avLst/>
          </a:prstGeom>
          <a:solidFill>
            <a:srgbClr val="E67E22"/>
          </a:solidFill>
        </p:spPr>
      </p:sp>
      <p:sp>
        <p:nvSpPr>
          <p:cNvPr id="6" name="Text 4"/>
          <p:cNvSpPr/>
          <p:nvPr/>
        </p:nvSpPr>
        <p:spPr>
          <a:xfrm>
            <a:off x="853440" y="1372235"/>
            <a:ext cx="10485120" cy="731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Q2：Conv+BN 融合为什么只适用于推理模式？</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dirty="0"/>
          </a:p>
          <a:p>
            <a:pPr marL="0" indent="0">
              <a:lnSpc>
                <a:spcPct val="115000"/>
              </a:lnSpc>
              <a:buNone/>
            </a:pPr>
            <a:r>
              <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Conv+BN融合仅适用于推理，根本原因在于训练时BN依赖当前batch的均值和方差动态计算，且 γ、β 持续更新，无法形成固定参数；而推理时BN使用全局滑动统计量（running_mean/running_var），完全冻结为确定性线性变换，可安全地将缩放因子和偏置融入卷积权重。训练阶段若强行融合，不仅破坏BN的batch依赖特性（损失正则化和稳定分布的作用），还会因统计量动态变化导致参数无法固化，且反向传播耦合复杂。故融合必须在推理时进行，以牺牲灵活性换取计算效率。</a:t>
            </a:r>
            <a:endPar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4265"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4265" dirty="0"/>
          </a:p>
        </p:txBody>
      </p:sp>
      <p:sp>
        <p:nvSpPr>
          <p:cNvPr id="4" name="Shape 2"/>
          <p:cNvSpPr/>
          <p:nvPr/>
        </p:nvSpPr>
        <p:spPr>
          <a:xfrm>
            <a:off x="755904" y="1194816"/>
            <a:ext cx="2682240" cy="60960"/>
          </a:xfrm>
          <a:prstGeom prst="rect">
            <a:avLst/>
          </a:prstGeom>
          <a:solidFill>
            <a:srgbClr val="E67E22"/>
          </a:solidFill>
        </p:spPr>
      </p:sp>
      <p:sp>
        <p:nvSpPr>
          <p:cNvPr id="7" name="Text 5"/>
          <p:cNvSpPr/>
          <p:nvPr/>
        </p:nvSpPr>
        <p:spPr>
          <a:xfrm>
            <a:off x="853440" y="1410335"/>
            <a:ext cx="10485120" cy="731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Q3：融合后算子数量如何变化？估算 MobileNetV3-Large 减少多少 BN？</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dirty="0"/>
          </a:p>
          <a:p>
            <a:pPr marL="0" indent="0">
              <a:lnSpc>
                <a:spcPct val="115000"/>
              </a:lnSpc>
              <a:buNone/>
            </a:pPr>
            <a:r>
              <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Conv+BN融合后，BN层作为独立算子从推理图中彻底移除，其计算被吸收进卷积层的权重和偏置中。MobileNetV3-Large的主体由约 10~12 个Bneck模块堆叠，每个Bneck包含扩展卷积和深度可分离卷积各带一个BN，加上首层卷积的BN，总计BN层数约为 20~25 个。融合后这些BN节点全部消失，推理图中算子数量减少对应数量，同时省去均值、方差、归一化等逐元素计算，显著降低访存和计算开销。</a:t>
            </a:r>
            <a:endPar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4265"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4265" dirty="0"/>
          </a:p>
        </p:txBody>
      </p:sp>
      <p:sp>
        <p:nvSpPr>
          <p:cNvPr id="4" name="Shape 2"/>
          <p:cNvSpPr/>
          <p:nvPr/>
        </p:nvSpPr>
        <p:spPr>
          <a:xfrm>
            <a:off x="755904" y="1194816"/>
            <a:ext cx="2682240" cy="60960"/>
          </a:xfrm>
          <a:prstGeom prst="rect">
            <a:avLst/>
          </a:prstGeom>
          <a:solidFill>
            <a:srgbClr val="E67E22"/>
          </a:solidFill>
        </p:spPr>
      </p:sp>
      <p:sp>
        <p:nvSpPr>
          <p:cNvPr id="8" name="Text 6"/>
          <p:cNvSpPr/>
          <p:nvPr/>
        </p:nvSpPr>
        <p:spPr>
          <a:xfrm>
            <a:off x="853440" y="1545590"/>
            <a:ext cx="10485120" cy="731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Q4：测量性能时 warmup 和 synchronize 分别起什么作用？</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dirty="0"/>
          </a:p>
          <a:p>
            <a:pPr marL="0" indent="0">
              <a:lnSpc>
                <a:spcPct val="115000"/>
              </a:lnSpc>
              <a:buNone/>
            </a:pPr>
            <a:r>
              <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在推理性能测量中，Warmup 用于预热 GPU 核心和 CUDA 内核编译，通过若干次前向计算消除冷启动带来的初始化、内存分配和缓存加载开销，确保测量反映稳态吞吐；Synchronize 则用于强制 CPU 等待 GPU 完成所有异步计算任务，避免计时仅记录指令下发时间而非实际计算完成时间，从而精确捕获真实延迟。两者需配合使用，先 warmup 后同步再计时，以获取稳定、准确的性能数据。</a:t>
            </a:r>
            <a:endPar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DIAGRAM_VIRTUALLY_FRAME" val="{&quot;height&quot;:180,&quot;left&quot;:54.025039370078744,&quot;top&quot;:140.4,&quot;width&quot;:853.2}"/>
</p:tagLst>
</file>

<file path=ppt/tags/tag2.xml><?xml version="1.0" encoding="utf-8"?>
<p:tagLst xmlns:p="http://schemas.openxmlformats.org/presentationml/2006/main">
  <p:tag name="KSO_WM_DIAGRAM_VIRTUALLY_FRAME" val="{&quot;height&quot;:180,&quot;left&quot;:54.025039370078744,&quot;top&quot;:140.4,&quot;width&quot;:853.2}"/>
</p:tagLst>
</file>

<file path=ppt/tags/tag3.xml><?xml version="1.0" encoding="utf-8"?>
<p:tagLst xmlns:p="http://schemas.openxmlformats.org/presentationml/2006/main">
  <p:tag name="KSO_WM_DIAGRAM_VIRTUALLY_FRAME" val="{&quot;height&quot;:180,&quot;left&quot;:54.025039370078744,&quot;top&quot;:140.4,&quot;width&quot;:853.2}"/>
</p:tagLst>
</file>

<file path=ppt/tags/tag4.xml><?xml version="1.0" encoding="utf-8"?>
<p:tagLst xmlns:p="http://schemas.openxmlformats.org/presentationml/2006/main">
  <p:tag name="KSO_WM_DIAGRAM_VIRTUALLY_FRAME" val="{&quot;height&quot;:180,&quot;left&quot;:54.025039370078744,&quot;top&quot;:140.4,&quot;width&quot;:853.2}"/>
</p:tagLst>
</file>

<file path=ppt/tags/tag5.xml><?xml version="1.0" encoding="utf-8"?>
<p:tagLst xmlns:p="http://schemas.openxmlformats.org/presentationml/2006/main">
  <p:tag name="KSO_WM_DIAGRAM_VIRTUALLY_FRAME" val="{&quot;height&quot;:180,&quot;left&quot;:54.025039370078744,&quot;top&quot;:140.4,&quot;width&quot;:853.2}"/>
</p:tagLst>
</file>

<file path=ppt/tags/tag6.xml><?xml version="1.0" encoding="utf-8"?>
<p:tagLst xmlns:p="http://schemas.openxmlformats.org/presentationml/2006/main">
  <p:tag name="KSO_WM_DIAGRAM_VIRTUALLY_FRAME" val="{&quot;height&quot;:180,&quot;left&quot;:54.025039370078744,&quot;top&quot;:140.4,&quot;width&quot;:853.2}"/>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9.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26774B8D87F4D92D9D1F6859ED44E" ma:contentTypeVersion="1" ma:contentTypeDescription="Create a new document." ma:contentTypeScope="" ma:versionID="192c310b45bae95d9fdbb51d5532622b">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7.xml><?xml version="1.0" encoding="utf-8"?>
<ds:datastoreItem xmlns:ds="http://schemas.openxmlformats.org/officeDocument/2006/customXml" ds:itemID="{CC2FADE7-0FB7-4D32-803A-97A461853B0F}">
  <ds:schemaRefs/>
</ds:datastoreItem>
</file>

<file path=customXml/itemProps8.xml><?xml version="1.0" encoding="utf-8"?>
<ds:datastoreItem xmlns:ds="http://schemas.openxmlformats.org/officeDocument/2006/customXml" ds:itemID="{FEDE263F-0510-4442-823E-69B63ECB61E1}">
  <ds:schemaRefs/>
</ds:datastoreItem>
</file>

<file path=customXml/itemProps9.xml><?xml version="1.0" encoding="utf-8"?>
<ds:datastoreItem xmlns:ds="http://schemas.openxmlformats.org/officeDocument/2006/customXml" ds:itemID="{DA5960F2-6186-408B-A0DC-5CA5E58B604F}">
  <ds:schemaRefs/>
</ds:datastoreItem>
</file>

<file path=docProps/app.xml><?xml version="1.0" encoding="utf-8"?>
<Properties xmlns="http://schemas.openxmlformats.org/officeDocument/2006/extended-properties" xmlns:vt="http://schemas.openxmlformats.org/officeDocument/2006/docPropsVTypes">
  <TotalTime>0</TotalTime>
  <Words>3942</Words>
  <Application>WPS 演示</Application>
  <PresentationFormat>宽屏</PresentationFormat>
  <Paragraphs>308</Paragraphs>
  <Slides>29</Slides>
  <Notes>9</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29</vt:i4>
      </vt:variant>
    </vt:vector>
  </HeadingPairs>
  <TitlesOfParts>
    <vt:vector size="46" baseType="lpstr">
      <vt:lpstr>Arial</vt:lpstr>
      <vt:lpstr>宋体</vt:lpstr>
      <vt:lpstr>Wingdings</vt:lpstr>
      <vt:lpstr>Huawei Sans</vt:lpstr>
      <vt:lpstr>DejaVu Math TeX Gyre</vt:lpstr>
      <vt:lpstr>方正兰亭黑简体</vt:lpstr>
      <vt:lpstr>微软雅黑</vt:lpstr>
      <vt:lpstr>黑体</vt:lpstr>
      <vt:lpstr>微软雅黑</vt:lpstr>
      <vt:lpstr>Arial Unicode MS</vt:lpstr>
      <vt:lpstr>Arial</vt:lpstr>
      <vt:lpstr>Arial</vt:lpstr>
      <vt:lpstr>方正兰亭黑简体</vt:lpstr>
      <vt:lpstr>2_标题页模板</vt:lpstr>
      <vt:lpstr>3_功能页模板</vt:lpstr>
      <vt:lpstr>4_内容页模板</vt:lpstr>
      <vt:lpstr>5_感谢页模板</vt:lpstr>
      <vt:lpstr>算子优化实验 · Conv+BN 算子融合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李晋</cp:lastModifiedBy>
  <cp:revision>175</cp:revision>
  <cp:lastPrinted>2020-07-31T09:33:00Z</cp:lastPrinted>
  <dcterms:created xsi:type="dcterms:W3CDTF">2018-11-29T10:16:00Z</dcterms:created>
  <dcterms:modified xsi:type="dcterms:W3CDTF">2026-08-17T04:42:26Z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(3)g4z9dqn3gb6hls7dsiBcN51QnejloZX3gCi7TJminlc8kVE0HO/znYkE6vgbBuVelA+OfOdn
0BwuKJsY+UXDQz2LoU1i769hNlYZU/sDORZUjL/rC/XvbIpVoMLGm7Tceb27JurmEhD16Lg2
Yghzv6w94nw4+kVlh363r/pjHm9I37j59Z6vr3alep6Xm0KTXPdcrKr1wacP6stDdmTbXiPN
4fiRKmITB7qR+5yU7S</vt:lpwstr>
  </property>
  <property fmtid="{D5CDD505-2E9C-101B-9397-08002B2CF9AE}" pid="3" name="_2015_ms_pID_7253431">
    <vt:lpwstr>FXaT+vzbRiamcFvAsTBXEkmKJE4AVPjccZ0e53ayTL9nHvBwgY1iTL
UX7NEwbHjVEhIf9qdfdewUrvI5DOFzKeYsn1FKo1x9HXw28fb2rXuwmuPHBk4OPqk2dx3hFq
aypIrixK+6e2QvaZc/7qfIlxtnDMJsCiXRmzyWGpf0xrk19L5ZSNdGQqnDUvQUIghh+c7W+z
F4t16ZO/qWpjd2BI7ywG4aEKr9Z6kOkwhHYQ</vt:lpwstr>
  </property>
  <property fmtid="{D5CDD505-2E9C-101B-9397-08002B2CF9AE}" pid="4" name="_2015_ms_pID_7253432">
    <vt:lpwstr>vg==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1575248629</vt:lpwstr>
  </property>
  <property fmtid="{D5CDD505-2E9C-101B-9397-08002B2CF9AE}" pid="9" name="ContentTypeId">
    <vt:lpwstr>0x010100CC226774B8D87F4D92D9D1F6859ED44E</vt:lpwstr>
  </property>
  <property fmtid="{D5CDD505-2E9C-101B-9397-08002B2CF9AE}" pid="10" name="KSOProductBuildVer">
    <vt:lpwstr>2052-12.1.0.23542</vt:lpwstr>
  </property>
  <property fmtid="{D5CDD505-2E9C-101B-9397-08002B2CF9AE}" pid="11" name="ICV">
    <vt:lpwstr>C775D2FE452B4504A7D92C98615B9CC1_13</vt:lpwstr>
  </property>
</Properties>
</file>