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  <p:sldMasterId id="2147483666" r:id="rId3"/>
    <p:sldMasterId id="2147483669" r:id="rId4"/>
  </p:sldMasterIdLst>
  <p:notesMasterIdLst>
    <p:notesMasterId r:id="rId50"/>
  </p:notesMasterIdLst>
  <p:sldIdLst>
    <p:sldId id="308" r:id="rId5"/>
    <p:sldId id="329" r:id="rId6"/>
    <p:sldId id="369" r:id="rId7"/>
    <p:sldId id="309" r:id="rId8"/>
    <p:sldId id="310" r:id="rId9"/>
    <p:sldId id="260" r:id="rId10"/>
    <p:sldId id="384" r:id="rId11"/>
    <p:sldId id="315" r:id="rId12"/>
    <p:sldId id="371" r:id="rId13"/>
    <p:sldId id="370" r:id="rId14"/>
    <p:sldId id="385" r:id="rId15"/>
    <p:sldId id="372" r:id="rId16"/>
    <p:sldId id="373" r:id="rId17"/>
    <p:sldId id="374" r:id="rId18"/>
    <p:sldId id="375" r:id="rId19"/>
    <p:sldId id="376" r:id="rId20"/>
    <p:sldId id="377" r:id="rId21"/>
    <p:sldId id="386" r:id="rId22"/>
    <p:sldId id="287" r:id="rId23"/>
    <p:sldId id="383" r:id="rId24"/>
    <p:sldId id="378" r:id="rId25"/>
    <p:sldId id="272" r:id="rId26"/>
    <p:sldId id="273" r:id="rId27"/>
    <p:sldId id="274" r:id="rId28"/>
    <p:sldId id="380" r:id="rId29"/>
    <p:sldId id="277" r:id="rId30"/>
    <p:sldId id="382" r:id="rId31"/>
    <p:sldId id="387" r:id="rId32"/>
    <p:sldId id="259" r:id="rId33"/>
    <p:sldId id="269" r:id="rId34"/>
    <p:sldId id="388" r:id="rId35"/>
    <p:sldId id="280" r:id="rId36"/>
    <p:sldId id="281" r:id="rId37"/>
    <p:sldId id="381" r:id="rId38"/>
    <p:sldId id="284" r:id="rId39"/>
    <p:sldId id="285" r:id="rId40"/>
    <p:sldId id="389" r:id="rId41"/>
    <p:sldId id="276" r:id="rId42"/>
    <p:sldId id="355" r:id="rId43"/>
    <p:sldId id="391" r:id="rId44"/>
    <p:sldId id="390" r:id="rId45"/>
    <p:sldId id="392" r:id="rId46"/>
    <p:sldId id="393" r:id="rId47"/>
    <p:sldId id="394" r:id="rId48"/>
    <p:sldId id="286" r:id="rId4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B3CC"/>
    <a:srgbClr val="30B5C5"/>
    <a:srgbClr val="006FAA"/>
    <a:srgbClr val="ED6D00"/>
    <a:srgbClr val="62B2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2152" y="1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添加页码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  <a:ea typeface="微软雅黑" panose="020B0503020204020204" pitchFamily="34" charset="-122"/>
              </a:rPr>
              <a:t>1</a:t>
            </a:fld>
            <a:endParaRPr 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5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7" name="备注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- 01-06 notebooks define this route.</a:t>
            </a:r>
          </a:p>
          <a:p>
            <a:r>
              <a:t>- scripts/export_onnx_to_om.sh, scripts/pyacl_yolo_infer.py, operators/ascendc.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AC10D-6F6D-472D-0709-8F2D0BEDB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5">
            <a:extLst>
              <a:ext uri="{FF2B5EF4-FFF2-40B4-BE49-F238E27FC236}">
                <a16:creationId xmlns:a16="http://schemas.microsoft.com/office/drawing/2014/main" id="{CEF185C6-B48B-7F3E-FCEA-12E0E49880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7" name="备注占位符 6">
            <a:extLst>
              <a:ext uri="{FF2B5EF4-FFF2-40B4-BE49-F238E27FC236}">
                <a16:creationId xmlns:a16="http://schemas.microsoft.com/office/drawing/2014/main" id="{0FD234C7-4895-5759-2D5E-B819B6B25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5824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图片来自：</a:t>
            </a:r>
            <a:r>
              <a:rPr lang="en-US"/>
              <a:t>http://quanaichina.com/public/upload_img/_20230407094445_1680832468737.jpg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configs/yolo_edge.yaml</a:t>
            </a:r>
          </a:p>
          <a:p>
            <a:r>
              <a:t>- requirements.txt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requirements.txt notes CANN tools are installed separately.</a:t>
            </a:r>
          </a:p>
          <a:p>
            <a:r>
              <a:t>- 04 and 06 notebooks list msopgen/opc/msprof 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8374E-854C-78E4-18CE-71B748966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5">
            <a:extLst>
              <a:ext uri="{FF2B5EF4-FFF2-40B4-BE49-F238E27FC236}">
                <a16:creationId xmlns:a16="http://schemas.microsoft.com/office/drawing/2014/main" id="{74F65854-DD89-8F8E-E274-3C77050DD6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7" name="备注占位符 6">
            <a:extLst>
              <a:ext uri="{FF2B5EF4-FFF2-40B4-BE49-F238E27FC236}">
                <a16:creationId xmlns:a16="http://schemas.microsoft.com/office/drawing/2014/main" id="{E63EABA3-61FC-770A-FB1D-F1AC91DBA4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3896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- 04 notebook section 3.</a:t>
            </a:r>
          </a:p>
          <a:p>
            <a:r>
              <a:t>- configs/yolo_edge.yaml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configs/yolo_edge.yaml: model.onnx_path, model.om_path, data.sample_image</a:t>
            </a:r>
          </a:p>
          <a:p>
            <a:r>
              <a:t>- 01 and 02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- 01_YOLO模型准备与OM转换.ipynb</a:t>
            </a:r>
          </a:p>
          <a:p>
            <a:r>
              <a:t>- scripts/export_onnx_to_om.sh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- 02_PyACL加载OM模型端侧推理.ipynb</a:t>
            </a:r>
          </a:p>
          <a:p>
            <a:r>
              <a:t>- scripts/pyacl_yolo_infer.py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- 02 notebook and 05 notebook section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scripts/benchmark_postprocess.py</a:t>
            </a:r>
          </a:p>
          <a:p>
            <a:r>
              <a:t>- 05 notebook section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5F560-9AEA-949F-6591-4B225C2A0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5">
            <a:extLst>
              <a:ext uri="{FF2B5EF4-FFF2-40B4-BE49-F238E27FC236}">
                <a16:creationId xmlns:a16="http://schemas.microsoft.com/office/drawing/2014/main" id="{91FDA6DC-3D86-1F04-7E9C-7A4B07C3EC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7" name="备注占位符 6">
            <a:extLst>
              <a:ext uri="{FF2B5EF4-FFF2-40B4-BE49-F238E27FC236}">
                <a16:creationId xmlns:a16="http://schemas.microsoft.com/office/drawing/2014/main" id="{AC375244-2C1F-A63B-7E0C-AADB4F650F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27261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01281-5C67-12F6-0883-4541C5620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1CC0AD-FEA8-0119-E8B2-14E22CA653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FF4A0A-4C09-2328-CF47-C1CCA4FDC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- 04 notebook section 1.</a:t>
            </a:r>
          </a:p>
          <a:p>
            <a:r>
              <a:t>- operators/ascendc, operators/pypto, operators/tilelang.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647ACC-E87A-833E-B171-6A46A0A44FC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048536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C851E-572C-03CD-6020-F5DA76E00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BEF387-7AAC-CFE9-E3AE-8666EEF327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F75169-CDB6-D020-80C9-A940A3B2D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- 04 notebook section 1.</a:t>
            </a:r>
          </a:p>
          <a:p>
            <a:r>
              <a:t>- operators/ascendc, operators/pypto, operators/tilelang.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A1049-22CB-0DE5-7A4E-2ED1BAFD287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675723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FD16B-6889-2BEA-464F-9009C7697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573409-7C1D-A7EC-1F6E-85D6D4B9B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AB23FE-7FF2-77C2-A8E5-AA3DC832BA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- 04 notebook sections 5-9.</a:t>
            </a:r>
          </a:p>
          <a:p>
            <a:r>
              <a:t>- operators/ascendc/YoloNmsCustomProject.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7CB80-065D-E438-A79C-5C7D64D025C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566301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Generated ACLNN header and 04 notebook interface design.</a:t>
            </a:r>
          </a:p>
          <a:p>
            <a:r>
              <a:t>- 05 notebook runner shape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- 04 notebook section 7.</a:t>
            </a:r>
          </a:p>
          <a:p>
            <a:r>
              <a:t>- op_host/yolo_nms_custom.cpp and yolo_nms_custom_tiling.h.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- 04 notebook section 7.</a:t>
            </a:r>
          </a:p>
          <a:p>
            <a:r>
              <a:t>- operators/ascendc/YoloNmsCustomProject/op_kernel/yolo_nms_custom.cpp.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- 04 notebook section 8.</a:t>
            </a:r>
          </a:p>
          <a:p>
            <a:r>
              <a:t>- User verified generated run package and installed custom OPP.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ACLNN header: aclnn_yolo_nms_custom.h</a:t>
            </a:r>
          </a:p>
          <a:p>
            <a:r>
              <a:t>- 04 and 05 notebook runner sections.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- 04 notebook section 9.</a:t>
            </a:r>
          </a:p>
          <a:p>
            <a:r>
              <a:t>- 05 notebook section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882CA-1805-A002-83F4-1C4BEEAEB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5">
            <a:extLst>
              <a:ext uri="{FF2B5EF4-FFF2-40B4-BE49-F238E27FC236}">
                <a16:creationId xmlns:a16="http://schemas.microsoft.com/office/drawing/2014/main" id="{FA014CF1-EBD4-BBC0-8EEA-E7E2E09371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7" name="备注占位符 6">
            <a:extLst>
              <a:ext uri="{FF2B5EF4-FFF2-40B4-BE49-F238E27FC236}">
                <a16:creationId xmlns:a16="http://schemas.microsoft.com/office/drawing/2014/main" id="{EFF06CF7-96B6-0E4B-57E8-A4B106C73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30741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- 03_YOLO后处理与CPU_NMS基线.ipynb</a:t>
            </a:r>
          </a:p>
          <a:p>
            <a:r>
              <a:t>- 05_NPU后处理集成与异构卸载.ipynb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- 03_YOLO后处理与CPU_NMS基线.ipynb</a:t>
            </a:r>
          </a:p>
          <a:p>
            <a:r>
              <a:t>- 05 notebook section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CCA33-7080-9DD2-A47F-31AEEC288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5">
            <a:extLst>
              <a:ext uri="{FF2B5EF4-FFF2-40B4-BE49-F238E27FC236}">
                <a16:creationId xmlns:a16="http://schemas.microsoft.com/office/drawing/2014/main" id="{62EBC8D5-9470-F9E8-EFC1-4399407C3C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7" name="备注占位符 6">
            <a:extLst>
              <a:ext uri="{FF2B5EF4-FFF2-40B4-BE49-F238E27FC236}">
                <a16:creationId xmlns:a16="http://schemas.microsoft.com/office/drawing/2014/main" id="{226AF2B4-5662-B3F4-743A-97C9BA05EB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6765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experiment output: PASSED and same keep True.</a:t>
            </a:r>
          </a:p>
          <a:p>
            <a:r>
              <a:t>- 05 notebook section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- 06 notebook introduction and section 7.</a:t>
            </a:r>
          </a:p>
          <a:p>
            <a:r>
              <a:t>- User-provided measurement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scripts/profile_mindstudio_msprof.sh</a:t>
            </a:r>
          </a:p>
          <a:p>
            <a:r>
              <a:t>- 06 notebook sections 6 and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- 07_部署验收与常见问题.ipynb</a:t>
            </a:r>
          </a:p>
          <a:p>
            <a:r>
              <a:t>- User troubleshooting history in experiment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- 04_YOLO_Edge_TBE_Ascend full experiment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25DB9-B9F1-CD95-98E8-4431A2C7D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5">
            <a:extLst>
              <a:ext uri="{FF2B5EF4-FFF2-40B4-BE49-F238E27FC236}">
                <a16:creationId xmlns:a16="http://schemas.microsoft.com/office/drawing/2014/main" id="{EEDB7CA8-B478-07E4-FB4B-C01B08F365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7" name="备注占位符 6">
            <a:extLst>
              <a:ext uri="{FF2B5EF4-FFF2-40B4-BE49-F238E27FC236}">
                <a16:creationId xmlns:a16="http://schemas.microsoft.com/office/drawing/2014/main" id="{6B0964F8-7C9C-81D7-2A10-ACAAA75DF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12786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2702F-0B8E-4DC1-F218-8D8A50FF8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024044-9C48-FC90-DEB3-742AD3377D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9F5FE6-3DD9-60B7-C4AA-31BE8255E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535E2-DF70-DF25-28C7-27BB5D91C5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360484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246DC-57DB-71B0-3A61-9CBA8BA49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C96573-AE8F-C930-7BCD-58D9B5FDD5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FB09A-B3F3-C7F7-4B66-A044D2C3E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50AD11-3991-B783-1AEC-C1DD27F229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176066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87545-5BD8-C85E-4542-AEF119D7B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12265C-F160-B2AC-A272-DAEE9211E6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E63CE1-A142-8C1E-19F7-3CD30D7BF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D3F83-0ADE-F427-2BC6-1B90EABA2E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76838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C6432-DBF1-EEE6-FE05-1F83D6C53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06ECD1-AD30-7EA9-7893-AD6DC06A52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F5EEDA-1203-D8D4-4DF7-7E4C0CDB87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9ED99-7869-F5F4-0F7F-E263CC97E2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76956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71ECC-4714-8878-5B92-9EFC6D691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066D7A-07DA-2BB3-2B5C-06EDB982F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BFF06F-8F3E-4101-C06C-15A57E29D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C6D51B-118E-675D-489B-69F70A68FE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/>
                <a:ea typeface="方正兰亭黑简体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867081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Template closing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9520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" y="0"/>
            <a:ext cx="12187239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17" y="562718"/>
            <a:ext cx="1068804" cy="102594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17" y="562718"/>
            <a:ext cx="1067056" cy="10267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65818" y="2738746"/>
            <a:ext cx="6557247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defRPr sz="48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412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6#本节概述和学习目标(可选)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60" indent="-302260" algn="just" fontAlgn="ctr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685" indent="-252095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35" indent="-201295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765" indent="-201295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/>
          <p:cNvCxnSpPr/>
          <p:nvPr userDrawn="1"/>
        </p:nvCxnSpPr>
        <p:spPr>
          <a:xfrm flipH="1">
            <a:off x="1029917" y="1349255"/>
            <a:ext cx="414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/>
          <p:cNvSpPr txBox="1"/>
          <p:nvPr userDrawn="1"/>
        </p:nvSpPr>
        <p:spPr>
          <a:xfrm>
            <a:off x="918916" y="630373"/>
            <a:ext cx="4397358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395" eaLnBrk="0" fontAlgn="ctr" hangingPunct="0"/>
            <a:r>
              <a:rPr lang="zh-CN" altLang="en-US" sz="3640" b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本节概述和学习目标</a:t>
            </a:r>
          </a:p>
        </p:txBody>
      </p:sp>
    </p:spTree>
    <p:extLst>
      <p:ext uri="{BB962C8B-B14F-4D97-AF65-F5344CB8AC3E}">
        <p14:creationId xmlns:p14="http://schemas.microsoft.com/office/powerpoint/2010/main" val="3284908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#修订记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3"/>
          <p:cNvGraphicFramePr>
            <a:graphicFrameLocks noGrp="1"/>
          </p:cNvGraphicFramePr>
          <p:nvPr userDrawn="1"/>
        </p:nvGraphicFramePr>
        <p:xfrm>
          <a:off x="1007140" y="1398424"/>
          <a:ext cx="10194260" cy="1082675"/>
        </p:xfrm>
        <a:graphic>
          <a:graphicData uri="http://schemas.openxmlformats.org/drawingml/2006/table">
            <a:tbl>
              <a:tblPr/>
              <a:tblGrid>
                <a:gridCol w="3119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4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课程编码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适用产品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产品版本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课程版本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Group 21"/>
          <p:cNvGraphicFramePr>
            <a:graphicFrameLocks noGrp="1"/>
          </p:cNvGraphicFramePr>
          <p:nvPr userDrawn="1"/>
        </p:nvGraphicFramePr>
        <p:xfrm>
          <a:off x="1007140" y="2920836"/>
          <a:ext cx="10177327" cy="2549525"/>
        </p:xfrm>
        <a:graphic>
          <a:graphicData uri="http://schemas.openxmlformats.org/drawingml/2006/table">
            <a:tbl>
              <a:tblPr/>
              <a:tblGrid>
                <a:gridCol w="3119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7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作者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时间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审核人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新开发/优化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文本占位符 7"/>
          <p:cNvSpPr>
            <a:spLocks noGrp="1"/>
          </p:cNvSpPr>
          <p:nvPr>
            <p:ph type="body" sz="quarter" idx="17" hasCustomPrompt="1"/>
          </p:nvPr>
        </p:nvSpPr>
        <p:spPr>
          <a:xfrm>
            <a:off x="1007139" y="1969626"/>
            <a:ext cx="3119030" cy="504887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课程编码</a:t>
            </a: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8" hasCustomPrompt="1"/>
          </p:nvPr>
        </p:nvSpPr>
        <p:spPr>
          <a:xfrm>
            <a:off x="4126170" y="1969626"/>
            <a:ext cx="196745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适用的产品</a:t>
            </a:r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9" hasCustomPrompt="1"/>
          </p:nvPr>
        </p:nvSpPr>
        <p:spPr>
          <a:xfrm>
            <a:off x="6093619" y="1969626"/>
            <a:ext cx="302315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V5R2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20" hasCustomPrompt="1"/>
          </p:nvPr>
        </p:nvSpPr>
        <p:spPr>
          <a:xfrm>
            <a:off x="9116775" y="1969626"/>
            <a:ext cx="208462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lang="zh-CN" altLang="en-US" sz="1600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V1.0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007042" y="3517796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126170" y="3517796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11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6093619" y="3517796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2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9116775" y="3481792"/>
            <a:ext cx="2056050" cy="504056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新开发</a:t>
            </a:r>
          </a:p>
        </p:txBody>
      </p:sp>
      <p:sp>
        <p:nvSpPr>
          <p:cNvPr id="13" name="Rectangle 2"/>
          <p:cNvSpPr>
            <a:spLocks noChangeArrowheads="1"/>
          </p:cNvSpPr>
          <p:nvPr userDrawn="1"/>
        </p:nvSpPr>
        <p:spPr bwMode="auto">
          <a:xfrm>
            <a:off x="952130" y="368661"/>
            <a:ext cx="2802144" cy="4794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78227" tIns="39112" rIns="78227" bIns="39112" anchor="ctr"/>
          <a:lstStyle/>
          <a:p>
            <a:pPr algn="l" defTabSz="1001395" rtl="0" eaLnBrk="0" fontAlgn="ctr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500" b="0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修订记录</a:t>
            </a:r>
          </a:p>
        </p:txBody>
      </p:sp>
      <p:sp>
        <p:nvSpPr>
          <p:cNvPr id="14" name="Text Box 58"/>
          <p:cNvSpPr txBox="1">
            <a:spLocks noChangeArrowheads="1"/>
          </p:cNvSpPr>
          <p:nvPr userDrawn="1"/>
        </p:nvSpPr>
        <p:spPr bwMode="auto">
          <a:xfrm>
            <a:off x="8900835" y="296652"/>
            <a:ext cx="2771225" cy="707886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lang="zh-CN" altLang="en-US" sz="4000" i="0" baseline="0" dirty="0">
                <a:solidFill>
                  <a:schemeClr val="bg2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本页不打印</a:t>
            </a:r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21" hasCustomPrompt="1"/>
          </p:nvPr>
        </p:nvSpPr>
        <p:spPr>
          <a:xfrm>
            <a:off x="1007042" y="4021852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6" name="文本占位符 7"/>
          <p:cNvSpPr>
            <a:spLocks noGrp="1"/>
          </p:cNvSpPr>
          <p:nvPr>
            <p:ph type="body" sz="quarter" idx="22" hasCustomPrompt="1"/>
          </p:nvPr>
        </p:nvSpPr>
        <p:spPr>
          <a:xfrm>
            <a:off x="4126170" y="4021852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17" name="文本占位符 7"/>
          <p:cNvSpPr>
            <a:spLocks noGrp="1"/>
          </p:cNvSpPr>
          <p:nvPr>
            <p:ph type="body" sz="quarter" idx="23" hasCustomPrompt="1"/>
          </p:nvPr>
        </p:nvSpPr>
        <p:spPr>
          <a:xfrm>
            <a:off x="6093619" y="4021852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8" name="文本占位符 7"/>
          <p:cNvSpPr>
            <a:spLocks noGrp="1"/>
          </p:cNvSpPr>
          <p:nvPr>
            <p:ph type="body" sz="quarter" idx="24" hasCustomPrompt="1"/>
          </p:nvPr>
        </p:nvSpPr>
        <p:spPr>
          <a:xfrm>
            <a:off x="9116775" y="3985848"/>
            <a:ext cx="2084625" cy="504056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19" name="文本占位符 7"/>
          <p:cNvSpPr>
            <a:spLocks noGrp="1"/>
          </p:cNvSpPr>
          <p:nvPr>
            <p:ph type="body" sz="quarter" idx="25" hasCustomPrompt="1"/>
          </p:nvPr>
        </p:nvSpPr>
        <p:spPr>
          <a:xfrm>
            <a:off x="1007042" y="448990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0" name="文本占位符 7"/>
          <p:cNvSpPr>
            <a:spLocks noGrp="1"/>
          </p:cNvSpPr>
          <p:nvPr>
            <p:ph type="body" sz="quarter" idx="26" hasCustomPrompt="1"/>
          </p:nvPr>
        </p:nvSpPr>
        <p:spPr>
          <a:xfrm>
            <a:off x="4126170" y="448990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1" name="文本占位符 7"/>
          <p:cNvSpPr>
            <a:spLocks noGrp="1"/>
          </p:cNvSpPr>
          <p:nvPr>
            <p:ph type="body" sz="quarter" idx="27" hasCustomPrompt="1"/>
          </p:nvPr>
        </p:nvSpPr>
        <p:spPr>
          <a:xfrm>
            <a:off x="6093619" y="448990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2" name="文本占位符 7"/>
          <p:cNvSpPr>
            <a:spLocks noGrp="1"/>
          </p:cNvSpPr>
          <p:nvPr>
            <p:ph type="body" sz="quarter" idx="28" hasCustomPrompt="1"/>
          </p:nvPr>
        </p:nvSpPr>
        <p:spPr>
          <a:xfrm>
            <a:off x="9116775" y="4489904"/>
            <a:ext cx="20560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23" name="文本占位符 7"/>
          <p:cNvSpPr>
            <a:spLocks noGrp="1"/>
          </p:cNvSpPr>
          <p:nvPr>
            <p:ph type="body" sz="quarter" idx="29" hasCustomPrompt="1"/>
          </p:nvPr>
        </p:nvSpPr>
        <p:spPr>
          <a:xfrm>
            <a:off x="1007042" y="499907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4" name="文本占位符 7"/>
          <p:cNvSpPr>
            <a:spLocks noGrp="1"/>
          </p:cNvSpPr>
          <p:nvPr>
            <p:ph type="body" sz="quarter" idx="30" hasCustomPrompt="1"/>
          </p:nvPr>
        </p:nvSpPr>
        <p:spPr>
          <a:xfrm>
            <a:off x="4126170" y="499907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lang="zh-CN" altLang="en-US" sz="1600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5" name="文本占位符 7"/>
          <p:cNvSpPr>
            <a:spLocks noGrp="1"/>
          </p:cNvSpPr>
          <p:nvPr>
            <p:ph type="body" sz="quarter" idx="31" hasCustomPrompt="1"/>
          </p:nvPr>
        </p:nvSpPr>
        <p:spPr>
          <a:xfrm>
            <a:off x="6093619" y="499907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6" name="文本占位符 7"/>
          <p:cNvSpPr>
            <a:spLocks noGrp="1"/>
          </p:cNvSpPr>
          <p:nvPr>
            <p:ph type="body" sz="quarter" idx="32" hasCustomPrompt="1"/>
          </p:nvPr>
        </p:nvSpPr>
        <p:spPr>
          <a:xfrm>
            <a:off x="9116775" y="4999074"/>
            <a:ext cx="208462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</p:spTree>
    <p:extLst>
      <p:ext uri="{BB962C8B-B14F-4D97-AF65-F5344CB8AC3E}">
        <p14:creationId xmlns:p14="http://schemas.microsoft.com/office/powerpoint/2010/main" val="1543930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#前言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60" indent="-302260" algn="just" fontAlgn="ctr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685" indent="-252095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35" indent="-201295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765" indent="-201295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本章主要讲述</a:t>
            </a:r>
            <a:r>
              <a:rPr lang="en-US" altLang="zh-CN" dirty="0"/>
              <a:t>...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/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/>
          <p:cNvSpPr txBox="1"/>
          <p:nvPr userDrawn="1"/>
        </p:nvSpPr>
        <p:spPr>
          <a:xfrm>
            <a:off x="918916" y="630373"/>
            <a:ext cx="1117614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5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pitchFamily="34" charset="-122"/>
              </a:rPr>
              <a:t>前言</a:t>
            </a:r>
          </a:p>
        </p:txBody>
      </p:sp>
    </p:spTree>
    <p:extLst>
      <p:ext uri="{BB962C8B-B14F-4D97-AF65-F5344CB8AC3E}">
        <p14:creationId xmlns:p14="http://schemas.microsoft.com/office/powerpoint/2010/main" val="1536700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#目标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60" indent="-302260" algn="just" eaLnBrk="1" fontAlgn="ctr" hangingPunct="1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685" indent="-252095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35" indent="-201295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765" indent="-201295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学完本课程后，您将能够：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/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/>
          <p:cNvSpPr txBox="1"/>
          <p:nvPr userDrawn="1"/>
        </p:nvSpPr>
        <p:spPr>
          <a:xfrm>
            <a:off x="918916" y="630373"/>
            <a:ext cx="1120820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395" eaLnBrk="0" fontAlgn="ctr" hangingPunct="0"/>
            <a:r>
              <a:rPr lang="zh-CN" altLang="en-US" sz="3640" b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目标</a:t>
            </a:r>
            <a:endParaRPr lang="en-US" altLang="zh-CN" sz="3640" b="0" baseline="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663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#目录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68811"/>
          </a:xfrm>
          <a:prstGeom prst="rect">
            <a:avLst/>
          </a:prstGeom>
        </p:spPr>
        <p:txBody>
          <a:bodyPr/>
          <a:lstStyle>
            <a:lvl1pPr marL="457200" marR="0" indent="-457200" algn="just" defTabSz="801370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fontAlgn="ctr">
              <a:buClrTx/>
              <a:buSzPct val="100000"/>
              <a:buFont typeface="Huawei Sans" panose="020C0503030203020204" pitchFamily="34" charset="0"/>
              <a:buChar char="▫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4050" lvl="1" indent="-457200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28" name="直线连接符 14"/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16"/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1001395" eaLnBrk="0" fontAlgn="ctr" hangingPunct="0">
              <a:defRPr sz="364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3777260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#本节概述和学习目标(可选)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60" indent="-302260" algn="just" fontAlgn="ctr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685" indent="-252095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35" indent="-201295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765" indent="-201295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/>
          <p:cNvCxnSpPr/>
          <p:nvPr userDrawn="1"/>
        </p:nvCxnSpPr>
        <p:spPr>
          <a:xfrm flipH="1">
            <a:off x="1029917" y="1349255"/>
            <a:ext cx="414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/>
          <p:cNvSpPr txBox="1"/>
          <p:nvPr userDrawn="1"/>
        </p:nvSpPr>
        <p:spPr>
          <a:xfrm>
            <a:off x="918916" y="630373"/>
            <a:ext cx="4397358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395" eaLnBrk="0" fontAlgn="ctr" hangingPunct="0"/>
            <a:r>
              <a:rPr lang="zh-CN" altLang="en-US" sz="3640" b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本节概述和学习目标</a:t>
            </a:r>
          </a:p>
        </p:txBody>
      </p:sp>
    </p:spTree>
    <p:extLst>
      <p:ext uri="{BB962C8B-B14F-4D97-AF65-F5344CB8AC3E}">
        <p14:creationId xmlns:p14="http://schemas.microsoft.com/office/powerpoint/2010/main" val="2046584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0#思考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6" y="1844675"/>
            <a:ext cx="10153650" cy="4068812"/>
          </a:xfrm>
          <a:prstGeom prst="rect">
            <a:avLst/>
          </a:prstGeom>
        </p:spPr>
        <p:txBody>
          <a:bodyPr/>
          <a:lstStyle>
            <a:lvl1pPr marL="457200" marR="0" indent="-457200" algn="just" defTabSz="802005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20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744220" indent="-342900" algn="just" fontAlgn="ctr">
              <a:buSzPct val="100000"/>
              <a:buFont typeface="+mj-lt"/>
              <a:buAutoNum type="alphaUcPeriod"/>
              <a:defRPr sz="1800" baseline="0">
                <a:latin typeface="Huawei Sans" panose="020C0503030203020204" pitchFamily="34" charset="0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r>
              <a:rPr lang="zh-CN" altLang="en-US" dirty="0"/>
              <a:t>此版式用于思考题具体格式</a:t>
            </a:r>
            <a:endParaRPr lang="en-US" altLang="zh-CN" dirty="0"/>
          </a:p>
        </p:txBody>
      </p:sp>
      <p:cxnSp>
        <p:nvCxnSpPr>
          <p:cNvPr id="24" name="直线连接符 14"/>
          <p:cNvCxnSpPr/>
          <p:nvPr userDrawn="1"/>
        </p:nvCxnSpPr>
        <p:spPr>
          <a:xfrm flipH="1">
            <a:off x="1029917" y="1349255"/>
            <a:ext cx="1368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16"/>
          <p:cNvSpPr txBox="1"/>
          <p:nvPr userDrawn="1"/>
        </p:nvSpPr>
        <p:spPr>
          <a:xfrm>
            <a:off x="918916" y="630373"/>
            <a:ext cx="1584088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5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pitchFamily="34" charset="-122"/>
              </a:rPr>
              <a:t>思考题</a:t>
            </a:r>
          </a:p>
        </p:txBody>
      </p:sp>
    </p:spTree>
    <p:extLst>
      <p:ext uri="{BB962C8B-B14F-4D97-AF65-F5344CB8AC3E}">
        <p14:creationId xmlns:p14="http://schemas.microsoft.com/office/powerpoint/2010/main" val="1036380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1#本节小结（可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此版式用于每一节的小结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11" name="直线连接符 14"/>
          <p:cNvCxnSpPr/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6"/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5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pitchFamily="34" charset="-122"/>
              </a:rPr>
              <a:t>本节小结</a:t>
            </a:r>
          </a:p>
        </p:txBody>
      </p:sp>
    </p:spTree>
    <p:extLst>
      <p:ext uri="{BB962C8B-B14F-4D97-AF65-F5344CB8AC3E}">
        <p14:creationId xmlns:p14="http://schemas.microsoft.com/office/powerpoint/2010/main" val="1309495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2#本章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线连接符 14"/>
          <p:cNvCxnSpPr/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6"/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5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pitchFamily="34" charset="-122"/>
              </a:rPr>
              <a:t>本章总结</a:t>
            </a:r>
          </a:p>
        </p:txBody>
      </p:sp>
    </p:spTree>
    <p:extLst>
      <p:ext uri="{BB962C8B-B14F-4D97-AF65-F5344CB8AC3E}">
        <p14:creationId xmlns:p14="http://schemas.microsoft.com/office/powerpoint/2010/main" val="38011302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3#更多信息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5pPr>
              <a:buNone/>
              <a:defRPr/>
            </a:lvl5pPr>
          </a:lstStyle>
          <a:p>
            <a:r>
              <a:rPr lang="zh-CN" altLang="en-US" dirty="0"/>
              <a:t>此版式用于提供给学员更多学习信息。</a:t>
            </a:r>
          </a:p>
        </p:txBody>
      </p:sp>
      <p:cxnSp>
        <p:nvCxnSpPr>
          <p:cNvPr id="12" name="直线连接符 14"/>
          <p:cNvCxnSpPr/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6"/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5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pitchFamily="34" charset="-122"/>
              </a:rPr>
              <a:t>更多信息</a:t>
            </a:r>
          </a:p>
        </p:txBody>
      </p:sp>
    </p:spTree>
    <p:extLst>
      <p:ext uri="{BB962C8B-B14F-4D97-AF65-F5344CB8AC3E}">
        <p14:creationId xmlns:p14="http://schemas.microsoft.com/office/powerpoint/2010/main" val="27682292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4#学习推荐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endParaRPr lang="zh-CN" altLang="en-US" dirty="0"/>
          </a:p>
        </p:txBody>
      </p:sp>
      <p:cxnSp>
        <p:nvCxnSpPr>
          <p:cNvPr id="14" name="直线连接符 14"/>
          <p:cNvCxnSpPr/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6"/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5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pitchFamily="34" charset="-122"/>
              </a:rPr>
              <a:t>学习推荐</a:t>
            </a:r>
          </a:p>
        </p:txBody>
      </p:sp>
    </p:spTree>
    <p:extLst>
      <p:ext uri="{BB962C8B-B14F-4D97-AF65-F5344CB8AC3E}">
        <p14:creationId xmlns:p14="http://schemas.microsoft.com/office/powerpoint/2010/main" val="30840872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64877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82555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" y="0"/>
            <a:ext cx="12187239" cy="6858000"/>
          </a:xfrm>
          <a:prstGeom prst="rect">
            <a:avLst/>
          </a:prstGeom>
        </p:spPr>
      </p:pic>
      <p:pic>
        <p:nvPicPr>
          <p:cNvPr id="10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17" y="562718"/>
            <a:ext cx="1068804" cy="1025944"/>
          </a:xfrm>
          <a:prstGeom prst="rect">
            <a:avLst/>
          </a:prstGeom>
        </p:spPr>
      </p:pic>
      <p:pic>
        <p:nvPicPr>
          <p:cNvPr id="11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17" y="562718"/>
            <a:ext cx="1067056" cy="1026710"/>
          </a:xfrm>
          <a:prstGeom prst="rect">
            <a:avLst/>
          </a:prstGeom>
          <a:ln>
            <a:noFill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5A2D558-0AE1-48E4-98CB-7526A2C81D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5818" y="2738746"/>
            <a:ext cx="6557247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buNone/>
              <a:defRPr sz="4800" b="0" i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r>
              <a:t>单击此处添加标题</a:t>
            </a:r>
          </a:p>
        </p:txBody>
      </p:sp>
    </p:spTree>
    <p:extLst>
      <p:ext uri="{BB962C8B-B14F-4D97-AF65-F5344CB8AC3E}">
        <p14:creationId xmlns:p14="http://schemas.microsoft.com/office/powerpoint/2010/main" val="40773693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#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2" y="447468"/>
            <a:ext cx="1129347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8085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1484312"/>
            <a:ext cx="11293476" cy="4443243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20297220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*#标题和内容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8085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1047750"/>
            <a:ext cx="11293475" cy="4879805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41844485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#仅标题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3" y="447468"/>
            <a:ext cx="1129347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8085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1169378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*#仅标题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2438" y="447468"/>
            <a:ext cx="11296649" cy="4970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8085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557695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9#全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9593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1127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‹#›</a:t>
            </a:fld>
            <a:endParaRPr lang="en-US" sz="975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grpSp>
        <p:nvGrpSpPr>
          <p:cNvPr id="27" name="Group 87"/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28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29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</a:p>
          </p:txBody>
        </p:sp>
        <p:sp>
          <p:nvSpPr>
            <p:cNvPr id="30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31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32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33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34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242/137/68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36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</a:p>
          </p:txBody>
        </p:sp>
        <p:sp>
          <p:nvSpPr>
            <p:cNvPr id="37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38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39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40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41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42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43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44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65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66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67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68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246/183/140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70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71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72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73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74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75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76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250/211/187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78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79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190/23/238</a:t>
              </a:r>
            </a:p>
          </p:txBody>
        </p:sp>
        <p:sp>
          <p:nvSpPr>
            <p:cNvPr id="80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81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82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35/24/21</a:t>
              </a:r>
            </a:p>
          </p:txBody>
        </p:sp>
        <p:sp>
          <p:nvSpPr>
            <p:cNvPr id="83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84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85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86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87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5461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xStyles>
    <p:titleStyle>
      <a:lvl1pPr algn="l" defTabSz="913765" rtl="0" eaLnBrk="1" fontAlgn="ctr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60" indent="-302260" algn="l" defTabSz="913765" rtl="0" eaLnBrk="1" fontAlgn="ctr" latinLnBrk="0" hangingPunct="1">
        <a:lnSpc>
          <a:spcPct val="140000"/>
        </a:lnSpc>
        <a:spcBef>
          <a:spcPts val="790"/>
        </a:spcBef>
        <a:buSzPct val="50000"/>
        <a:buFont typeface="Wingdings" panose="05000000000000000000" pitchFamily="2" charset="2"/>
        <a:buChar char="l"/>
        <a:defRPr sz="220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685" indent="-252095" algn="l" defTabSz="913765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200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35" indent="-201295" algn="l" defTabSz="913765" rtl="0" eaLnBrk="1" fontAlgn="ctr" latinLnBrk="0" hangingPunct="1">
        <a:lnSpc>
          <a:spcPct val="140000"/>
        </a:lnSpc>
        <a:spcBef>
          <a:spcPts val="650"/>
        </a:spcBef>
        <a:buClrTx/>
        <a:buSzPct val="50000"/>
        <a:buFont typeface="Wingdings" panose="05000000000000000000" pitchFamily="2" charset="2"/>
        <a:buChar char="n"/>
        <a:defRPr sz="180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540" indent="-198120" algn="l" defTabSz="913765" rtl="0" eaLnBrk="1" fontAlgn="ctr" latinLnBrk="0" hangingPunct="1">
        <a:lnSpc>
          <a:spcPct val="140000"/>
        </a:lnSpc>
        <a:spcBef>
          <a:spcPts val="575"/>
        </a:spcBef>
        <a:buFont typeface="Huawei Sans" panose="020C0503030203020204" pitchFamily="34" charset="0"/>
        <a:buChar char="−"/>
        <a:defRPr sz="160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765" indent="-201295" algn="l" defTabSz="913765" rtl="0" eaLnBrk="1" fontAlgn="ctr" latinLnBrk="0" hangingPunct="1">
        <a:lnSpc>
          <a:spcPct val="140000"/>
        </a:lnSpc>
        <a:spcBef>
          <a:spcPts val="575"/>
        </a:spcBef>
        <a:buFont typeface="Huawei Sans" panose="020C0503030203020204" pitchFamily="34" charset="0"/>
        <a:buChar char="~"/>
        <a:defRPr sz="140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3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0312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457905" y="457499"/>
            <a:ext cx="11291061" cy="98011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marL="0" lvl="0" indent="0" defTabSz="1188085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28" name="Rectangle 5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484313"/>
            <a:ext cx="11293475" cy="44437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0141" tIns="40071" rIns="80141" bIns="40071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‹#›</a:t>
            </a:fld>
            <a:endParaRPr lang="en-US" sz="975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grpSp>
        <p:nvGrpSpPr>
          <p:cNvPr id="29" name="Group 87"/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31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</a:p>
          </p:txBody>
        </p:sp>
        <p:sp>
          <p:nvSpPr>
            <p:cNvPr id="32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33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34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35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36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242/137/68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38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</a:p>
          </p:txBody>
        </p:sp>
        <p:sp>
          <p:nvSpPr>
            <p:cNvPr id="39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40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41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42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43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44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65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66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67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68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69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70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246/183/140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72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73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74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75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76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77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78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250/211/187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80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81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190/23/238</a:t>
              </a:r>
            </a:p>
          </p:txBody>
        </p:sp>
        <p:sp>
          <p:nvSpPr>
            <p:cNvPr id="82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83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84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35/24/21</a:t>
              </a:r>
            </a:p>
          </p:txBody>
        </p:sp>
        <p:sp>
          <p:nvSpPr>
            <p:cNvPr id="85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86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87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88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89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233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txStyles>
    <p:titleStyle>
      <a:lvl1pPr algn="l" defTabSz="913765" rtl="0" eaLnBrk="1" fontAlgn="base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60" indent="-302260" algn="l" defTabSz="913765" rtl="0" eaLnBrk="1" fontAlgn="ctr" latinLnBrk="0" hangingPunct="1">
        <a:lnSpc>
          <a:spcPct val="140000"/>
        </a:lnSpc>
        <a:spcBef>
          <a:spcPts val="790"/>
        </a:spcBef>
        <a:buSzPct val="50000"/>
        <a:buFont typeface="Wingdings" panose="05000000000000000000" pitchFamily="2" charset="2"/>
        <a:buChar char="l"/>
        <a:defRPr sz="22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685" indent="-252095" algn="l" defTabSz="913765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20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35" indent="-201295" algn="l" defTabSz="913765" rtl="0" eaLnBrk="1" fontAlgn="ctr" latinLnBrk="0" hangingPunct="1">
        <a:lnSpc>
          <a:spcPct val="140000"/>
        </a:lnSpc>
        <a:spcBef>
          <a:spcPts val="650"/>
        </a:spcBef>
        <a:buClrTx/>
        <a:buSzPct val="50000"/>
        <a:buFont typeface="Wingdings" panose="05000000000000000000" pitchFamily="2" charset="2"/>
        <a:buChar char="n"/>
        <a:defRPr sz="18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540" indent="-198120" algn="l" defTabSz="913765" rtl="0" eaLnBrk="1" fontAlgn="ctr" latinLnBrk="0" hangingPunct="1">
        <a:lnSpc>
          <a:spcPct val="140000"/>
        </a:lnSpc>
        <a:spcBef>
          <a:spcPts val="575"/>
        </a:spcBef>
        <a:buFont typeface="Huawei Sans" panose="020C0503030203020204" pitchFamily="34" charset="0"/>
        <a:buChar char="−"/>
        <a:defRPr sz="16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765" indent="-201295" algn="l" defTabSz="913765" rtl="0" eaLnBrk="1" fontAlgn="ctr" latinLnBrk="0" hangingPunct="1">
        <a:lnSpc>
          <a:spcPct val="140000"/>
        </a:lnSpc>
        <a:spcBef>
          <a:spcPts val="575"/>
        </a:spcBef>
        <a:buFont typeface="Huawei Sans" panose="020C0503030203020204" pitchFamily="34" charset="0"/>
        <a:buChar char="~"/>
        <a:defRPr sz="14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3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661672" y="3446033"/>
            <a:ext cx="2550356" cy="0"/>
          </a:xfrm>
          <a:prstGeom prst="line">
            <a:avLst/>
          </a:prstGeom>
          <a:ln w="25400">
            <a:solidFill>
              <a:srgbClr val="E900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661670" y="2537460"/>
            <a:ext cx="10489100" cy="690245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rgbClr val="333333"/>
                </a:solidFill>
                <a:cs typeface="微软雅黑" panose="020B0503020204020204" pitchFamily="34" charset="-120"/>
                <a:sym typeface="+mn-ea"/>
              </a:rPr>
              <a:t>YOLO</a:t>
            </a:r>
            <a:r>
              <a:rPr lang="zh-CN" altLang="en-US" dirty="0">
                <a:solidFill>
                  <a:srgbClr val="333333"/>
                </a:solidFill>
                <a:cs typeface="微软雅黑" panose="020B0503020204020204" pitchFamily="34" charset="-120"/>
                <a:sym typeface="+mn-ea"/>
              </a:rPr>
              <a:t>端侧部署与 </a:t>
            </a:r>
            <a:r>
              <a:rPr lang="en-US" altLang="zh-CN" dirty="0">
                <a:solidFill>
                  <a:srgbClr val="333333"/>
                </a:solidFill>
                <a:cs typeface="微软雅黑" panose="020B0503020204020204" pitchFamily="34" charset="-120"/>
                <a:sym typeface="+mn-ea"/>
              </a:rPr>
              <a:t>TBE </a:t>
            </a:r>
            <a:r>
              <a:rPr lang="zh-CN" altLang="en-US" dirty="0">
                <a:solidFill>
                  <a:srgbClr val="333333"/>
                </a:solidFill>
                <a:cs typeface="微软雅黑" panose="020B0503020204020204" pitchFamily="34" charset="-120"/>
                <a:sym typeface="+mn-ea"/>
              </a:rPr>
              <a:t>自定义后处理集成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背景介绍与</a:t>
            </a:r>
            <a:r>
              <a:rPr 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学习目标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实验环境准备</a:t>
            </a: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模型转换与 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PyACL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推理</a:t>
            </a: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自定义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NMS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算子开发</a:t>
            </a: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NPU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后处理集成与验证</a:t>
            </a: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sym typeface="+mn-ea"/>
              </a:rPr>
              <a:t>Profiling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sym typeface="+mn-ea"/>
              </a:rPr>
              <a:t>与实验验收</a:t>
            </a: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课后习题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019174" y="1582420"/>
            <a:ext cx="10153651" cy="4082668"/>
          </a:xfrm>
        </p:spPr>
        <p:txBody>
          <a:bodyPr/>
          <a:lstStyle/>
          <a:p>
            <a:pPr defTabSz="913765" rtl="0">
              <a:lnSpc>
                <a:spcPct val="140000"/>
              </a:lnSpc>
              <a:spcBef>
                <a:spcPts val="790"/>
              </a:spcBef>
            </a:pPr>
            <a:r>
              <a:rPr lang="zh-CN" altLang="zh-CN" sz="1800" kern="1200" dirty="0"/>
              <a:t>目标检测是端侧 AI 应用中最常见的任务之一，广泛用于智能交通、工业巡检和移动端视觉分析等场景。本实验基于 Atlas 200I DK A2 / Ascend 310B4 开发板与 CANN 环境，以 YOLOv5s 为例，完整覆盖 ONNX 到 OM 模型转换、PyACL 加载 OM 执行端侧推理、YOLO 输出解码与 CPU NMS 基线建立、Ascend C 自定义 YoloNmsCustom 后处理算子开发、编译安装和 ACLNN 调用验证流程。通过将 NMS 后处理从 CPU 卸载到 NPU 自定义算子，并结合 MindStudio Profiling 分析算子耗时，帮助学员理解端侧 AI 应用从模型部署、异构后处理优化到性能验证的完整工程链路。</a:t>
            </a:r>
            <a:endParaRPr lang="zh-CN" altLang="en-US" sz="1800" kern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8" y="0"/>
            <a:ext cx="12188952" cy="73152"/>
          </a:xfrm>
          <a:prstGeom prst="rect">
            <a:avLst/>
          </a:prstGeom>
          <a:solidFill>
            <a:srgbClr val="C7000B"/>
          </a:solidFill>
        </p:spPr>
      </p:sp>
      <p:sp>
        <p:nvSpPr>
          <p:cNvPr id="3" name="Text 1"/>
          <p:cNvSpPr/>
          <p:nvPr/>
        </p:nvSpPr>
        <p:spPr>
          <a:xfrm>
            <a:off x="733108" y="27432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学习目标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3108" y="1234440"/>
            <a:ext cx="10515600" cy="27432"/>
          </a:xfrm>
          <a:prstGeom prst="rect">
            <a:avLst/>
          </a:prstGeom>
          <a:solidFill>
            <a:srgbClr val="0072C6"/>
          </a:solidFill>
        </p:spPr>
      </p:sp>
      <p:sp>
        <p:nvSpPr>
          <p:cNvPr id="5" name="Text 3"/>
          <p:cNvSpPr/>
          <p:nvPr/>
        </p:nvSpPr>
        <p:spPr>
          <a:xfrm>
            <a:off x="733108" y="1463040"/>
            <a:ext cx="10515600" cy="4754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完成本实验后,你应该能够: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1) 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理解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Atlas 200I DK 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在端侧 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推理中的角色，以及 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CANN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ACL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altLang="zh-CN" sz="1600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PyACL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ATC 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 </a:t>
            </a:r>
            <a:r>
              <a:rPr lang="en-US" altLang="zh-CN" sz="1600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MindStudio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的关系；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2) 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掌握将 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ONNX 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模型按指定输入 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shape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、数据格式和芯片版本转换为 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OM 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模型的，并检查模型输入输出信息；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3) 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 </a:t>
            </a:r>
            <a:r>
              <a:rPr lang="en-US" altLang="zh-CN" sz="1600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PyACL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完成设备初始化、模型加载、内存申请、数据拷贝、模型执行和输出取回；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4) 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能够拆解 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YOLO 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后处理流程，理解 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decode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score filter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NMS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、坐标映射和可视化之间的关系；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5) 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理解 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Ascend C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altLang="zh-CN" sz="1600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PyPTO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altLang="zh-CN" sz="1600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TileLang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三种自定义后处理算子开发路径的适用场景；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6) 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掌握将 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NMS 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等热点迁移到 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NPU/custom 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后处理路径，并完成正确性和延迟对比；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7) 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理解非严格模式加载预训练权重的原理和应用；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8) 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掌握使用 </a:t>
            </a:r>
            <a:r>
              <a:rPr lang="en-US" altLang="zh-CN" sz="1600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MindStudio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Profiling 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采集并分析端到端推理耗时，给出优化建议。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8" y="0"/>
            <a:ext cx="12188952" cy="73152"/>
          </a:xfrm>
          <a:prstGeom prst="rect">
            <a:avLst/>
          </a:prstGeom>
          <a:solidFill>
            <a:srgbClr val="C7000B"/>
          </a:solidFill>
        </p:spPr>
      </p:sp>
      <p:sp>
        <p:nvSpPr>
          <p:cNvPr id="3" name="Text 1"/>
          <p:cNvSpPr/>
          <p:nvPr/>
        </p:nvSpPr>
        <p:spPr>
          <a:xfrm>
            <a:off x="733108" y="27432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200" b="1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前置知识</a:t>
            </a:r>
            <a:endParaRPr lang="en-US" sz="32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3108" y="1234440"/>
            <a:ext cx="10515600" cy="27432"/>
          </a:xfrm>
          <a:prstGeom prst="rect">
            <a:avLst/>
          </a:prstGeom>
          <a:solidFill>
            <a:srgbClr val="0072C6"/>
          </a:solidFill>
        </p:spPr>
      </p:sp>
      <p:sp>
        <p:nvSpPr>
          <p:cNvPr id="5" name="Text 3"/>
          <p:cNvSpPr/>
          <p:nvPr/>
        </p:nvSpPr>
        <p:spPr>
          <a:xfrm>
            <a:off x="733108" y="1623060"/>
            <a:ext cx="10515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■"/>
            </a:pPr>
            <a:r>
              <a:rPr lang="en-US" sz="1400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Python基础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：掌握变量、函数、模块导入、文件读写、列表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数组操作等基础语法。本实验中的推理脚本、后处理验证和 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Notebook 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流程均使用 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 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编写。</a:t>
            </a:r>
          </a:p>
          <a:p>
            <a:pPr marL="342900" indent="-342900">
              <a:buSzPct val="100000"/>
              <a:buChar char="■"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3108" y="2281555"/>
            <a:ext cx="10515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■"/>
            </a:pP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命令基础：能够使用 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cd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find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grep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chmod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source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export 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等常用命令，理解环境变量、目录路径和脚本执行方式。</a:t>
            </a:r>
          </a:p>
        </p:txBody>
      </p:sp>
      <p:sp>
        <p:nvSpPr>
          <p:cNvPr id="7" name="Text 5"/>
          <p:cNvSpPr/>
          <p:nvPr/>
        </p:nvSpPr>
        <p:spPr>
          <a:xfrm>
            <a:off x="733108" y="2915920"/>
            <a:ext cx="10515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■"/>
            </a:pP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YOLO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目标检测基础：了解目标框、置信度、类别分数、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NMS 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非极大值抑制等概念，理解 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YOLO 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模型输出不是最终检测结果，需要经过后处理。</a:t>
            </a:r>
            <a:endParaRPr lang="en-US" altLang="zh-CN" sz="1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3108" y="3578860"/>
            <a:ext cx="10515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■"/>
            </a:pP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CANN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工具链基础：了解 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CANN Toolkit 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提供的 </a:t>
            </a:r>
            <a:r>
              <a:rPr lang="en-US" sz="1400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atc、opc、msopgen、msprof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等工具作用，知道 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OM 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模型转换、自定义算子编译和 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Profiling 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分析都依赖 </a:t>
            </a:r>
            <a:r>
              <a:rPr 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CANN 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环境。</a:t>
            </a:r>
          </a:p>
        </p:txBody>
      </p:sp>
      <p:sp>
        <p:nvSpPr>
          <p:cNvPr id="9" name="Text 7"/>
          <p:cNvSpPr/>
          <p:nvPr/>
        </p:nvSpPr>
        <p:spPr>
          <a:xfrm>
            <a:off x="733425" y="4241800"/>
            <a:ext cx="10515600" cy="5035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■"/>
            </a:pP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Jupyter Notebook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基础：能够按顺序运行单元格、查看输出、根据报错定位问题，并保存实验结果。实验中的每个阶段都对应一个 </a:t>
            </a:r>
            <a:r>
              <a:rPr lang="en-US" altLang="zh-CN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Notebook</a:t>
            </a:r>
            <a:r>
              <a:rPr lang="zh-CN" altLang="en-US" sz="1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altLang="zh-CN" sz="1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055E6540-08F2-4EE6-98A3-66B9B89E0E15}"/>
              </a:ext>
            </a:extLst>
          </p:cNvPr>
          <p:cNvSpPr>
            <a:spLocks noGrp="1"/>
          </p:cNvSpPr>
          <p:nvPr/>
        </p:nvSpPr>
        <p:spPr>
          <a:xfrm>
            <a:off x="704850" y="43815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整体技术路线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63DEDCC-BB8D-46E5-AFE8-7A7D2D5E5167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9ADE2E6-FC15-4EC5-9AC0-C2A438F574E8}"/>
              </a:ext>
            </a:extLst>
          </p:cNvPr>
          <p:cNvSpPr>
            <a:spLocks noGrp="1"/>
          </p:cNvSpPr>
          <p:nvPr/>
        </p:nvSpPr>
        <p:spPr>
          <a:xfrm>
            <a:off x="647700" y="1974571"/>
            <a:ext cx="1619250" cy="628650"/>
          </a:xfrm>
          <a:prstGeom prst="roundRect">
            <a:avLst>
              <a:gd name="adj" fmla="val 15152"/>
            </a:avLst>
          </a:prstGeom>
          <a:solidFill>
            <a:srgbClr val="F9ECEB"/>
          </a:solidFill>
          <a:ln w="14288">
            <a:solidFill>
              <a:srgbClr val="C7000B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838B441-AB26-4643-8F3E-632E1D95DEDF}"/>
              </a:ext>
            </a:extLst>
          </p:cNvPr>
          <p:cNvSpPr>
            <a:spLocks noGrp="1"/>
          </p:cNvSpPr>
          <p:nvPr/>
        </p:nvSpPr>
        <p:spPr>
          <a:xfrm>
            <a:off x="742950" y="2098396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ONNX模型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E19EDFFB-3310-46A4-BE2E-A9B9A9564E1D}"/>
              </a:ext>
            </a:extLst>
          </p:cNvPr>
          <p:cNvSpPr>
            <a:spLocks noGrp="1"/>
          </p:cNvSpPr>
          <p:nvPr/>
        </p:nvSpPr>
        <p:spPr>
          <a:xfrm>
            <a:off x="2362200" y="2146021"/>
            <a:ext cx="509588" cy="266700"/>
          </a:xfrm>
          <a:prstGeom prst="rightArrow">
            <a:avLst/>
          </a:prstGeom>
          <a:solidFill>
            <a:srgbClr val="C7000B"/>
          </a:solidFill>
          <a:ln w="0">
            <a:solidFill>
              <a:srgbClr val="C7000B"/>
            </a:solidFill>
            <a:prstDash val="solid"/>
          </a:ln>
        </p:spPr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DF2017A-39C1-449A-A330-9EB035EBF7AB}"/>
              </a:ext>
            </a:extLst>
          </p:cNvPr>
          <p:cNvSpPr>
            <a:spLocks noGrp="1"/>
          </p:cNvSpPr>
          <p:nvPr/>
        </p:nvSpPr>
        <p:spPr>
          <a:xfrm>
            <a:off x="2967038" y="1974571"/>
            <a:ext cx="1619250" cy="62865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4288">
            <a:solidFill>
              <a:srgbClr val="C7000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DCCA465-75EC-4E78-B234-886ADDF36659}"/>
              </a:ext>
            </a:extLst>
          </p:cNvPr>
          <p:cNvSpPr>
            <a:spLocks noGrp="1"/>
          </p:cNvSpPr>
          <p:nvPr/>
        </p:nvSpPr>
        <p:spPr>
          <a:xfrm>
            <a:off x="3062288" y="2098396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ATC转换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A094583E-ECF6-414C-B2DA-22D38B50E630}"/>
              </a:ext>
            </a:extLst>
          </p:cNvPr>
          <p:cNvSpPr>
            <a:spLocks noGrp="1"/>
          </p:cNvSpPr>
          <p:nvPr/>
        </p:nvSpPr>
        <p:spPr>
          <a:xfrm>
            <a:off x="4681538" y="2146021"/>
            <a:ext cx="509588" cy="266700"/>
          </a:xfrm>
          <a:prstGeom prst="rightArrow">
            <a:avLst/>
          </a:prstGeom>
          <a:solidFill>
            <a:srgbClr val="C7000B"/>
          </a:solidFill>
          <a:ln w="0">
            <a:solidFill>
              <a:srgbClr val="C7000B"/>
            </a:solidFill>
            <a:prstDash val="solid"/>
          </a:ln>
        </p:spPr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9A37874-DB01-48E3-9446-F291423FC2FE}"/>
              </a:ext>
            </a:extLst>
          </p:cNvPr>
          <p:cNvSpPr>
            <a:spLocks noGrp="1"/>
          </p:cNvSpPr>
          <p:nvPr/>
        </p:nvSpPr>
        <p:spPr>
          <a:xfrm>
            <a:off x="5286375" y="1974571"/>
            <a:ext cx="1619250" cy="628650"/>
          </a:xfrm>
          <a:prstGeom prst="roundRect">
            <a:avLst>
              <a:gd name="adj" fmla="val 15152"/>
            </a:avLst>
          </a:prstGeom>
          <a:solidFill>
            <a:srgbClr val="F9ECEB"/>
          </a:solidFill>
          <a:ln w="14288">
            <a:solidFill>
              <a:srgbClr val="C7000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7E05437-805D-4DB0-9A58-F7BCA5C4164C}"/>
              </a:ext>
            </a:extLst>
          </p:cNvPr>
          <p:cNvSpPr>
            <a:spLocks noGrp="1"/>
          </p:cNvSpPr>
          <p:nvPr/>
        </p:nvSpPr>
        <p:spPr>
          <a:xfrm>
            <a:off x="5381625" y="2098396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OM模型</a:t>
            </a: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F63476F9-AD2F-478A-B25D-6AD1E7A254E2}"/>
              </a:ext>
            </a:extLst>
          </p:cNvPr>
          <p:cNvSpPr>
            <a:spLocks noGrp="1"/>
          </p:cNvSpPr>
          <p:nvPr/>
        </p:nvSpPr>
        <p:spPr>
          <a:xfrm>
            <a:off x="7000875" y="2146021"/>
            <a:ext cx="509588" cy="266700"/>
          </a:xfrm>
          <a:prstGeom prst="rightArrow">
            <a:avLst/>
          </a:prstGeom>
          <a:solidFill>
            <a:srgbClr val="C7000B"/>
          </a:solidFill>
          <a:ln w="0">
            <a:solidFill>
              <a:srgbClr val="C7000B"/>
            </a:solidFill>
            <a:prstDash val="solid"/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C7B92C8-B9B6-45CE-8857-2B0DCFB8EB86}"/>
              </a:ext>
            </a:extLst>
          </p:cNvPr>
          <p:cNvSpPr>
            <a:spLocks noGrp="1"/>
          </p:cNvSpPr>
          <p:nvPr/>
        </p:nvSpPr>
        <p:spPr>
          <a:xfrm>
            <a:off x="7605713" y="1974571"/>
            <a:ext cx="1619250" cy="62865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4288">
            <a:solidFill>
              <a:srgbClr val="C7000B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F2F31B3-49FB-4B8F-97C2-9B92E2959194}"/>
              </a:ext>
            </a:extLst>
          </p:cNvPr>
          <p:cNvSpPr>
            <a:spLocks noGrp="1"/>
          </p:cNvSpPr>
          <p:nvPr/>
        </p:nvSpPr>
        <p:spPr>
          <a:xfrm>
            <a:off x="7700963" y="2098396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PyACL推理</a:t>
            </a:r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3F8BE706-39F0-40EF-94B0-E2C8F68AD35A}"/>
              </a:ext>
            </a:extLst>
          </p:cNvPr>
          <p:cNvSpPr>
            <a:spLocks noGrp="1"/>
          </p:cNvSpPr>
          <p:nvPr/>
        </p:nvSpPr>
        <p:spPr>
          <a:xfrm>
            <a:off x="9320213" y="2146021"/>
            <a:ext cx="509588" cy="266700"/>
          </a:xfrm>
          <a:prstGeom prst="rightArrow">
            <a:avLst/>
          </a:prstGeom>
          <a:solidFill>
            <a:srgbClr val="C7000B"/>
          </a:solidFill>
          <a:ln w="0">
            <a:solidFill>
              <a:srgbClr val="C7000B"/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ADC8C90-F50E-4268-AB95-2D43B11599A6}"/>
              </a:ext>
            </a:extLst>
          </p:cNvPr>
          <p:cNvSpPr>
            <a:spLocks noGrp="1"/>
          </p:cNvSpPr>
          <p:nvPr/>
        </p:nvSpPr>
        <p:spPr>
          <a:xfrm>
            <a:off x="9925050" y="1974571"/>
            <a:ext cx="1619250" cy="628650"/>
          </a:xfrm>
          <a:prstGeom prst="roundRect">
            <a:avLst>
              <a:gd name="adj" fmla="val 15152"/>
            </a:avLst>
          </a:prstGeom>
          <a:solidFill>
            <a:srgbClr val="F9ECEB"/>
          </a:solidFill>
          <a:ln w="14288">
            <a:solidFill>
              <a:srgbClr val="C7000B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9063D30-693C-40CA-A97B-168011762D7D}"/>
              </a:ext>
            </a:extLst>
          </p:cNvPr>
          <p:cNvSpPr>
            <a:spLocks noGrp="1"/>
          </p:cNvSpPr>
          <p:nvPr/>
        </p:nvSpPr>
        <p:spPr>
          <a:xfrm>
            <a:off x="10020300" y="2098396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YOLO输出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8B718B3-EF86-4338-8F50-3A88BC858BB3}"/>
              </a:ext>
            </a:extLst>
          </p:cNvPr>
          <p:cNvSpPr>
            <a:spLocks noGrp="1"/>
          </p:cNvSpPr>
          <p:nvPr/>
        </p:nvSpPr>
        <p:spPr>
          <a:xfrm>
            <a:off x="647700" y="3429000"/>
            <a:ext cx="1619250" cy="628650"/>
          </a:xfrm>
          <a:prstGeom prst="roundRect">
            <a:avLst>
              <a:gd name="adj" fmla="val 15152"/>
            </a:avLst>
          </a:prstGeom>
          <a:solidFill>
            <a:srgbClr val="F9ECEB"/>
          </a:solidFill>
          <a:ln w="14288">
            <a:solidFill>
              <a:srgbClr val="C7000B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906ADC1-98D1-4F13-9D23-981AC11305E1}"/>
              </a:ext>
            </a:extLst>
          </p:cNvPr>
          <p:cNvSpPr>
            <a:spLocks noGrp="1"/>
          </p:cNvSpPr>
          <p:nvPr/>
        </p:nvSpPr>
        <p:spPr>
          <a:xfrm>
            <a:off x="742950" y="3552825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解码过滤</a:t>
            </a:r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E4C0B180-AD2F-43BA-8178-7F39F5EFA8B3}"/>
              </a:ext>
            </a:extLst>
          </p:cNvPr>
          <p:cNvSpPr>
            <a:spLocks noGrp="1"/>
          </p:cNvSpPr>
          <p:nvPr/>
        </p:nvSpPr>
        <p:spPr>
          <a:xfrm>
            <a:off x="2362200" y="3600450"/>
            <a:ext cx="509588" cy="266700"/>
          </a:xfrm>
          <a:prstGeom prst="rightArrow">
            <a:avLst/>
          </a:prstGeom>
          <a:solidFill>
            <a:srgbClr val="C7000B"/>
          </a:solidFill>
          <a:ln w="0">
            <a:solidFill>
              <a:srgbClr val="C7000B"/>
            </a:solidFill>
            <a:prstDash val="solid"/>
          </a:ln>
        </p:spPr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8957F79-81D1-45B2-841B-D32CF8E6A8C3}"/>
              </a:ext>
            </a:extLst>
          </p:cNvPr>
          <p:cNvSpPr>
            <a:spLocks noGrp="1"/>
          </p:cNvSpPr>
          <p:nvPr/>
        </p:nvSpPr>
        <p:spPr>
          <a:xfrm>
            <a:off x="2967038" y="3429000"/>
            <a:ext cx="1619250" cy="62865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4288">
            <a:solidFill>
              <a:srgbClr val="C7000B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9E402F8-0007-415D-8241-37D1B01FD94C}"/>
              </a:ext>
            </a:extLst>
          </p:cNvPr>
          <p:cNvSpPr>
            <a:spLocks noGrp="1"/>
          </p:cNvSpPr>
          <p:nvPr/>
        </p:nvSpPr>
        <p:spPr>
          <a:xfrm>
            <a:off x="3062288" y="3552825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CPU基线</a:t>
            </a:r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AB5ED784-A3C3-4B11-B87C-CAD7F2650C88}"/>
              </a:ext>
            </a:extLst>
          </p:cNvPr>
          <p:cNvSpPr>
            <a:spLocks noGrp="1"/>
          </p:cNvSpPr>
          <p:nvPr/>
        </p:nvSpPr>
        <p:spPr>
          <a:xfrm>
            <a:off x="4681538" y="3600450"/>
            <a:ext cx="509588" cy="266700"/>
          </a:xfrm>
          <a:prstGeom prst="rightArrow">
            <a:avLst/>
          </a:prstGeom>
          <a:solidFill>
            <a:srgbClr val="C7000B"/>
          </a:solidFill>
          <a:ln w="0">
            <a:solidFill>
              <a:srgbClr val="C7000B"/>
            </a:solidFill>
            <a:prstDash val="solid"/>
          </a:ln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3EB17AA-F376-42BC-8A11-774A6770ED58}"/>
              </a:ext>
            </a:extLst>
          </p:cNvPr>
          <p:cNvSpPr>
            <a:spLocks noGrp="1"/>
          </p:cNvSpPr>
          <p:nvPr/>
        </p:nvSpPr>
        <p:spPr>
          <a:xfrm>
            <a:off x="5286375" y="3429000"/>
            <a:ext cx="1619250" cy="628650"/>
          </a:xfrm>
          <a:prstGeom prst="roundRect">
            <a:avLst>
              <a:gd name="adj" fmla="val 15152"/>
            </a:avLst>
          </a:prstGeom>
          <a:solidFill>
            <a:srgbClr val="F9ECEB"/>
          </a:solidFill>
          <a:ln w="14288">
            <a:solidFill>
              <a:srgbClr val="C7000B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A1B1929-9711-49DC-B2CF-74BE66DD122D}"/>
              </a:ext>
            </a:extLst>
          </p:cNvPr>
          <p:cNvSpPr>
            <a:spLocks noGrp="1"/>
          </p:cNvSpPr>
          <p:nvPr/>
        </p:nvSpPr>
        <p:spPr>
          <a:xfrm>
            <a:off x="5381625" y="3552825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Ascend C算子</a:t>
            </a:r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828EC868-CA21-425A-A401-28DB59578A06}"/>
              </a:ext>
            </a:extLst>
          </p:cNvPr>
          <p:cNvSpPr>
            <a:spLocks noGrp="1"/>
          </p:cNvSpPr>
          <p:nvPr/>
        </p:nvSpPr>
        <p:spPr>
          <a:xfrm>
            <a:off x="7000875" y="3600450"/>
            <a:ext cx="509588" cy="266700"/>
          </a:xfrm>
          <a:prstGeom prst="rightArrow">
            <a:avLst/>
          </a:prstGeom>
          <a:solidFill>
            <a:srgbClr val="C7000B"/>
          </a:solidFill>
          <a:ln w="0">
            <a:solidFill>
              <a:srgbClr val="C7000B"/>
            </a:solidFill>
            <a:prstDash val="solid"/>
          </a:ln>
        </p:spPr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F3511052-3ADA-4E50-A360-1EBCD888355C}"/>
              </a:ext>
            </a:extLst>
          </p:cNvPr>
          <p:cNvSpPr>
            <a:spLocks noGrp="1"/>
          </p:cNvSpPr>
          <p:nvPr/>
        </p:nvSpPr>
        <p:spPr>
          <a:xfrm>
            <a:off x="7605713" y="3429000"/>
            <a:ext cx="1619250" cy="62865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4288">
            <a:solidFill>
              <a:srgbClr val="C7000B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F7A9230-0BD6-4B78-986C-A38E9F4FBCEA}"/>
              </a:ext>
            </a:extLst>
          </p:cNvPr>
          <p:cNvSpPr>
            <a:spLocks noGrp="1"/>
          </p:cNvSpPr>
          <p:nvPr/>
        </p:nvSpPr>
        <p:spPr>
          <a:xfrm>
            <a:off x="7700963" y="3552825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ACLNN调用</a:t>
            </a:r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BC5F1B9E-86BB-4CB4-92B4-8B6B1CC8DF1F}"/>
              </a:ext>
            </a:extLst>
          </p:cNvPr>
          <p:cNvSpPr>
            <a:spLocks noGrp="1"/>
          </p:cNvSpPr>
          <p:nvPr/>
        </p:nvSpPr>
        <p:spPr>
          <a:xfrm>
            <a:off x="9320213" y="3600450"/>
            <a:ext cx="509588" cy="266700"/>
          </a:xfrm>
          <a:prstGeom prst="rightArrow">
            <a:avLst/>
          </a:prstGeom>
          <a:solidFill>
            <a:srgbClr val="C7000B"/>
          </a:solidFill>
          <a:ln w="0">
            <a:solidFill>
              <a:srgbClr val="C7000B"/>
            </a:solidFill>
            <a:prstDash val="solid"/>
          </a:ln>
        </p:spPr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428EB906-3EB1-4592-B5BE-57507FE88093}"/>
              </a:ext>
            </a:extLst>
          </p:cNvPr>
          <p:cNvSpPr>
            <a:spLocks noGrp="1"/>
          </p:cNvSpPr>
          <p:nvPr/>
        </p:nvSpPr>
        <p:spPr>
          <a:xfrm>
            <a:off x="9925050" y="3429000"/>
            <a:ext cx="1619250" cy="628650"/>
          </a:xfrm>
          <a:prstGeom prst="roundRect">
            <a:avLst>
              <a:gd name="adj" fmla="val 15152"/>
            </a:avLst>
          </a:prstGeom>
          <a:solidFill>
            <a:srgbClr val="F9ECEB"/>
          </a:solidFill>
          <a:ln w="14288">
            <a:solidFill>
              <a:srgbClr val="C7000B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B9A3DEA-469C-4D6C-B446-5065471183F0}"/>
              </a:ext>
            </a:extLst>
          </p:cNvPr>
          <p:cNvSpPr>
            <a:spLocks noGrp="1"/>
          </p:cNvSpPr>
          <p:nvPr/>
        </p:nvSpPr>
        <p:spPr>
          <a:xfrm>
            <a:off x="10020300" y="3552825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Profiling分析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2B3A483-335B-485D-8468-DCAE8CF6381A}"/>
              </a:ext>
            </a:extLst>
          </p:cNvPr>
          <p:cNvSpPr>
            <a:spLocks noGrp="1"/>
          </p:cNvSpPr>
          <p:nvPr/>
        </p:nvSpPr>
        <p:spPr>
          <a:xfrm>
            <a:off x="914400" y="5381625"/>
            <a:ext cx="1009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上半段解决“模型如何在开发板上跑起来”，下半段解决“后处理如何从CPU卸载到NPU并验证”。</a:t>
            </a:r>
          </a:p>
        </p:txBody>
      </p:sp>
      <p:sp>
        <p:nvSpPr>
          <p:cNvPr id="36" name="Shape 2">
            <a:extLst>
              <a:ext uri="{FF2B5EF4-FFF2-40B4-BE49-F238E27FC236}">
                <a16:creationId xmlns:a16="http://schemas.microsoft.com/office/drawing/2014/main" id="{2A96852D-5A93-9EF3-DACC-ADA3B97B5970}"/>
              </a:ext>
            </a:extLst>
          </p:cNvPr>
          <p:cNvSpPr/>
          <p:nvPr/>
        </p:nvSpPr>
        <p:spPr>
          <a:xfrm>
            <a:off x="733108" y="1234440"/>
            <a:ext cx="10515600" cy="27432"/>
          </a:xfrm>
          <a:prstGeom prst="rect">
            <a:avLst/>
          </a:prstGeom>
          <a:solidFill>
            <a:srgbClr val="0072C6"/>
          </a:solidFill>
        </p:spPr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B3E86A95-BB0D-7487-B72D-04EA7818BF2B}"/>
              </a:ext>
            </a:extLst>
          </p:cNvPr>
          <p:cNvSpPr/>
          <p:nvPr/>
        </p:nvSpPr>
        <p:spPr>
          <a:xfrm>
            <a:off x="1588" y="0"/>
            <a:ext cx="12188952" cy="73152"/>
          </a:xfrm>
          <a:prstGeom prst="rect">
            <a:avLst/>
          </a:prstGeom>
          <a:solidFill>
            <a:srgbClr val="C7000B"/>
          </a:solidFill>
        </p:spPr>
      </p:sp>
    </p:spTree>
    <p:extLst>
      <p:ext uri="{BB962C8B-B14F-4D97-AF65-F5344CB8AC3E}">
        <p14:creationId xmlns:p14="http://schemas.microsoft.com/office/powerpoint/2010/main" val="417847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22EC1-C6A0-0B71-3A7B-40EBFE331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B49B73F-412D-0631-14D5-2045E30607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背景介绍与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学习目标</a:t>
            </a:r>
          </a:p>
          <a:p>
            <a:r>
              <a:rPr lang="en-US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实验环境准备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模型转换与 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PyACL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推理</a:t>
            </a: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自定义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NMS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算子开发</a:t>
            </a: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NPU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后处理集成与验证</a:t>
            </a: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sym typeface="+mn-ea"/>
              </a:rPr>
              <a:t>Profiling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sym typeface="+mn-ea"/>
              </a:rPr>
              <a:t>与实验验收</a:t>
            </a: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课后习题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4142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8" y="0"/>
            <a:ext cx="12188952" cy="73152"/>
          </a:xfrm>
          <a:prstGeom prst="rect">
            <a:avLst/>
          </a:prstGeom>
          <a:solidFill>
            <a:srgbClr val="C7000B"/>
          </a:solidFill>
        </p:spPr>
      </p:sp>
      <p:sp>
        <p:nvSpPr>
          <p:cNvPr id="3" name="Text 1"/>
          <p:cNvSpPr/>
          <p:nvPr/>
        </p:nvSpPr>
        <p:spPr>
          <a:xfrm>
            <a:off x="733108" y="427792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indent="0">
              <a:buNone/>
              <a:defRPr sz="1900" b="1">
                <a:solidFill>
                  <a:srgbClr val="005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开发者套件简介</a:t>
            </a:r>
            <a:endParaRPr lang="en-US" sz="32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3108" y="1234440"/>
            <a:ext cx="10515600" cy="27432"/>
          </a:xfrm>
          <a:prstGeom prst="rect">
            <a:avLst/>
          </a:prstGeom>
          <a:solidFill>
            <a:srgbClr val="0072C6"/>
          </a:solidFill>
        </p:spPr>
      </p:sp>
      <p:pic>
        <p:nvPicPr>
          <p:cNvPr id="5" name="图片 4" descr="全爱科技 - Atlas 200I DK A2 开发者套件">
            <a:extLst>
              <a:ext uri="{FF2B5EF4-FFF2-40B4-BE49-F238E27FC236}">
                <a16:creationId xmlns:a16="http://schemas.microsoft.com/office/drawing/2014/main" id="{8C4F063F-30FB-45A2-209A-F3B87EF096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108" y="1581912"/>
            <a:ext cx="5874800" cy="347353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2430B5D-6092-AAB2-8F77-B0F7567FF7A2}"/>
              </a:ext>
            </a:extLst>
          </p:cNvPr>
          <p:cNvSpPr txBox="1"/>
          <p:nvPr/>
        </p:nvSpPr>
        <p:spPr>
          <a:xfrm>
            <a:off x="1828800" y="5443442"/>
            <a:ext cx="3301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Atlas 200I DK A2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开发者套件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3E8B0A9-11EC-454A-234F-A8A778653C54}"/>
              </a:ext>
            </a:extLst>
          </p:cNvPr>
          <p:cNvSpPr txBox="1"/>
          <p:nvPr/>
        </p:nvSpPr>
        <p:spPr>
          <a:xfrm>
            <a:off x="6799699" y="1525991"/>
            <a:ext cx="451472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Atlas 200I DK A2 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开发者套件是一款面</a:t>
            </a:r>
            <a:r>
              <a:rPr lang="zh-CN" altLang="zh-CN" dirty="0"/>
              <a:t>向 AI 算法验证、教学实验和端侧应用开发的开发板，内置昇腾 310 系列 AI 处理器，提供约 8 TOPS INT8、4 TFLOPS FP16 算力，配备 4GB LPDDR4X 内存，适合开展图像识别、目标检测、视频分析、智能小车、机械臂控制等实验。开发板接口较丰富，包含 2 路 MIPI-CSI 摄像头接口、1 路 MIPI-DSI、2 个千兆网口、2 个 HDMI、2 个 USB 3.0 Type-A、1 个 USB 3.0 Type-C、40Pin 扩展接口、M.2 Key E、M.2 Key M NVMe 存储接口、MicroSD 卡接口、风扇接口和板载 MIC。通过 CANN、AscendCL/PyACL、ATC、MindStudio 等工具，开发者可以完成模型转换、端侧推理、自定义算子开发、外设接入和性能分析等完整 AI 应用开发流程。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94EAF0D4-DF35-4259-8112-33BC95F443A8}"/>
              </a:ext>
            </a:extLst>
          </p:cNvPr>
          <p:cNvSpPr>
            <a:spLocks noGrp="1"/>
          </p:cNvSpPr>
          <p:nvPr/>
        </p:nvSpPr>
        <p:spPr>
          <a:xfrm>
            <a:off x="952500" y="49530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00" b="1">
                <a:solidFill>
                  <a:srgbClr val="005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实验环境</a:t>
            </a:r>
            <a:r>
              <a:rPr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所需</a:t>
            </a:r>
            <a:r>
              <a:rPr sz="3200" b="1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依赖</a:t>
            </a:r>
            <a:endParaRPr sz="32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F656D72F-BE31-41F4-B510-0B1E01B2DE6B}"/>
              </a:ext>
            </a:extLst>
          </p:cNvPr>
          <p:cNvSpPr>
            <a:spLocks noGrp="1"/>
          </p:cNvSpPr>
          <p:nvPr/>
        </p:nvSpPr>
        <p:spPr>
          <a:xfrm>
            <a:off x="952500" y="1116081"/>
            <a:ext cx="990600" cy="0"/>
          </a:xfrm>
          <a:prstGeom prst="line">
            <a:avLst/>
          </a:prstGeom>
          <a:solidFill>
            <a:srgbClr val="006FAA"/>
          </a:solidFill>
          <a:ln w="22860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3E77BD6-405B-48AD-8E68-3C40AEB6BD73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E54527-CEF5-473A-968F-1FFF128A4114}"/>
              </a:ext>
            </a:extLst>
          </p:cNvPr>
          <p:cNvSpPr>
            <a:spLocks noGrp="1"/>
          </p:cNvSpPr>
          <p:nvPr/>
        </p:nvSpPr>
        <p:spPr>
          <a:xfrm>
            <a:off x="952500" y="1333500"/>
            <a:ext cx="2381250" cy="552450"/>
          </a:xfrm>
          <a:prstGeom prst="rect">
            <a:avLst/>
          </a:prstGeom>
          <a:solidFill>
            <a:srgbClr val="006FAA"/>
          </a:solidFill>
          <a:ln w="9525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07D255-5A2E-494C-9879-FBEFEEFDCD4C}"/>
              </a:ext>
            </a:extLst>
          </p:cNvPr>
          <p:cNvSpPr>
            <a:spLocks noGrp="1"/>
          </p:cNvSpPr>
          <p:nvPr/>
        </p:nvSpPr>
        <p:spPr>
          <a:xfrm>
            <a:off x="1066800" y="1419225"/>
            <a:ext cx="2152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9FD140C-2D0A-4E32-9198-0ABBC916E732}"/>
              </a:ext>
            </a:extLst>
          </p:cNvPr>
          <p:cNvSpPr>
            <a:spLocks noGrp="1"/>
          </p:cNvSpPr>
          <p:nvPr/>
        </p:nvSpPr>
        <p:spPr>
          <a:xfrm>
            <a:off x="3333750" y="1333500"/>
            <a:ext cx="6953250" cy="552450"/>
          </a:xfrm>
          <a:prstGeom prst="rect">
            <a:avLst/>
          </a:prstGeom>
          <a:solidFill>
            <a:srgbClr val="006FAA"/>
          </a:solidFill>
          <a:ln w="9525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FC6A0BF-228B-4DFB-813C-59BBC62C84FD}"/>
              </a:ext>
            </a:extLst>
          </p:cNvPr>
          <p:cNvSpPr>
            <a:spLocks noGrp="1"/>
          </p:cNvSpPr>
          <p:nvPr/>
        </p:nvSpPr>
        <p:spPr>
          <a:xfrm>
            <a:off x="3448050" y="1419225"/>
            <a:ext cx="6724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当前实验配置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4AAE4E-1A06-4E17-BC51-3046CDA2D07E}"/>
              </a:ext>
            </a:extLst>
          </p:cNvPr>
          <p:cNvSpPr>
            <a:spLocks noGrp="1"/>
          </p:cNvSpPr>
          <p:nvPr/>
        </p:nvSpPr>
        <p:spPr>
          <a:xfrm>
            <a:off x="952500" y="1885950"/>
            <a:ext cx="2381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39D9B4B-91EC-47B2-9EF3-F77F78DC19AE}"/>
              </a:ext>
            </a:extLst>
          </p:cNvPr>
          <p:cNvSpPr>
            <a:spLocks noGrp="1"/>
          </p:cNvSpPr>
          <p:nvPr/>
        </p:nvSpPr>
        <p:spPr>
          <a:xfrm>
            <a:off x="1066800" y="1971675"/>
            <a:ext cx="2152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rPr>
              <a:t>开发板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5D9BB8B-6F11-42D7-92D3-108B06D23D76}"/>
              </a:ext>
            </a:extLst>
          </p:cNvPr>
          <p:cNvSpPr>
            <a:spLocks noGrp="1"/>
          </p:cNvSpPr>
          <p:nvPr/>
        </p:nvSpPr>
        <p:spPr>
          <a:xfrm>
            <a:off x="3333750" y="1885950"/>
            <a:ext cx="6953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27A6A17-AE86-41ED-95F5-94A3652F3D0A}"/>
              </a:ext>
            </a:extLst>
          </p:cNvPr>
          <p:cNvSpPr>
            <a:spLocks noGrp="1"/>
          </p:cNvSpPr>
          <p:nvPr/>
        </p:nvSpPr>
        <p:spPr>
          <a:xfrm>
            <a:off x="3448050" y="1971675"/>
            <a:ext cx="6724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rPr>
              <a:t>Atlas 200I DK A2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A892C6C-81A5-41A4-99E1-F51EDFDC19F8}"/>
              </a:ext>
            </a:extLst>
          </p:cNvPr>
          <p:cNvSpPr>
            <a:spLocks noGrp="1"/>
          </p:cNvSpPr>
          <p:nvPr/>
        </p:nvSpPr>
        <p:spPr>
          <a:xfrm>
            <a:off x="952500" y="2438400"/>
            <a:ext cx="2381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1E4D804-7FB3-43C0-B95A-7AE46EB5A74C}"/>
              </a:ext>
            </a:extLst>
          </p:cNvPr>
          <p:cNvSpPr>
            <a:spLocks noGrp="1"/>
          </p:cNvSpPr>
          <p:nvPr/>
        </p:nvSpPr>
        <p:spPr>
          <a:xfrm>
            <a:off x="1066800" y="2524125"/>
            <a:ext cx="2152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rPr>
              <a:t>NPU芯片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64CAB9F-0360-492B-8209-7D1715DE96E4}"/>
              </a:ext>
            </a:extLst>
          </p:cNvPr>
          <p:cNvSpPr>
            <a:spLocks noGrp="1"/>
          </p:cNvSpPr>
          <p:nvPr/>
        </p:nvSpPr>
        <p:spPr>
          <a:xfrm>
            <a:off x="3333750" y="2438400"/>
            <a:ext cx="6953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6AC6D07-EF2A-4799-AADD-5772E5A86C92}"/>
              </a:ext>
            </a:extLst>
          </p:cNvPr>
          <p:cNvSpPr>
            <a:spLocks noGrp="1"/>
          </p:cNvSpPr>
          <p:nvPr/>
        </p:nvSpPr>
        <p:spPr>
          <a:xfrm>
            <a:off x="3448050" y="2524125"/>
            <a:ext cx="6724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rPr>
              <a:t>Ascend 310B4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0A3FB40-ECD1-41F5-97D8-DC942E72C9A6}"/>
              </a:ext>
            </a:extLst>
          </p:cNvPr>
          <p:cNvSpPr>
            <a:spLocks noGrp="1"/>
          </p:cNvSpPr>
          <p:nvPr/>
        </p:nvSpPr>
        <p:spPr>
          <a:xfrm>
            <a:off x="952500" y="2990850"/>
            <a:ext cx="2381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B84868C-87F8-4130-96C6-60FD254FC671}"/>
              </a:ext>
            </a:extLst>
          </p:cNvPr>
          <p:cNvSpPr>
            <a:spLocks noGrp="1"/>
          </p:cNvSpPr>
          <p:nvPr/>
        </p:nvSpPr>
        <p:spPr>
          <a:xfrm>
            <a:off x="1066800" y="3076575"/>
            <a:ext cx="2152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rPr>
              <a:t>CANN Toolkit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BE445B9-6BF9-4CEB-8CA7-384C1140B741}"/>
              </a:ext>
            </a:extLst>
          </p:cNvPr>
          <p:cNvSpPr>
            <a:spLocks noGrp="1"/>
          </p:cNvSpPr>
          <p:nvPr/>
        </p:nvSpPr>
        <p:spPr>
          <a:xfrm>
            <a:off x="3333750" y="2990850"/>
            <a:ext cx="6953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4811F2-4CD6-4596-9388-7BD87D7420D0}"/>
              </a:ext>
            </a:extLst>
          </p:cNvPr>
          <p:cNvSpPr>
            <a:spLocks noGrp="1"/>
          </p:cNvSpPr>
          <p:nvPr/>
        </p:nvSpPr>
        <p:spPr>
          <a:xfrm>
            <a:off x="3448050" y="3076575"/>
            <a:ext cx="6724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 dirty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100" b="0" dirty="0" err="1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usr</a:t>
            </a:r>
            <a:r>
              <a:rPr sz="1100" b="0" dirty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/local/Ascend/ascend-toolkit/8.0.RC1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F07DFB3-5E59-4225-AE55-B3757F4029F9}"/>
              </a:ext>
            </a:extLst>
          </p:cNvPr>
          <p:cNvSpPr>
            <a:spLocks noGrp="1"/>
          </p:cNvSpPr>
          <p:nvPr/>
        </p:nvSpPr>
        <p:spPr>
          <a:xfrm>
            <a:off x="952500" y="3543300"/>
            <a:ext cx="2381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C4A6C8D-8619-43AF-89B4-62809EADE9BF}"/>
              </a:ext>
            </a:extLst>
          </p:cNvPr>
          <p:cNvSpPr>
            <a:spLocks noGrp="1"/>
          </p:cNvSpPr>
          <p:nvPr/>
        </p:nvSpPr>
        <p:spPr>
          <a:xfrm>
            <a:off x="1066800" y="3629025"/>
            <a:ext cx="2152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rPr>
              <a:t>Python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B05B3A4-F74C-4D9D-98CE-36AEBBB363D8}"/>
              </a:ext>
            </a:extLst>
          </p:cNvPr>
          <p:cNvSpPr>
            <a:spLocks noGrp="1"/>
          </p:cNvSpPr>
          <p:nvPr/>
        </p:nvSpPr>
        <p:spPr>
          <a:xfrm>
            <a:off x="3333750" y="3543300"/>
            <a:ext cx="6953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2FE2FE9-DCF5-46F0-B087-2FE168E23FFC}"/>
              </a:ext>
            </a:extLst>
          </p:cNvPr>
          <p:cNvSpPr>
            <a:spLocks noGrp="1"/>
          </p:cNvSpPr>
          <p:nvPr/>
        </p:nvSpPr>
        <p:spPr>
          <a:xfrm>
            <a:off x="3448050" y="3629025"/>
            <a:ext cx="6724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50" b="0">
                <a:solidFill>
                  <a:srgbClr val="595757"/>
                </a:solidFill>
                <a:latin typeface="Consolas"/>
                <a:ea typeface="Microsoft YaHei"/>
                <a:cs typeface="Microsoft YaHei"/>
              </a:defRPr>
            </a:pPr>
            <a:r>
              <a:rPr sz="1100" dirty="0">
                <a:solidFill>
                  <a:srgbClr val="595757"/>
                </a:solidFill>
                <a:latin typeface="Microsoft YaHei"/>
                <a:ea typeface="Microsoft YaHei"/>
              </a:rPr>
              <a:t>/</a:t>
            </a:r>
            <a:r>
              <a:rPr sz="1100" dirty="0" err="1">
                <a:solidFill>
                  <a:srgbClr val="595757"/>
                </a:solidFill>
                <a:latin typeface="Microsoft YaHei"/>
                <a:ea typeface="Microsoft YaHei"/>
              </a:rPr>
              <a:t>usr</a:t>
            </a:r>
            <a:r>
              <a:rPr sz="1100" dirty="0">
                <a:solidFill>
                  <a:srgbClr val="595757"/>
                </a:solidFill>
                <a:latin typeface="Microsoft YaHei"/>
                <a:ea typeface="Microsoft YaHei"/>
              </a:rPr>
              <a:t>/local/miniconda3/bin/python3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AF37410-BFB5-4425-890A-22F8121D9D79}"/>
              </a:ext>
            </a:extLst>
          </p:cNvPr>
          <p:cNvSpPr>
            <a:spLocks noGrp="1"/>
          </p:cNvSpPr>
          <p:nvPr/>
        </p:nvSpPr>
        <p:spPr>
          <a:xfrm>
            <a:off x="952500" y="4095750"/>
            <a:ext cx="2381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94D6B99-1E2C-4FA2-9081-E6DBFD541932}"/>
              </a:ext>
            </a:extLst>
          </p:cNvPr>
          <p:cNvSpPr>
            <a:spLocks noGrp="1"/>
          </p:cNvSpPr>
          <p:nvPr/>
        </p:nvSpPr>
        <p:spPr>
          <a:xfrm>
            <a:off x="1066800" y="4181475"/>
            <a:ext cx="2152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rPr>
              <a:t>Python依赖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2E1854E-5C30-47F2-A331-0FF94459E235}"/>
              </a:ext>
            </a:extLst>
          </p:cNvPr>
          <p:cNvSpPr>
            <a:spLocks noGrp="1"/>
          </p:cNvSpPr>
          <p:nvPr/>
        </p:nvSpPr>
        <p:spPr>
          <a:xfrm>
            <a:off x="3333750" y="4095750"/>
            <a:ext cx="6953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E82B8BF-8A15-464C-BC6D-507A1976F999}"/>
              </a:ext>
            </a:extLst>
          </p:cNvPr>
          <p:cNvSpPr>
            <a:spLocks noGrp="1"/>
          </p:cNvSpPr>
          <p:nvPr/>
        </p:nvSpPr>
        <p:spPr>
          <a:xfrm>
            <a:off x="3448050" y="4181475"/>
            <a:ext cx="6724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numpy、Pillow、PyYAML、opencv、matplotlib、protobuf==3.20.0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CED7F8A-3CE2-40EB-ACEE-ECE7B28FA776}"/>
              </a:ext>
            </a:extLst>
          </p:cNvPr>
          <p:cNvSpPr>
            <a:spLocks noGrp="1"/>
          </p:cNvSpPr>
          <p:nvPr/>
        </p:nvSpPr>
        <p:spPr>
          <a:xfrm>
            <a:off x="952500" y="4648200"/>
            <a:ext cx="2381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279D3E5-7ECD-4A73-B359-2C44B67E1052}"/>
              </a:ext>
            </a:extLst>
          </p:cNvPr>
          <p:cNvSpPr>
            <a:spLocks noGrp="1"/>
          </p:cNvSpPr>
          <p:nvPr/>
        </p:nvSpPr>
        <p:spPr>
          <a:xfrm>
            <a:off x="1066800" y="4733925"/>
            <a:ext cx="2152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rPr>
              <a:t>自定义算子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1D30309-353D-4910-AE89-34E66624442E}"/>
              </a:ext>
            </a:extLst>
          </p:cNvPr>
          <p:cNvSpPr>
            <a:spLocks noGrp="1"/>
          </p:cNvSpPr>
          <p:nvPr/>
        </p:nvSpPr>
        <p:spPr>
          <a:xfrm>
            <a:off x="3333750" y="4648200"/>
            <a:ext cx="6953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DF9B081-7B25-4D9A-9F09-FCB30775C055}"/>
              </a:ext>
            </a:extLst>
          </p:cNvPr>
          <p:cNvSpPr>
            <a:spLocks noGrp="1"/>
          </p:cNvSpPr>
          <p:nvPr/>
        </p:nvSpPr>
        <p:spPr>
          <a:xfrm>
            <a:off x="3448050" y="4733925"/>
            <a:ext cx="6724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rPr>
              <a:t>YoloNmsCustom</a:t>
            </a:r>
          </a:p>
        </p:txBody>
      </p:sp>
      <p:sp>
        <p:nvSpPr>
          <p:cNvPr id="40" name="Shape 0">
            <a:extLst>
              <a:ext uri="{FF2B5EF4-FFF2-40B4-BE49-F238E27FC236}">
                <a16:creationId xmlns:a16="http://schemas.microsoft.com/office/drawing/2014/main" id="{2E838B21-3352-895B-7BBF-AE138AF916A0}"/>
              </a:ext>
            </a:extLst>
          </p:cNvPr>
          <p:cNvSpPr/>
          <p:nvPr/>
        </p:nvSpPr>
        <p:spPr>
          <a:xfrm>
            <a:off x="1588" y="0"/>
            <a:ext cx="12188952" cy="73152"/>
          </a:xfrm>
          <a:prstGeom prst="rect">
            <a:avLst/>
          </a:prstGeom>
          <a:solidFill>
            <a:srgbClr val="C7000B"/>
          </a:solidFill>
        </p:spPr>
      </p:sp>
    </p:spTree>
    <p:extLst>
      <p:ext uri="{BB962C8B-B14F-4D97-AF65-F5344CB8AC3E}">
        <p14:creationId xmlns:p14="http://schemas.microsoft.com/office/powerpoint/2010/main" val="4217563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>
            <a:extLst>
              <a:ext uri="{FF2B5EF4-FFF2-40B4-BE49-F238E27FC236}">
                <a16:creationId xmlns:a16="http://schemas.microsoft.com/office/drawing/2014/main" id="{F68B9633-5667-43BB-8EDF-2D45C79C9913}"/>
              </a:ext>
            </a:extLst>
          </p:cNvPr>
          <p:cNvSpPr>
            <a:spLocks noGrp="1"/>
          </p:cNvSpPr>
          <p:nvPr/>
        </p:nvSpPr>
        <p:spPr>
          <a:xfrm>
            <a:off x="666750" y="466725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00" b="1">
                <a:solidFill>
                  <a:srgbClr val="005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工具链全景：每个工具负责什么</a:t>
            </a:r>
            <a:endParaRPr sz="32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4DFBA6D-2395-44F6-901B-775F6C216EA0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6E3FDB2-95BE-4EA8-9887-A33F9F4D9C66}"/>
              </a:ext>
            </a:extLst>
          </p:cNvPr>
          <p:cNvSpPr>
            <a:spLocks noGrp="1"/>
          </p:cNvSpPr>
          <p:nvPr/>
        </p:nvSpPr>
        <p:spPr>
          <a:xfrm>
            <a:off x="666750" y="1285875"/>
            <a:ext cx="1809750" cy="514350"/>
          </a:xfrm>
          <a:prstGeom prst="rect">
            <a:avLst/>
          </a:prstGeom>
          <a:solidFill>
            <a:srgbClr val="006FAA"/>
          </a:solidFill>
          <a:ln w="9525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ED701E0-8B9C-4EC5-8740-026B97D2A632}"/>
              </a:ext>
            </a:extLst>
          </p:cNvPr>
          <p:cNvSpPr>
            <a:spLocks noGrp="1"/>
          </p:cNvSpPr>
          <p:nvPr/>
        </p:nvSpPr>
        <p:spPr>
          <a:xfrm>
            <a:off x="781050" y="1371600"/>
            <a:ext cx="1581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8895EE-C604-474C-9AF8-7A597E05E79D}"/>
              </a:ext>
            </a:extLst>
          </p:cNvPr>
          <p:cNvSpPr>
            <a:spLocks noGrp="1"/>
          </p:cNvSpPr>
          <p:nvPr/>
        </p:nvSpPr>
        <p:spPr>
          <a:xfrm>
            <a:off x="2476500" y="1285875"/>
            <a:ext cx="4476750" cy="514350"/>
          </a:xfrm>
          <a:prstGeom prst="rect">
            <a:avLst/>
          </a:prstGeom>
          <a:solidFill>
            <a:srgbClr val="006FAA"/>
          </a:solidFill>
          <a:ln w="9525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FD33E98-504C-473C-8507-9B7F1745BA31}"/>
              </a:ext>
            </a:extLst>
          </p:cNvPr>
          <p:cNvSpPr>
            <a:spLocks noGrp="1"/>
          </p:cNvSpPr>
          <p:nvPr/>
        </p:nvSpPr>
        <p:spPr>
          <a:xfrm>
            <a:off x="2590800" y="1371600"/>
            <a:ext cx="4248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BCECDD3-3424-4361-869C-C63C03010FDC}"/>
              </a:ext>
            </a:extLst>
          </p:cNvPr>
          <p:cNvSpPr>
            <a:spLocks noGrp="1"/>
          </p:cNvSpPr>
          <p:nvPr/>
        </p:nvSpPr>
        <p:spPr>
          <a:xfrm>
            <a:off x="6953250" y="1285875"/>
            <a:ext cx="4095750" cy="514350"/>
          </a:xfrm>
          <a:prstGeom prst="rect">
            <a:avLst/>
          </a:prstGeom>
          <a:solidFill>
            <a:srgbClr val="006FAA"/>
          </a:solidFill>
          <a:ln w="9525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D1CB4CC-718A-4359-99E0-67B568A6BDA1}"/>
              </a:ext>
            </a:extLst>
          </p:cNvPr>
          <p:cNvSpPr>
            <a:spLocks noGrp="1"/>
          </p:cNvSpPr>
          <p:nvPr/>
        </p:nvSpPr>
        <p:spPr>
          <a:xfrm>
            <a:off x="7067550" y="1371600"/>
            <a:ext cx="3867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本实验使用位置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5446666-0390-4D12-92F0-CC49BEC498D1}"/>
              </a:ext>
            </a:extLst>
          </p:cNvPr>
          <p:cNvSpPr>
            <a:spLocks noGrp="1"/>
          </p:cNvSpPr>
          <p:nvPr/>
        </p:nvSpPr>
        <p:spPr>
          <a:xfrm>
            <a:off x="666750" y="1800225"/>
            <a:ext cx="1809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B7CA4B0-73E3-4324-B931-ADFAE51D26CB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1581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rPr>
              <a:t>CANN Toolkit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449DC12-FC41-4770-A127-58E2CE9D7D24}"/>
              </a:ext>
            </a:extLst>
          </p:cNvPr>
          <p:cNvSpPr>
            <a:spLocks noGrp="1"/>
          </p:cNvSpPr>
          <p:nvPr/>
        </p:nvSpPr>
        <p:spPr>
          <a:xfrm>
            <a:off x="2476500" y="1800225"/>
            <a:ext cx="4476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D9B36A7-9DD8-4115-8663-ACA2C36574DE}"/>
              </a:ext>
            </a:extLst>
          </p:cNvPr>
          <p:cNvSpPr>
            <a:spLocks noGrp="1"/>
          </p:cNvSpPr>
          <p:nvPr/>
        </p:nvSpPr>
        <p:spPr>
          <a:xfrm>
            <a:off x="2590800" y="1885950"/>
            <a:ext cx="4248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提供Ascend编译、运行和Profiling工具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8FC7987-1C55-41D0-864B-83D7000C1204}"/>
              </a:ext>
            </a:extLst>
          </p:cNvPr>
          <p:cNvSpPr>
            <a:spLocks noGrp="1"/>
          </p:cNvSpPr>
          <p:nvPr/>
        </p:nvSpPr>
        <p:spPr>
          <a:xfrm>
            <a:off x="6953250" y="1800225"/>
            <a:ext cx="4095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204AAE0-A1CB-4AA6-BDAC-9AAC0B61CEF9}"/>
              </a:ext>
            </a:extLst>
          </p:cNvPr>
          <p:cNvSpPr>
            <a:spLocks noGrp="1"/>
          </p:cNvSpPr>
          <p:nvPr/>
        </p:nvSpPr>
        <p:spPr>
          <a:xfrm>
            <a:off x="7067550" y="1885950"/>
            <a:ext cx="3867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rPr>
              <a:t>全流程基础环境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6C4DD6F-4402-445C-AE76-AD6A27932B7C}"/>
              </a:ext>
            </a:extLst>
          </p:cNvPr>
          <p:cNvSpPr>
            <a:spLocks noGrp="1"/>
          </p:cNvSpPr>
          <p:nvPr/>
        </p:nvSpPr>
        <p:spPr>
          <a:xfrm>
            <a:off x="666750" y="2314575"/>
            <a:ext cx="1809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1CDA969-BB99-438E-9DA5-1A025F45ED37}"/>
              </a:ext>
            </a:extLst>
          </p:cNvPr>
          <p:cNvSpPr>
            <a:spLocks noGrp="1"/>
          </p:cNvSpPr>
          <p:nvPr/>
        </p:nvSpPr>
        <p:spPr>
          <a:xfrm>
            <a:off x="781050" y="2400300"/>
            <a:ext cx="1581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rPr>
              <a:t>ATC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21ACC9A-4A16-491B-98E3-8AA30EFA95C1}"/>
              </a:ext>
            </a:extLst>
          </p:cNvPr>
          <p:cNvSpPr>
            <a:spLocks noGrp="1"/>
          </p:cNvSpPr>
          <p:nvPr/>
        </p:nvSpPr>
        <p:spPr>
          <a:xfrm>
            <a:off x="2476500" y="2314575"/>
            <a:ext cx="4476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675F488-48A6-48CF-94E5-04553B63A198}"/>
              </a:ext>
            </a:extLst>
          </p:cNvPr>
          <p:cNvSpPr>
            <a:spLocks noGrp="1"/>
          </p:cNvSpPr>
          <p:nvPr/>
        </p:nvSpPr>
        <p:spPr>
          <a:xfrm>
            <a:off x="2590800" y="2400300"/>
            <a:ext cx="4248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把ONNX转换成目标芯片可执行的OM模型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720658A-8EC0-4681-B731-715A6299133C}"/>
              </a:ext>
            </a:extLst>
          </p:cNvPr>
          <p:cNvSpPr>
            <a:spLocks noGrp="1"/>
          </p:cNvSpPr>
          <p:nvPr/>
        </p:nvSpPr>
        <p:spPr>
          <a:xfrm>
            <a:off x="6953250" y="2314575"/>
            <a:ext cx="4095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BFB6C4F-1746-487E-99A3-319B49C4D6D6}"/>
              </a:ext>
            </a:extLst>
          </p:cNvPr>
          <p:cNvSpPr>
            <a:spLocks noGrp="1"/>
          </p:cNvSpPr>
          <p:nvPr/>
        </p:nvSpPr>
        <p:spPr>
          <a:xfrm>
            <a:off x="7067550" y="2400300"/>
            <a:ext cx="3867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rPr>
              <a:t>实验一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0F3DA59-6C9B-42B8-BF89-A87D719E7427}"/>
              </a:ext>
            </a:extLst>
          </p:cNvPr>
          <p:cNvSpPr>
            <a:spLocks noGrp="1"/>
          </p:cNvSpPr>
          <p:nvPr/>
        </p:nvSpPr>
        <p:spPr>
          <a:xfrm>
            <a:off x="666750" y="2828925"/>
            <a:ext cx="1809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AAC3011-2498-448D-B517-02D78E712133}"/>
              </a:ext>
            </a:extLst>
          </p:cNvPr>
          <p:cNvSpPr>
            <a:spLocks noGrp="1"/>
          </p:cNvSpPr>
          <p:nvPr/>
        </p:nvSpPr>
        <p:spPr>
          <a:xfrm>
            <a:off x="781050" y="2914650"/>
            <a:ext cx="1581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rPr>
              <a:t>PyACL / ACL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6306D53-5789-4919-BA40-EA76622C25F8}"/>
              </a:ext>
            </a:extLst>
          </p:cNvPr>
          <p:cNvSpPr>
            <a:spLocks noGrp="1"/>
          </p:cNvSpPr>
          <p:nvPr/>
        </p:nvSpPr>
        <p:spPr>
          <a:xfrm>
            <a:off x="2476500" y="2828925"/>
            <a:ext cx="4476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7F517B2-4BF9-4142-AD59-49F53FBAAADD}"/>
              </a:ext>
            </a:extLst>
          </p:cNvPr>
          <p:cNvSpPr>
            <a:spLocks noGrp="1"/>
          </p:cNvSpPr>
          <p:nvPr/>
        </p:nvSpPr>
        <p:spPr>
          <a:xfrm>
            <a:off x="2590800" y="2914650"/>
            <a:ext cx="4248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Python侧调用Ascend Runtime，加载并执行OM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24852C5-A8F8-40D8-9D45-A423F5A1D24F}"/>
              </a:ext>
            </a:extLst>
          </p:cNvPr>
          <p:cNvSpPr>
            <a:spLocks noGrp="1"/>
          </p:cNvSpPr>
          <p:nvPr/>
        </p:nvSpPr>
        <p:spPr>
          <a:xfrm>
            <a:off x="6953250" y="2828925"/>
            <a:ext cx="4095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47CD096-5C79-4606-9768-029AEE694C58}"/>
              </a:ext>
            </a:extLst>
          </p:cNvPr>
          <p:cNvSpPr>
            <a:spLocks noGrp="1"/>
          </p:cNvSpPr>
          <p:nvPr/>
        </p:nvSpPr>
        <p:spPr>
          <a:xfrm>
            <a:off x="7067550" y="2914650"/>
            <a:ext cx="3867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rPr>
              <a:t>实验二、实验五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7DCDE9A-2D90-4E92-B645-F3A314FDDAB2}"/>
              </a:ext>
            </a:extLst>
          </p:cNvPr>
          <p:cNvSpPr>
            <a:spLocks noGrp="1"/>
          </p:cNvSpPr>
          <p:nvPr/>
        </p:nvSpPr>
        <p:spPr>
          <a:xfrm>
            <a:off x="666750" y="3343275"/>
            <a:ext cx="1809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A43A667-6C77-4559-953F-D776F32D92C2}"/>
              </a:ext>
            </a:extLst>
          </p:cNvPr>
          <p:cNvSpPr>
            <a:spLocks noGrp="1"/>
          </p:cNvSpPr>
          <p:nvPr/>
        </p:nvSpPr>
        <p:spPr>
          <a:xfrm>
            <a:off x="781050" y="3429000"/>
            <a:ext cx="1581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rPr>
              <a:t>Ascend C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203C397-7E1A-4BB6-A144-16116B4C4253}"/>
              </a:ext>
            </a:extLst>
          </p:cNvPr>
          <p:cNvSpPr>
            <a:spLocks noGrp="1"/>
          </p:cNvSpPr>
          <p:nvPr/>
        </p:nvSpPr>
        <p:spPr>
          <a:xfrm>
            <a:off x="2476500" y="3343275"/>
            <a:ext cx="4476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95C1FF2-7B2C-4A28-BB2D-9BC73216E4F0}"/>
              </a:ext>
            </a:extLst>
          </p:cNvPr>
          <p:cNvSpPr>
            <a:spLocks noGrp="1"/>
          </p:cNvSpPr>
          <p:nvPr/>
        </p:nvSpPr>
        <p:spPr>
          <a:xfrm>
            <a:off x="2590800" y="3429000"/>
            <a:ext cx="4248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编写运行在AI Core上的自定义kernel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036FEE4-37E3-4514-B25B-7D1E8868FCF0}"/>
              </a:ext>
            </a:extLst>
          </p:cNvPr>
          <p:cNvSpPr>
            <a:spLocks noGrp="1"/>
          </p:cNvSpPr>
          <p:nvPr/>
        </p:nvSpPr>
        <p:spPr>
          <a:xfrm>
            <a:off x="6953250" y="3343275"/>
            <a:ext cx="4095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AAFE24A-38A2-4EC3-ABB5-922A8B3497FE}"/>
              </a:ext>
            </a:extLst>
          </p:cNvPr>
          <p:cNvSpPr>
            <a:spLocks noGrp="1"/>
          </p:cNvSpPr>
          <p:nvPr/>
        </p:nvSpPr>
        <p:spPr>
          <a:xfrm>
            <a:off x="7067550" y="3429000"/>
            <a:ext cx="3867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rPr>
              <a:t>实验四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539ECE2-E12F-47DC-BC17-37CA05DEA52F}"/>
              </a:ext>
            </a:extLst>
          </p:cNvPr>
          <p:cNvSpPr>
            <a:spLocks noGrp="1"/>
          </p:cNvSpPr>
          <p:nvPr/>
        </p:nvSpPr>
        <p:spPr>
          <a:xfrm>
            <a:off x="666750" y="3857625"/>
            <a:ext cx="1809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DBCDBDB-54A3-4964-8623-6B3EA250615D}"/>
              </a:ext>
            </a:extLst>
          </p:cNvPr>
          <p:cNvSpPr>
            <a:spLocks noGrp="1"/>
          </p:cNvSpPr>
          <p:nvPr/>
        </p:nvSpPr>
        <p:spPr>
          <a:xfrm>
            <a:off x="781050" y="3943350"/>
            <a:ext cx="1581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rPr>
              <a:t>msopgen / opc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0FB358E-AE94-425D-AD09-D371D7466863}"/>
              </a:ext>
            </a:extLst>
          </p:cNvPr>
          <p:cNvSpPr>
            <a:spLocks noGrp="1"/>
          </p:cNvSpPr>
          <p:nvPr/>
        </p:nvSpPr>
        <p:spPr>
          <a:xfrm>
            <a:off x="2476500" y="3857625"/>
            <a:ext cx="4476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1D5D497-A65F-4513-889B-79D464127A99}"/>
              </a:ext>
            </a:extLst>
          </p:cNvPr>
          <p:cNvSpPr>
            <a:spLocks noGrp="1"/>
          </p:cNvSpPr>
          <p:nvPr/>
        </p:nvSpPr>
        <p:spPr>
          <a:xfrm>
            <a:off x="2590800" y="3943350"/>
            <a:ext cx="4248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rPr>
              <a:t>生成算子工程并编译算子二进制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76BC29F-9187-4359-9272-7E89E2A40C21}"/>
              </a:ext>
            </a:extLst>
          </p:cNvPr>
          <p:cNvSpPr>
            <a:spLocks noGrp="1"/>
          </p:cNvSpPr>
          <p:nvPr/>
        </p:nvSpPr>
        <p:spPr>
          <a:xfrm>
            <a:off x="6953250" y="3857625"/>
            <a:ext cx="4095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580F0EA-0E82-4593-B2D8-836499B0F5EF}"/>
              </a:ext>
            </a:extLst>
          </p:cNvPr>
          <p:cNvSpPr>
            <a:spLocks noGrp="1"/>
          </p:cNvSpPr>
          <p:nvPr/>
        </p:nvSpPr>
        <p:spPr>
          <a:xfrm>
            <a:off x="7067550" y="3943350"/>
            <a:ext cx="3867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rPr>
              <a:t>实验四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21544BB-8808-4306-BAD3-D20AEB2ECDF3}"/>
              </a:ext>
            </a:extLst>
          </p:cNvPr>
          <p:cNvSpPr>
            <a:spLocks noGrp="1"/>
          </p:cNvSpPr>
          <p:nvPr/>
        </p:nvSpPr>
        <p:spPr>
          <a:xfrm>
            <a:off x="666750" y="4371975"/>
            <a:ext cx="1809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99B5DD1-AF92-4F46-A3A8-F20CC77C685D}"/>
              </a:ext>
            </a:extLst>
          </p:cNvPr>
          <p:cNvSpPr>
            <a:spLocks noGrp="1"/>
          </p:cNvSpPr>
          <p:nvPr/>
        </p:nvSpPr>
        <p:spPr>
          <a:xfrm>
            <a:off x="781050" y="4457700"/>
            <a:ext cx="1581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rPr>
              <a:t>ACLNN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4B6D7AC-5ED9-4112-A73D-93DDC765F04C}"/>
              </a:ext>
            </a:extLst>
          </p:cNvPr>
          <p:cNvSpPr>
            <a:spLocks noGrp="1"/>
          </p:cNvSpPr>
          <p:nvPr/>
        </p:nvSpPr>
        <p:spPr>
          <a:xfrm>
            <a:off x="2476500" y="4371975"/>
            <a:ext cx="4476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1691A2E-538D-43E8-84BD-EB4C419E35D6}"/>
              </a:ext>
            </a:extLst>
          </p:cNvPr>
          <p:cNvSpPr>
            <a:spLocks noGrp="1"/>
          </p:cNvSpPr>
          <p:nvPr/>
        </p:nvSpPr>
        <p:spPr>
          <a:xfrm>
            <a:off x="2590800" y="4457700"/>
            <a:ext cx="4248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50" b="0">
                <a:solidFill>
                  <a:srgbClr val="595757"/>
                </a:solidFill>
                <a:latin typeface="Consolas"/>
                <a:ea typeface="Microsoft YaHei"/>
                <a:cs typeface="Microsoft YaHei"/>
              </a:defRPr>
            </a:pPr>
            <a:r>
              <a:rPr sz="950" b="0">
                <a:solidFill>
                  <a:srgbClr val="595757"/>
                </a:solidFill>
                <a:latin typeface="Consolas"/>
                <a:ea typeface="Microsoft YaHei"/>
                <a:cs typeface="Microsoft YaHei"/>
              </a:rPr>
              <a:t>以GetWorkspaceSize + 执行接口调用自定义算子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70B089C-AC12-4101-8531-3957F7224703}"/>
              </a:ext>
            </a:extLst>
          </p:cNvPr>
          <p:cNvSpPr>
            <a:spLocks noGrp="1"/>
          </p:cNvSpPr>
          <p:nvPr/>
        </p:nvSpPr>
        <p:spPr>
          <a:xfrm>
            <a:off x="6953250" y="4371975"/>
            <a:ext cx="4095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810B93D-7253-4535-9A1F-37411A51E696}"/>
              </a:ext>
            </a:extLst>
          </p:cNvPr>
          <p:cNvSpPr>
            <a:spLocks noGrp="1"/>
          </p:cNvSpPr>
          <p:nvPr/>
        </p:nvSpPr>
        <p:spPr>
          <a:xfrm>
            <a:off x="7067550" y="4457700"/>
            <a:ext cx="3867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rPr>
              <a:t>实验四、实验五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43E6156-F9F2-4BB2-99F6-C9FF273311AE}"/>
              </a:ext>
            </a:extLst>
          </p:cNvPr>
          <p:cNvSpPr>
            <a:spLocks noGrp="1"/>
          </p:cNvSpPr>
          <p:nvPr/>
        </p:nvSpPr>
        <p:spPr>
          <a:xfrm>
            <a:off x="666750" y="4886325"/>
            <a:ext cx="1809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60C583C-4595-42EF-9EC4-5A5D5A62BEE2}"/>
              </a:ext>
            </a:extLst>
          </p:cNvPr>
          <p:cNvSpPr>
            <a:spLocks noGrp="1"/>
          </p:cNvSpPr>
          <p:nvPr/>
        </p:nvSpPr>
        <p:spPr>
          <a:xfrm>
            <a:off x="781050" y="4972050"/>
            <a:ext cx="1581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msprof / MindStudio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84E2393-328D-4982-ABA7-3AE381A67F2E}"/>
              </a:ext>
            </a:extLst>
          </p:cNvPr>
          <p:cNvSpPr>
            <a:spLocks noGrp="1"/>
          </p:cNvSpPr>
          <p:nvPr/>
        </p:nvSpPr>
        <p:spPr>
          <a:xfrm>
            <a:off x="2476500" y="4886325"/>
            <a:ext cx="4476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EBD5523-2C85-4DEB-B514-41BE18A32FCC}"/>
              </a:ext>
            </a:extLst>
          </p:cNvPr>
          <p:cNvSpPr>
            <a:spLocks noGrp="1"/>
          </p:cNvSpPr>
          <p:nvPr/>
        </p:nvSpPr>
        <p:spPr>
          <a:xfrm>
            <a:off x="2590800" y="4972050"/>
            <a:ext cx="4248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采集并查看kernel/task级耗时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43250884-E687-47BE-97B2-3543B393A4C6}"/>
              </a:ext>
            </a:extLst>
          </p:cNvPr>
          <p:cNvSpPr>
            <a:spLocks noGrp="1"/>
          </p:cNvSpPr>
          <p:nvPr/>
        </p:nvSpPr>
        <p:spPr>
          <a:xfrm>
            <a:off x="6953250" y="4886325"/>
            <a:ext cx="4095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8941410-9FD9-4E95-808C-44FF771B170A}"/>
              </a:ext>
            </a:extLst>
          </p:cNvPr>
          <p:cNvSpPr>
            <a:spLocks noGrp="1"/>
          </p:cNvSpPr>
          <p:nvPr/>
        </p:nvSpPr>
        <p:spPr>
          <a:xfrm>
            <a:off x="7067550" y="4972050"/>
            <a:ext cx="3867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6FAA"/>
                </a:solidFill>
                <a:latin typeface="Microsoft YaHei"/>
                <a:ea typeface="Microsoft YaHei"/>
                <a:cs typeface="Microsoft YaHei"/>
              </a:rPr>
              <a:t>实验六</a:t>
            </a:r>
          </a:p>
        </p:txBody>
      </p:sp>
      <p:sp>
        <p:nvSpPr>
          <p:cNvPr id="56" name="直接连接符 55">
            <a:extLst>
              <a:ext uri="{FF2B5EF4-FFF2-40B4-BE49-F238E27FC236}">
                <a16:creationId xmlns:a16="http://schemas.microsoft.com/office/drawing/2014/main" id="{746DD6F7-2867-BFDD-040D-EF9F53311247}"/>
              </a:ext>
            </a:extLst>
          </p:cNvPr>
          <p:cNvSpPr>
            <a:spLocks noGrp="1"/>
          </p:cNvSpPr>
          <p:nvPr/>
        </p:nvSpPr>
        <p:spPr>
          <a:xfrm>
            <a:off x="704850" y="1050925"/>
            <a:ext cx="990600" cy="0"/>
          </a:xfrm>
          <a:prstGeom prst="line">
            <a:avLst/>
          </a:prstGeom>
          <a:solidFill>
            <a:srgbClr val="006FAA"/>
          </a:solidFill>
          <a:ln w="22860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Shape 0">
            <a:extLst>
              <a:ext uri="{FF2B5EF4-FFF2-40B4-BE49-F238E27FC236}">
                <a16:creationId xmlns:a16="http://schemas.microsoft.com/office/drawing/2014/main" id="{DC9377E0-96D2-55BD-253F-F96FEED2F79A}"/>
              </a:ext>
            </a:extLst>
          </p:cNvPr>
          <p:cNvSpPr/>
          <p:nvPr/>
        </p:nvSpPr>
        <p:spPr>
          <a:xfrm>
            <a:off x="1588" y="0"/>
            <a:ext cx="12188952" cy="73152"/>
          </a:xfrm>
          <a:prstGeom prst="rect">
            <a:avLst/>
          </a:prstGeom>
          <a:solidFill>
            <a:srgbClr val="C7000B"/>
          </a:solidFill>
        </p:spPr>
      </p:sp>
    </p:spTree>
    <p:extLst>
      <p:ext uri="{BB962C8B-B14F-4D97-AF65-F5344CB8AC3E}">
        <p14:creationId xmlns:p14="http://schemas.microsoft.com/office/powerpoint/2010/main" val="1737468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5E384-1499-4E0C-E9BD-354DD2087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B3AEC70-D50B-53A3-E559-8BAF227B35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背景介绍与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学习目标</a:t>
            </a:r>
          </a:p>
          <a:p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实验环境准备</a:t>
            </a:r>
            <a:endParaRPr lang="en-US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模型转换与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PyACL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推理</a:t>
            </a: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自定义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NMS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算子开发</a:t>
            </a: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NPU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后处理集成与验证</a:t>
            </a: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sym typeface="+mn-ea"/>
              </a:rPr>
              <a:t>Profiling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sym typeface="+mn-ea"/>
              </a:rPr>
              <a:t>与实验验收</a:t>
            </a: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课后习题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8161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29E973E-0DB1-4BA6-958B-ABD9D4479574}"/>
              </a:ext>
            </a:extLst>
          </p:cNvPr>
          <p:cNvSpPr>
            <a:spLocks noGrp="1"/>
          </p:cNvSpPr>
          <p:nvPr/>
        </p:nvSpPr>
        <p:spPr>
          <a:xfrm>
            <a:off x="704850" y="43815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00" b="1">
                <a:solidFill>
                  <a:srgbClr val="005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环境检查</a:t>
            </a:r>
            <a:r>
              <a:rPr lang="zh-CN" alt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endParaRPr sz="32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107F2D0-4658-4B64-91E9-61616B37CA76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E9E2058-C434-45B3-88E3-3D758790B9F5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10363200" cy="4333875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4965E2-D0E5-42EA-BF49-A3B03287D410}"/>
              </a:ext>
            </a:extLst>
          </p:cNvPr>
          <p:cNvSpPr>
            <a:spLocks noGrp="1"/>
          </p:cNvSpPr>
          <p:nvPr/>
        </p:nvSpPr>
        <p:spPr>
          <a:xfrm>
            <a:off x="1143000" y="1590675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endParaRPr sz="1650" b="1" dirty="0">
              <a:solidFill>
                <a:srgbClr val="C7000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8B7E67-8D29-4A4A-8E74-9342F9F4CE25}"/>
              </a:ext>
            </a:extLst>
          </p:cNvPr>
          <p:cNvSpPr>
            <a:spLocks noGrp="1"/>
          </p:cNvSpPr>
          <p:nvPr/>
        </p:nvSpPr>
        <p:spPr>
          <a:xfrm>
            <a:off x="1143000" y="2047875"/>
            <a:ext cx="9906000" cy="3419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endParaRPr sz="1350" b="0" dirty="0">
              <a:solidFill>
                <a:srgbClr val="555555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4C0B540-B4D0-7BF6-E99A-A0F8A0DA2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444" y="1457326"/>
            <a:ext cx="4057650" cy="413916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E3DE688-5E3D-0118-EF19-378EBAD9F5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0650" y="2270166"/>
            <a:ext cx="5992906" cy="2711579"/>
          </a:xfrm>
          <a:prstGeom prst="rect">
            <a:avLst/>
          </a:prstGeom>
        </p:spPr>
      </p:pic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DF2A01D2-ED7F-62E6-8A2E-0BA00AD8BC17}"/>
              </a:ext>
            </a:extLst>
          </p:cNvPr>
          <p:cNvSpPr>
            <a:spLocks noGrp="1"/>
          </p:cNvSpPr>
          <p:nvPr/>
        </p:nvSpPr>
        <p:spPr>
          <a:xfrm>
            <a:off x="704850" y="1050925"/>
            <a:ext cx="990600" cy="0"/>
          </a:xfrm>
          <a:prstGeom prst="line">
            <a:avLst/>
          </a:prstGeom>
          <a:solidFill>
            <a:srgbClr val="006FAA"/>
          </a:solidFill>
          <a:ln w="22860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0">
            <a:extLst>
              <a:ext uri="{FF2B5EF4-FFF2-40B4-BE49-F238E27FC236}">
                <a16:creationId xmlns:a16="http://schemas.microsoft.com/office/drawing/2014/main" id="{99ADB143-E76B-993C-7CD8-23421B80CA87}"/>
              </a:ext>
            </a:extLst>
          </p:cNvPr>
          <p:cNvSpPr/>
          <p:nvPr/>
        </p:nvSpPr>
        <p:spPr>
          <a:xfrm>
            <a:off x="318" y="0"/>
            <a:ext cx="12191695" cy="91440"/>
          </a:xfrm>
          <a:prstGeom prst="rect">
            <a:avLst/>
          </a:prstGeom>
          <a:solidFill>
            <a:srgbClr val="3D8DFF"/>
          </a:solidFill>
          <a:ln w="1270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191427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C90EBA09-6F0E-4D6B-8B22-BB8CE7549117}"/>
              </a:ext>
            </a:extLst>
          </p:cNvPr>
          <p:cNvSpPr>
            <a:spLocks noGrp="1"/>
          </p:cNvSpPr>
          <p:nvPr/>
        </p:nvSpPr>
        <p:spPr>
          <a:xfrm>
            <a:off x="704850" y="43815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00" b="1">
                <a:solidFill>
                  <a:srgbClr val="005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OM模型与bus.jpg的关系</a:t>
            </a:r>
            <a:endParaRPr sz="32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AF316A0-45F6-4D3B-B57A-DAC8D986F56A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D101FF6-992C-45F5-9274-D37CB5206714}"/>
              </a:ext>
            </a:extLst>
          </p:cNvPr>
          <p:cNvSpPr>
            <a:spLocks noGrp="1"/>
          </p:cNvSpPr>
          <p:nvPr/>
        </p:nvSpPr>
        <p:spPr>
          <a:xfrm>
            <a:off x="1285875" y="1581150"/>
            <a:ext cx="2190750" cy="685800"/>
          </a:xfrm>
          <a:prstGeom prst="roundRect">
            <a:avLst>
              <a:gd name="adj" fmla="val 13889"/>
            </a:avLst>
          </a:prstGeom>
          <a:solidFill>
            <a:srgbClr val="ED6D00"/>
          </a:solidFill>
          <a:ln w="9525">
            <a:solidFill>
              <a:srgbClr val="ED6D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31C706-BF35-4F0B-8255-47239033ED35}"/>
              </a:ext>
            </a:extLst>
          </p:cNvPr>
          <p:cNvSpPr>
            <a:spLocks noGrp="1"/>
          </p:cNvSpPr>
          <p:nvPr/>
        </p:nvSpPr>
        <p:spPr>
          <a:xfrm>
            <a:off x="1333500" y="1704975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>
                <a:solidFill>
                  <a:srgbClr val="FFFFFF"/>
                </a:solidFill>
                <a:latin typeface="Microsoft YaHei"/>
                <a:ea typeface="Microsoft YaHei"/>
              </a:rPr>
              <a:t>yolov5s.onnx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58F41A73-2491-464C-A0BF-5592BF7B29E6}"/>
              </a:ext>
            </a:extLst>
          </p:cNvPr>
          <p:cNvSpPr>
            <a:spLocks noGrp="1"/>
          </p:cNvSpPr>
          <p:nvPr/>
        </p:nvSpPr>
        <p:spPr>
          <a:xfrm>
            <a:off x="3524250" y="1752600"/>
            <a:ext cx="1381125" cy="266700"/>
          </a:xfrm>
          <a:prstGeom prst="rightArrow">
            <a:avLst/>
          </a:prstGeom>
          <a:solidFill>
            <a:srgbClr val="ED6D00"/>
          </a:solidFill>
          <a:ln w="15240">
            <a:solidFill>
              <a:srgbClr val="ED6D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7EA28D2-9798-495F-A212-DEF1CE422496}"/>
              </a:ext>
            </a:extLst>
          </p:cNvPr>
          <p:cNvSpPr>
            <a:spLocks noGrp="1"/>
          </p:cNvSpPr>
          <p:nvPr/>
        </p:nvSpPr>
        <p:spPr>
          <a:xfrm>
            <a:off x="5000625" y="1581150"/>
            <a:ext cx="2190750" cy="685800"/>
          </a:xfrm>
          <a:prstGeom prst="roundRect">
            <a:avLst>
              <a:gd name="adj" fmla="val 13889"/>
            </a:avLst>
          </a:prstGeom>
          <a:solidFill>
            <a:srgbClr val="ED6D00"/>
          </a:solidFill>
          <a:ln w="9525">
            <a:solidFill>
              <a:srgbClr val="ED6D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AEBDE8D-1403-4595-8AD1-544E9610C110}"/>
              </a:ext>
            </a:extLst>
          </p:cNvPr>
          <p:cNvSpPr>
            <a:spLocks noGrp="1"/>
          </p:cNvSpPr>
          <p:nvPr/>
        </p:nvSpPr>
        <p:spPr>
          <a:xfrm>
            <a:off x="5095875" y="1704975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00" b="1">
                <a:solidFill>
                  <a:srgbClr val="ED6D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>
                <a:solidFill>
                  <a:srgbClr val="FFFFFF"/>
                </a:solidFill>
                <a:latin typeface="Microsoft YaHei"/>
                <a:ea typeface="Microsoft YaHei"/>
              </a:rPr>
              <a:t>ATC</a:t>
            </a:r>
            <a:r>
              <a:rPr lang="en-US" sz="2000" b="1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转换</a:t>
            </a:r>
            <a:endParaRPr sz="20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B2EEE19C-2DBD-46E0-98F4-A67995FEF27E}"/>
              </a:ext>
            </a:extLst>
          </p:cNvPr>
          <p:cNvSpPr>
            <a:spLocks noGrp="1"/>
          </p:cNvSpPr>
          <p:nvPr/>
        </p:nvSpPr>
        <p:spPr>
          <a:xfrm>
            <a:off x="7286625" y="1752600"/>
            <a:ext cx="1381125" cy="266700"/>
          </a:xfrm>
          <a:prstGeom prst="rightArrow">
            <a:avLst/>
          </a:prstGeom>
          <a:solidFill>
            <a:srgbClr val="ED6D00"/>
          </a:solidFill>
          <a:ln w="15240">
            <a:solidFill>
              <a:srgbClr val="ED6D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B812087-F4D3-41FF-B0D4-4AFBFA8D240B}"/>
              </a:ext>
            </a:extLst>
          </p:cNvPr>
          <p:cNvSpPr>
            <a:spLocks noGrp="1"/>
          </p:cNvSpPr>
          <p:nvPr/>
        </p:nvSpPr>
        <p:spPr>
          <a:xfrm>
            <a:off x="8763000" y="1581150"/>
            <a:ext cx="2190750" cy="685800"/>
          </a:xfrm>
          <a:prstGeom prst="roundRect">
            <a:avLst>
              <a:gd name="adj" fmla="val 13889"/>
            </a:avLst>
          </a:prstGeom>
          <a:solidFill>
            <a:srgbClr val="ED6D00"/>
          </a:solidFill>
          <a:ln w="9525">
            <a:solidFill>
              <a:srgbClr val="ED6D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BE77F6A-FE74-4035-8DD4-B7296F052276}"/>
              </a:ext>
            </a:extLst>
          </p:cNvPr>
          <p:cNvSpPr>
            <a:spLocks noGrp="1"/>
          </p:cNvSpPr>
          <p:nvPr/>
        </p:nvSpPr>
        <p:spPr>
          <a:xfrm>
            <a:off x="8858250" y="1704975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00" b="1">
                <a:solidFill>
                  <a:srgbClr val="ED6D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ED6D00"/>
                </a:solidFill>
                <a:latin typeface="Microsoft YaHei"/>
                <a:ea typeface="Microsoft YaHei"/>
                <a:cs typeface="Microsoft YaHei"/>
              </a:rPr>
              <a:t>yolov5s_310b4.om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B2C90A3-1658-4964-A740-80191E2643EF}"/>
              </a:ext>
            </a:extLst>
          </p:cNvPr>
          <p:cNvSpPr>
            <a:spLocks noGrp="1"/>
          </p:cNvSpPr>
          <p:nvPr/>
        </p:nvSpPr>
        <p:spPr>
          <a:xfrm>
            <a:off x="1228169" y="3911976"/>
            <a:ext cx="2000250" cy="685800"/>
          </a:xfrm>
          <a:prstGeom prst="roundRect">
            <a:avLst>
              <a:gd name="adj" fmla="val 13889"/>
            </a:avLst>
          </a:prstGeom>
          <a:solidFill>
            <a:srgbClr val="006FAA"/>
          </a:solidFill>
          <a:ln w="9525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C92B30-753B-4CFF-ABD3-133D0D2DA933}"/>
              </a:ext>
            </a:extLst>
          </p:cNvPr>
          <p:cNvSpPr>
            <a:spLocks noGrp="1"/>
          </p:cNvSpPr>
          <p:nvPr/>
        </p:nvSpPr>
        <p:spPr>
          <a:xfrm>
            <a:off x="1323419" y="4035801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bus.jpg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3A4B64AA-BFD0-4C14-9111-EFAB9BBBF9E7}"/>
              </a:ext>
            </a:extLst>
          </p:cNvPr>
          <p:cNvSpPr>
            <a:spLocks noGrp="1"/>
          </p:cNvSpPr>
          <p:nvPr/>
        </p:nvSpPr>
        <p:spPr>
          <a:xfrm>
            <a:off x="3323669" y="4083426"/>
            <a:ext cx="190500" cy="266700"/>
          </a:xfrm>
          <a:prstGeom prst="rightArrow">
            <a:avLst/>
          </a:prstGeom>
          <a:solidFill>
            <a:srgbClr val="ED6D00"/>
          </a:solidFill>
          <a:ln w="15240">
            <a:solidFill>
              <a:srgbClr val="ED6D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5A8B649-9E6A-4DF3-B95B-AD33D37991A1}"/>
              </a:ext>
            </a:extLst>
          </p:cNvPr>
          <p:cNvSpPr>
            <a:spLocks noGrp="1"/>
          </p:cNvSpPr>
          <p:nvPr/>
        </p:nvSpPr>
        <p:spPr>
          <a:xfrm>
            <a:off x="3609419" y="3911976"/>
            <a:ext cx="2000250" cy="685800"/>
          </a:xfrm>
          <a:prstGeom prst="roundRect">
            <a:avLst>
              <a:gd name="adj" fmla="val 13889"/>
            </a:avLst>
          </a:prstGeom>
          <a:solidFill>
            <a:srgbClr val="ED6D00"/>
          </a:solidFill>
          <a:ln w="9525">
            <a:solidFill>
              <a:srgbClr val="ED6D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3774FDD-5D9D-4965-A0E2-CDDC3FA50BF8}"/>
              </a:ext>
            </a:extLst>
          </p:cNvPr>
          <p:cNvSpPr>
            <a:spLocks noGrp="1"/>
          </p:cNvSpPr>
          <p:nvPr/>
        </p:nvSpPr>
        <p:spPr>
          <a:xfrm>
            <a:off x="3704669" y="4035801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预处理</a:t>
            </a:r>
            <a:endParaRPr sz="20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3FEAC894-2C2A-4C84-A35B-DA8CFA6B164F}"/>
              </a:ext>
            </a:extLst>
          </p:cNvPr>
          <p:cNvSpPr>
            <a:spLocks noGrp="1"/>
          </p:cNvSpPr>
          <p:nvPr/>
        </p:nvSpPr>
        <p:spPr>
          <a:xfrm>
            <a:off x="5704919" y="4083426"/>
            <a:ext cx="190500" cy="266700"/>
          </a:xfrm>
          <a:prstGeom prst="rightArrow">
            <a:avLst/>
          </a:prstGeom>
          <a:solidFill>
            <a:srgbClr val="ED6D00"/>
          </a:solidFill>
          <a:ln w="15240">
            <a:solidFill>
              <a:srgbClr val="ED6D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74CDEBE-67A0-45EC-B931-349A5E97D975}"/>
              </a:ext>
            </a:extLst>
          </p:cNvPr>
          <p:cNvSpPr>
            <a:spLocks noGrp="1"/>
          </p:cNvSpPr>
          <p:nvPr/>
        </p:nvSpPr>
        <p:spPr>
          <a:xfrm>
            <a:off x="5990669" y="3911976"/>
            <a:ext cx="2000250" cy="685800"/>
          </a:xfrm>
          <a:prstGeom prst="roundRect">
            <a:avLst>
              <a:gd name="adj" fmla="val 13889"/>
            </a:avLst>
          </a:prstGeom>
          <a:solidFill>
            <a:srgbClr val="62B230"/>
          </a:solidFill>
          <a:ln w="9525">
            <a:solidFill>
              <a:srgbClr val="62B2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631F881-99BC-433E-AE07-D8ADB11FE141}"/>
              </a:ext>
            </a:extLst>
          </p:cNvPr>
          <p:cNvSpPr>
            <a:spLocks noGrp="1"/>
          </p:cNvSpPr>
          <p:nvPr/>
        </p:nvSpPr>
        <p:spPr>
          <a:xfrm>
            <a:off x="6085919" y="4035801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OM推理</a:t>
            </a:r>
            <a:endParaRPr sz="20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702EA2AC-49B3-4C58-A42F-6DC367147C18}"/>
              </a:ext>
            </a:extLst>
          </p:cNvPr>
          <p:cNvSpPr>
            <a:spLocks noGrp="1"/>
          </p:cNvSpPr>
          <p:nvPr/>
        </p:nvSpPr>
        <p:spPr>
          <a:xfrm>
            <a:off x="8086169" y="4083426"/>
            <a:ext cx="190500" cy="266700"/>
          </a:xfrm>
          <a:prstGeom prst="rightArrow">
            <a:avLst/>
          </a:prstGeom>
          <a:solidFill>
            <a:srgbClr val="ED6D00"/>
          </a:solidFill>
          <a:ln w="15240">
            <a:solidFill>
              <a:srgbClr val="ED6D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4680EC3-7D77-4511-9FF8-DF3A1A77E460}"/>
              </a:ext>
            </a:extLst>
          </p:cNvPr>
          <p:cNvSpPr>
            <a:spLocks noGrp="1"/>
          </p:cNvSpPr>
          <p:nvPr/>
        </p:nvSpPr>
        <p:spPr>
          <a:xfrm>
            <a:off x="8371919" y="3911976"/>
            <a:ext cx="2000250" cy="685800"/>
          </a:xfrm>
          <a:prstGeom prst="roundRect">
            <a:avLst>
              <a:gd name="adj" fmla="val 13889"/>
            </a:avLst>
          </a:prstGeom>
          <a:solidFill>
            <a:srgbClr val="30B5C5"/>
          </a:solidFill>
          <a:ln w="9525">
            <a:solidFill>
              <a:srgbClr val="30B5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F8F1412-2CEA-4AB8-AA39-58C6C8CFF731}"/>
              </a:ext>
            </a:extLst>
          </p:cNvPr>
          <p:cNvSpPr>
            <a:spLocks noGrp="1"/>
          </p:cNvSpPr>
          <p:nvPr/>
        </p:nvSpPr>
        <p:spPr>
          <a:xfrm>
            <a:off x="8467169" y="4035801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>
                <a:solidFill>
                  <a:srgbClr val="FFFFFF"/>
                </a:solidFill>
                <a:latin typeface="Microsoft YaHei"/>
                <a:ea typeface="Microsoft YaHei"/>
              </a:rPr>
              <a:t>raw output</a:t>
            </a:r>
          </a:p>
        </p:txBody>
      </p:sp>
      <p:pic>
        <p:nvPicPr>
          <p:cNvPr id="50" name="图片 49"/>
          <p:cNvPicPr>
            <a:picLocks noChangeAspect="1"/>
          </p:cNvPicPr>
          <p:nvPr/>
        </p:nvPicPr>
        <p:blipFill>
          <a:blip r:embed="rId3"/>
          <a:srcRect l="5535" r="5535"/>
          <a:stretch>
            <a:fillRect/>
          </a:stretch>
        </p:blipFill>
        <p:spPr>
          <a:xfrm>
            <a:off x="8763000" y="1037661"/>
            <a:ext cx="2381250" cy="1790700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C89D8212-EE0F-478E-BE9D-16E2931C7EA9}"/>
              </a:ext>
            </a:extLst>
          </p:cNvPr>
          <p:cNvSpPr>
            <a:spLocks noGrp="1"/>
          </p:cNvSpPr>
          <p:nvPr/>
        </p:nvSpPr>
        <p:spPr>
          <a:xfrm>
            <a:off x="8763000" y="3009065"/>
            <a:ext cx="2381250" cy="1876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dirty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样例输入：bus.jpg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A767FD4-1C57-D215-A483-97EB1673F599}"/>
              </a:ext>
            </a:extLst>
          </p:cNvPr>
          <p:cNvSpPr>
            <a:spLocks noGrp="1"/>
          </p:cNvSpPr>
          <p:nvPr/>
        </p:nvSpPr>
        <p:spPr>
          <a:xfrm>
            <a:off x="952500" y="5095875"/>
            <a:ext cx="10287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42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OM模型来自ONNX转换，bus.jpg不会被打包进OM</a:t>
            </a:r>
            <a:endParaRPr sz="1425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42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bus.jpg只是一张验证推理链路的输入图片</a:t>
            </a:r>
            <a:endParaRPr sz="1425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42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换图片不会改变OM文件，但会改变候选框数量和检测结果</a:t>
            </a:r>
            <a:endParaRPr sz="1425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386A635B-95B3-37F8-1421-675F327926E0}"/>
              </a:ext>
            </a:extLst>
          </p:cNvPr>
          <p:cNvSpPr>
            <a:spLocks noGrp="1"/>
          </p:cNvSpPr>
          <p:nvPr/>
        </p:nvSpPr>
        <p:spPr>
          <a:xfrm>
            <a:off x="704850" y="1050925"/>
            <a:ext cx="990600" cy="0"/>
          </a:xfrm>
          <a:prstGeom prst="line">
            <a:avLst/>
          </a:prstGeom>
          <a:solidFill>
            <a:srgbClr val="006FAA"/>
          </a:solidFill>
          <a:ln w="22860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0">
            <a:extLst>
              <a:ext uri="{FF2B5EF4-FFF2-40B4-BE49-F238E27FC236}">
                <a16:creationId xmlns:a16="http://schemas.microsoft.com/office/drawing/2014/main" id="{68465B8B-C85B-165B-ADED-F68FBBC417A4}"/>
              </a:ext>
            </a:extLst>
          </p:cNvPr>
          <p:cNvSpPr/>
          <p:nvPr/>
        </p:nvSpPr>
        <p:spPr>
          <a:xfrm>
            <a:off x="318" y="0"/>
            <a:ext cx="12191695" cy="91440"/>
          </a:xfrm>
          <a:prstGeom prst="rect">
            <a:avLst/>
          </a:prstGeom>
          <a:solidFill>
            <a:srgbClr val="3D8DFF"/>
          </a:solidFill>
          <a:ln w="1270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63118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4784B6A4-DC02-4BB9-A97B-861595BFDB32}"/>
              </a:ext>
            </a:extLst>
          </p:cNvPr>
          <p:cNvSpPr>
            <a:spLocks noGrp="1"/>
          </p:cNvSpPr>
          <p:nvPr/>
        </p:nvSpPr>
        <p:spPr>
          <a:xfrm>
            <a:off x="704850" y="43815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00" b="1">
                <a:solidFill>
                  <a:srgbClr val="005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ATC模型转换</a:t>
            </a:r>
            <a:endParaRPr sz="32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E49F29-E144-4588-8650-F74A117E083A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D0AE0AE-4A9C-4EBA-84E8-7D2C3B2D6CD7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10363200" cy="4333875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82FCFC2-D0B4-48CD-A0C4-1EB2005174A9}"/>
              </a:ext>
            </a:extLst>
          </p:cNvPr>
          <p:cNvSpPr>
            <a:spLocks noGrp="1"/>
          </p:cNvSpPr>
          <p:nvPr/>
        </p:nvSpPr>
        <p:spPr>
          <a:xfrm>
            <a:off x="1143000" y="2047875"/>
            <a:ext cx="9906000" cy="3419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endParaRPr sz="1350" b="0" dirty="0">
              <a:solidFill>
                <a:srgbClr val="555555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974688C-B7DC-69CA-A21E-99CFBB19B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1532696"/>
            <a:ext cx="6720168" cy="403073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D984ED1-3A6B-C99D-9834-2ABA4EE35E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575" y="2304847"/>
            <a:ext cx="3048425" cy="2905530"/>
          </a:xfrm>
          <a:prstGeom prst="rect">
            <a:avLst/>
          </a:prstGeom>
        </p:spPr>
      </p:pic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42120679-1037-E83A-43AD-99B29CA221D1}"/>
              </a:ext>
            </a:extLst>
          </p:cNvPr>
          <p:cNvSpPr>
            <a:spLocks noGrp="1"/>
          </p:cNvSpPr>
          <p:nvPr/>
        </p:nvSpPr>
        <p:spPr>
          <a:xfrm>
            <a:off x="704850" y="1050925"/>
            <a:ext cx="990600" cy="0"/>
          </a:xfrm>
          <a:prstGeom prst="line">
            <a:avLst/>
          </a:prstGeom>
          <a:solidFill>
            <a:srgbClr val="006FAA"/>
          </a:solidFill>
          <a:ln w="22860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0">
            <a:extLst>
              <a:ext uri="{FF2B5EF4-FFF2-40B4-BE49-F238E27FC236}">
                <a16:creationId xmlns:a16="http://schemas.microsoft.com/office/drawing/2014/main" id="{6BBF5AEF-8723-F580-E847-C6B8C37F78A4}"/>
              </a:ext>
            </a:extLst>
          </p:cNvPr>
          <p:cNvSpPr/>
          <p:nvPr/>
        </p:nvSpPr>
        <p:spPr>
          <a:xfrm>
            <a:off x="318" y="0"/>
            <a:ext cx="12191695" cy="91440"/>
          </a:xfrm>
          <a:prstGeom prst="rect">
            <a:avLst/>
          </a:prstGeom>
          <a:solidFill>
            <a:srgbClr val="3D8DFF"/>
          </a:solidFill>
          <a:ln w="1270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255811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D8CCF68A-733E-4D3D-AE0D-764F02B29C97}"/>
              </a:ext>
            </a:extLst>
          </p:cNvPr>
          <p:cNvSpPr>
            <a:spLocks noGrp="1"/>
          </p:cNvSpPr>
          <p:nvPr/>
        </p:nvSpPr>
        <p:spPr>
          <a:xfrm>
            <a:off x="704850" y="43815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00" b="1">
                <a:solidFill>
                  <a:srgbClr val="005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PyACL端侧推理流程</a:t>
            </a:r>
            <a:endParaRPr sz="32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FF10D2-A711-4958-8A72-84496CCE5805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6C3396B-88AE-40B9-8D40-72DFF0F5A216}"/>
              </a:ext>
            </a:extLst>
          </p:cNvPr>
          <p:cNvSpPr>
            <a:spLocks noGrp="1"/>
          </p:cNvSpPr>
          <p:nvPr/>
        </p:nvSpPr>
        <p:spPr>
          <a:xfrm>
            <a:off x="857250" y="1428750"/>
            <a:ext cx="1809750" cy="609600"/>
          </a:xfrm>
          <a:prstGeom prst="roundRect">
            <a:avLst>
              <a:gd name="adj" fmla="val 15625"/>
            </a:avLst>
          </a:prstGeom>
          <a:solidFill>
            <a:srgbClr val="006FAA"/>
          </a:solidFill>
          <a:ln w="9525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42A45B-072E-4B5E-9E24-4C1489185426}"/>
              </a:ext>
            </a:extLst>
          </p:cNvPr>
          <p:cNvSpPr>
            <a:spLocks noGrp="1"/>
          </p:cNvSpPr>
          <p:nvPr/>
        </p:nvSpPr>
        <p:spPr>
          <a:xfrm>
            <a:off x="952500" y="1552575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acl.init</a:t>
            </a:r>
            <a:endParaRPr sz="20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6C72B06F-6330-4E96-9500-66C1FC4BDDC2}"/>
              </a:ext>
            </a:extLst>
          </p:cNvPr>
          <p:cNvSpPr>
            <a:spLocks noGrp="1"/>
          </p:cNvSpPr>
          <p:nvPr/>
        </p:nvSpPr>
        <p:spPr>
          <a:xfrm>
            <a:off x="2762250" y="1600200"/>
            <a:ext cx="889000" cy="266700"/>
          </a:xfrm>
          <a:prstGeom prst="rightArrow">
            <a:avLst/>
          </a:prstGeom>
          <a:solidFill>
            <a:srgbClr val="ED6D00"/>
          </a:solidFill>
          <a:ln w="15240">
            <a:solidFill>
              <a:srgbClr val="ED6D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0FECC14-29CA-4F48-B49B-82252DE32E2D}"/>
              </a:ext>
            </a:extLst>
          </p:cNvPr>
          <p:cNvSpPr>
            <a:spLocks noGrp="1"/>
          </p:cNvSpPr>
          <p:nvPr/>
        </p:nvSpPr>
        <p:spPr>
          <a:xfrm>
            <a:off x="3746500" y="1428750"/>
            <a:ext cx="1809750" cy="609600"/>
          </a:xfrm>
          <a:prstGeom prst="roundRect">
            <a:avLst>
              <a:gd name="adj" fmla="val 15625"/>
            </a:avLst>
          </a:prstGeom>
          <a:solidFill>
            <a:srgbClr val="ED6D00"/>
          </a:solidFill>
          <a:ln w="9525">
            <a:solidFill>
              <a:srgbClr val="ED6D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1398E73-FB70-4560-8429-087375C87256}"/>
              </a:ext>
            </a:extLst>
          </p:cNvPr>
          <p:cNvSpPr>
            <a:spLocks noGrp="1"/>
          </p:cNvSpPr>
          <p:nvPr/>
        </p:nvSpPr>
        <p:spPr>
          <a:xfrm>
            <a:off x="3841750" y="1552575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>
                <a:solidFill>
                  <a:srgbClr val="FFFFFF"/>
                </a:solidFill>
                <a:latin typeface="Microsoft YaHei"/>
                <a:ea typeface="Microsoft YaHei"/>
              </a:rPr>
              <a:t>set device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847E559A-E86B-497C-BA04-7F4B78F646EF}"/>
              </a:ext>
            </a:extLst>
          </p:cNvPr>
          <p:cNvSpPr>
            <a:spLocks noGrp="1"/>
          </p:cNvSpPr>
          <p:nvPr/>
        </p:nvSpPr>
        <p:spPr>
          <a:xfrm>
            <a:off x="5651500" y="1600200"/>
            <a:ext cx="889000" cy="266700"/>
          </a:xfrm>
          <a:prstGeom prst="rightArrow">
            <a:avLst/>
          </a:prstGeom>
          <a:solidFill>
            <a:srgbClr val="ED6D00"/>
          </a:solidFill>
          <a:ln w="15240">
            <a:solidFill>
              <a:srgbClr val="ED6D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C8B8F13-933B-440F-B73D-E68DC15656B2}"/>
              </a:ext>
            </a:extLst>
          </p:cNvPr>
          <p:cNvSpPr>
            <a:spLocks noGrp="1"/>
          </p:cNvSpPr>
          <p:nvPr/>
        </p:nvSpPr>
        <p:spPr>
          <a:xfrm>
            <a:off x="6635750" y="1428750"/>
            <a:ext cx="1809750" cy="609600"/>
          </a:xfrm>
          <a:prstGeom prst="roundRect">
            <a:avLst>
              <a:gd name="adj" fmla="val 15625"/>
            </a:avLst>
          </a:prstGeom>
          <a:solidFill>
            <a:srgbClr val="62B230"/>
          </a:solidFill>
          <a:ln w="9525">
            <a:solidFill>
              <a:srgbClr val="62B2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8B1EC4F-2493-4C10-A4D6-7CCB34C1A7BC}"/>
              </a:ext>
            </a:extLst>
          </p:cNvPr>
          <p:cNvSpPr>
            <a:spLocks noGrp="1"/>
          </p:cNvSpPr>
          <p:nvPr/>
        </p:nvSpPr>
        <p:spPr>
          <a:xfrm>
            <a:off x="6731000" y="1552575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>
                <a:solidFill>
                  <a:srgbClr val="FFFFFF"/>
                </a:solidFill>
                <a:latin typeface="Microsoft YaHei"/>
                <a:ea typeface="Microsoft YaHei"/>
              </a:rPr>
              <a:t>load OM</a:t>
            </a: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535DEBA9-AA4F-4B51-8E24-0D00D243DC93}"/>
              </a:ext>
            </a:extLst>
          </p:cNvPr>
          <p:cNvSpPr>
            <a:spLocks noGrp="1"/>
          </p:cNvSpPr>
          <p:nvPr/>
        </p:nvSpPr>
        <p:spPr>
          <a:xfrm>
            <a:off x="8540750" y="1600200"/>
            <a:ext cx="889000" cy="266700"/>
          </a:xfrm>
          <a:prstGeom prst="rightArrow">
            <a:avLst/>
          </a:prstGeom>
          <a:solidFill>
            <a:srgbClr val="ED6D00"/>
          </a:solidFill>
          <a:ln w="15240">
            <a:solidFill>
              <a:srgbClr val="ED6D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6764C15-D88C-4BEC-89A5-37B88C845C61}"/>
              </a:ext>
            </a:extLst>
          </p:cNvPr>
          <p:cNvSpPr>
            <a:spLocks noGrp="1"/>
          </p:cNvSpPr>
          <p:nvPr/>
        </p:nvSpPr>
        <p:spPr>
          <a:xfrm>
            <a:off x="9525000" y="1428749"/>
            <a:ext cx="1809750" cy="923926"/>
          </a:xfrm>
          <a:prstGeom prst="roundRect">
            <a:avLst>
              <a:gd name="adj" fmla="val 15625"/>
            </a:avLst>
          </a:prstGeom>
          <a:solidFill>
            <a:srgbClr val="30B5C5"/>
          </a:solidFill>
          <a:ln w="9525">
            <a:solidFill>
              <a:srgbClr val="30B5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C7A35E-F4DE-4E8B-8921-C04A65AFBBCD}"/>
              </a:ext>
            </a:extLst>
          </p:cNvPr>
          <p:cNvSpPr>
            <a:spLocks noGrp="1"/>
          </p:cNvSpPr>
          <p:nvPr/>
        </p:nvSpPr>
        <p:spPr>
          <a:xfrm>
            <a:off x="9620250" y="1552575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>
                <a:solidFill>
                  <a:srgbClr val="FFFFFF"/>
                </a:solidFill>
                <a:latin typeface="Microsoft YaHei"/>
                <a:ea typeface="Microsoft YaHei"/>
              </a:rPr>
              <a:t>create dataset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26B8ED7-8622-429C-9DD1-9060C1C9BFBB}"/>
              </a:ext>
            </a:extLst>
          </p:cNvPr>
          <p:cNvSpPr>
            <a:spLocks noGrp="1"/>
          </p:cNvSpPr>
          <p:nvPr/>
        </p:nvSpPr>
        <p:spPr>
          <a:xfrm>
            <a:off x="857250" y="3524250"/>
            <a:ext cx="1809750" cy="609600"/>
          </a:xfrm>
          <a:prstGeom prst="roundRect">
            <a:avLst>
              <a:gd name="adj" fmla="val 15625"/>
            </a:avLst>
          </a:prstGeom>
          <a:solidFill>
            <a:srgbClr val="7030A0"/>
          </a:solidFill>
          <a:ln w="9525">
            <a:solidFill>
              <a:srgbClr val="7030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0D0B6AD-4533-478F-8FD9-FE666F1E8CEF}"/>
              </a:ext>
            </a:extLst>
          </p:cNvPr>
          <p:cNvSpPr>
            <a:spLocks noGrp="1"/>
          </p:cNvSpPr>
          <p:nvPr/>
        </p:nvSpPr>
        <p:spPr>
          <a:xfrm>
            <a:off x="952500" y="3648075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>
                <a:solidFill>
                  <a:srgbClr val="FFFFFF"/>
                </a:solidFill>
                <a:latin typeface="Microsoft YaHei"/>
                <a:ea typeface="Microsoft YaHei"/>
              </a:rPr>
              <a:t>copy input</a:t>
            </a: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E7D7A8C3-6D89-44E3-A653-954D26D03943}"/>
              </a:ext>
            </a:extLst>
          </p:cNvPr>
          <p:cNvSpPr>
            <a:spLocks noGrp="1"/>
          </p:cNvSpPr>
          <p:nvPr/>
        </p:nvSpPr>
        <p:spPr>
          <a:xfrm>
            <a:off x="2762250" y="3695700"/>
            <a:ext cx="889000" cy="266700"/>
          </a:xfrm>
          <a:prstGeom prst="rightArrow">
            <a:avLst/>
          </a:prstGeom>
          <a:solidFill>
            <a:srgbClr val="ED6D00"/>
          </a:solidFill>
          <a:ln w="15240">
            <a:solidFill>
              <a:srgbClr val="ED6D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6EF914F-BA08-410B-B0D1-8797DCC83894}"/>
              </a:ext>
            </a:extLst>
          </p:cNvPr>
          <p:cNvSpPr>
            <a:spLocks noGrp="1"/>
          </p:cNvSpPr>
          <p:nvPr/>
        </p:nvSpPr>
        <p:spPr>
          <a:xfrm>
            <a:off x="3746500" y="3524249"/>
            <a:ext cx="1809750" cy="931149"/>
          </a:xfrm>
          <a:prstGeom prst="roundRect">
            <a:avLst>
              <a:gd name="adj" fmla="val 15625"/>
            </a:avLst>
          </a:prstGeom>
          <a:solidFill>
            <a:srgbClr val="006FAA"/>
          </a:solidFill>
          <a:ln w="9525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BBE2790-0C74-4EC0-ABE4-9DAF1BE2E2BB}"/>
              </a:ext>
            </a:extLst>
          </p:cNvPr>
          <p:cNvSpPr>
            <a:spLocks noGrp="1"/>
          </p:cNvSpPr>
          <p:nvPr/>
        </p:nvSpPr>
        <p:spPr>
          <a:xfrm>
            <a:off x="3841750" y="3648075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acl.mdl.execute</a:t>
            </a:r>
            <a:endParaRPr sz="20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3AB0B92C-1E62-4F78-9ACC-5472CBF7CE75}"/>
              </a:ext>
            </a:extLst>
          </p:cNvPr>
          <p:cNvSpPr>
            <a:spLocks noGrp="1"/>
          </p:cNvSpPr>
          <p:nvPr/>
        </p:nvSpPr>
        <p:spPr>
          <a:xfrm>
            <a:off x="5651500" y="3695700"/>
            <a:ext cx="889000" cy="266700"/>
          </a:xfrm>
          <a:prstGeom prst="rightArrow">
            <a:avLst/>
          </a:prstGeom>
          <a:solidFill>
            <a:srgbClr val="ED6D00"/>
          </a:solidFill>
          <a:ln w="15240">
            <a:solidFill>
              <a:srgbClr val="ED6D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1AD595BD-5FF7-4777-B637-4516977EC62A}"/>
              </a:ext>
            </a:extLst>
          </p:cNvPr>
          <p:cNvSpPr>
            <a:spLocks noGrp="1"/>
          </p:cNvSpPr>
          <p:nvPr/>
        </p:nvSpPr>
        <p:spPr>
          <a:xfrm>
            <a:off x="6635750" y="3524249"/>
            <a:ext cx="1809750" cy="931149"/>
          </a:xfrm>
          <a:prstGeom prst="roundRect">
            <a:avLst>
              <a:gd name="adj" fmla="val 15625"/>
            </a:avLst>
          </a:prstGeom>
          <a:solidFill>
            <a:srgbClr val="ED6D00"/>
          </a:solidFill>
          <a:ln w="9525">
            <a:solidFill>
              <a:srgbClr val="ED6D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E564344-E728-41CD-B53B-57BBA2B8241C}"/>
              </a:ext>
            </a:extLst>
          </p:cNvPr>
          <p:cNvSpPr>
            <a:spLocks noGrp="1"/>
          </p:cNvSpPr>
          <p:nvPr/>
        </p:nvSpPr>
        <p:spPr>
          <a:xfrm>
            <a:off x="6731000" y="3648075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>
                <a:solidFill>
                  <a:srgbClr val="FFFFFF"/>
                </a:solidFill>
                <a:latin typeface="Microsoft YaHei"/>
                <a:ea typeface="Microsoft YaHei"/>
              </a:rPr>
              <a:t>copy output</a:t>
            </a:r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F5C7D92D-AE9D-41B2-AE48-8ACB2101AC31}"/>
              </a:ext>
            </a:extLst>
          </p:cNvPr>
          <p:cNvSpPr>
            <a:spLocks noGrp="1"/>
          </p:cNvSpPr>
          <p:nvPr/>
        </p:nvSpPr>
        <p:spPr>
          <a:xfrm>
            <a:off x="8540750" y="3695700"/>
            <a:ext cx="889000" cy="266700"/>
          </a:xfrm>
          <a:prstGeom prst="rightArrow">
            <a:avLst/>
          </a:prstGeom>
          <a:solidFill>
            <a:srgbClr val="ED6D00"/>
          </a:solidFill>
          <a:ln w="15240">
            <a:solidFill>
              <a:srgbClr val="ED6D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4C2541A1-060C-4035-B0FB-53C6AA891805}"/>
              </a:ext>
            </a:extLst>
          </p:cNvPr>
          <p:cNvSpPr>
            <a:spLocks noGrp="1"/>
          </p:cNvSpPr>
          <p:nvPr/>
        </p:nvSpPr>
        <p:spPr>
          <a:xfrm>
            <a:off x="9525000" y="3524250"/>
            <a:ext cx="1809750" cy="931148"/>
          </a:xfrm>
          <a:prstGeom prst="roundRect">
            <a:avLst>
              <a:gd name="adj" fmla="val 15625"/>
            </a:avLst>
          </a:prstGeom>
          <a:solidFill>
            <a:srgbClr val="62B230"/>
          </a:solidFill>
          <a:ln w="9525">
            <a:solidFill>
              <a:srgbClr val="62B2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91B0EE7-09D0-4FD6-8F91-DBCC90E05A1A}"/>
              </a:ext>
            </a:extLst>
          </p:cNvPr>
          <p:cNvSpPr>
            <a:spLocks noGrp="1"/>
          </p:cNvSpPr>
          <p:nvPr/>
        </p:nvSpPr>
        <p:spPr>
          <a:xfrm>
            <a:off x="9620250" y="3648075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>
                <a:solidFill>
                  <a:srgbClr val="FFFFFF"/>
                </a:solidFill>
                <a:latin typeface="Microsoft YaHei"/>
                <a:ea typeface="Microsoft YaHei"/>
              </a:rPr>
              <a:t>destroy resources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E51FAB1-2E6C-49FE-9A89-F511935EFB8F}"/>
              </a:ext>
            </a:extLst>
          </p:cNvPr>
          <p:cNvSpPr>
            <a:spLocks noGrp="1"/>
          </p:cNvSpPr>
          <p:nvPr/>
        </p:nvSpPr>
        <p:spPr>
          <a:xfrm>
            <a:off x="952500" y="5334000"/>
            <a:ext cx="1009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00" b="1">
                <a:solidFill>
                  <a:srgbClr val="005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005B7F"/>
                </a:solidFill>
                <a:latin typeface="Microsoft YaHei"/>
                <a:ea typeface="Microsoft YaHei"/>
                <a:cs typeface="Microsoft YaHei"/>
              </a:rPr>
              <a:t>PyACL的角色不是重新训练模型，而是把预处理后的输入张量送入OM模型，并取回YOLO</a:t>
            </a:r>
            <a:r>
              <a:rPr sz="1600" b="1" dirty="0">
                <a:solidFill>
                  <a:srgbClr val="005B7F"/>
                </a:solidFill>
                <a:latin typeface="Microsoft YaHei"/>
                <a:ea typeface="Microsoft YaHei"/>
                <a:cs typeface="Microsoft YaHei"/>
              </a:rPr>
              <a:t> raw output。</a:t>
            </a:r>
          </a:p>
        </p:txBody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2FD40EEA-E875-23A6-6B92-8C4CB19E9434}"/>
              </a:ext>
            </a:extLst>
          </p:cNvPr>
          <p:cNvSpPr>
            <a:spLocks noGrp="1"/>
          </p:cNvSpPr>
          <p:nvPr/>
        </p:nvSpPr>
        <p:spPr>
          <a:xfrm>
            <a:off x="704850" y="1050925"/>
            <a:ext cx="990600" cy="0"/>
          </a:xfrm>
          <a:prstGeom prst="line">
            <a:avLst/>
          </a:prstGeom>
          <a:solidFill>
            <a:srgbClr val="006FAA"/>
          </a:solidFill>
          <a:ln w="22860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0">
            <a:extLst>
              <a:ext uri="{FF2B5EF4-FFF2-40B4-BE49-F238E27FC236}">
                <a16:creationId xmlns:a16="http://schemas.microsoft.com/office/drawing/2014/main" id="{5A27635B-9591-920C-962E-D4A0DCDB380A}"/>
              </a:ext>
            </a:extLst>
          </p:cNvPr>
          <p:cNvSpPr/>
          <p:nvPr/>
        </p:nvSpPr>
        <p:spPr>
          <a:xfrm>
            <a:off x="318" y="0"/>
            <a:ext cx="12191695" cy="91440"/>
          </a:xfrm>
          <a:prstGeom prst="rect">
            <a:avLst/>
          </a:prstGeom>
          <a:solidFill>
            <a:srgbClr val="3D8DFF"/>
          </a:solidFill>
          <a:ln w="1270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16144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948D363F-6141-4927-8B86-0661E137017F}"/>
              </a:ext>
            </a:extLst>
          </p:cNvPr>
          <p:cNvSpPr>
            <a:spLocks noGrp="1"/>
          </p:cNvSpPr>
          <p:nvPr/>
        </p:nvSpPr>
        <p:spPr>
          <a:xfrm>
            <a:off x="704850" y="43815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00" b="1">
                <a:solidFill>
                  <a:srgbClr val="005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PyACL加载OM</a:t>
            </a:r>
            <a:endParaRPr sz="32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7B5D595-DBAF-490C-9F38-78EA1B6FC318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7AD3EAC-5FA4-42FB-87C0-7931DEDF8493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10363200" cy="4333875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ECFE2BA-929C-4CB0-AB45-49536343A3F8}"/>
              </a:ext>
            </a:extLst>
          </p:cNvPr>
          <p:cNvSpPr>
            <a:spLocks noGrp="1"/>
          </p:cNvSpPr>
          <p:nvPr/>
        </p:nvSpPr>
        <p:spPr>
          <a:xfrm>
            <a:off x="1143000" y="1590675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endParaRPr sz="1650" b="1" dirty="0">
              <a:solidFill>
                <a:srgbClr val="C7000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BD8EEF-F95D-46AC-98BA-1838A7C89B8B}"/>
              </a:ext>
            </a:extLst>
          </p:cNvPr>
          <p:cNvSpPr>
            <a:spLocks noGrp="1"/>
          </p:cNvSpPr>
          <p:nvPr/>
        </p:nvSpPr>
        <p:spPr>
          <a:xfrm>
            <a:off x="1143000" y="2047875"/>
            <a:ext cx="9906000" cy="3419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endParaRPr sz="1350" b="0" dirty="0">
              <a:solidFill>
                <a:srgbClr val="555555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488E503-2845-070C-D2FF-7E1034DDC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743075"/>
            <a:ext cx="4915586" cy="166710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A4BF35E-A03E-4BF5-DBCE-4D91F6B75F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757612"/>
            <a:ext cx="4363059" cy="143847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E73737D-7251-FECC-B4BA-FDAABCD36C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9578" y="1743075"/>
            <a:ext cx="4497716" cy="3453013"/>
          </a:xfrm>
          <a:prstGeom prst="rect">
            <a:avLst/>
          </a:prstGeom>
        </p:spPr>
      </p:pic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3B12E02E-90B5-8852-3A12-3D3A45CC043A}"/>
              </a:ext>
            </a:extLst>
          </p:cNvPr>
          <p:cNvSpPr>
            <a:spLocks noGrp="1"/>
          </p:cNvSpPr>
          <p:nvPr/>
        </p:nvSpPr>
        <p:spPr>
          <a:xfrm>
            <a:off x="704850" y="1050925"/>
            <a:ext cx="990600" cy="0"/>
          </a:xfrm>
          <a:prstGeom prst="line">
            <a:avLst/>
          </a:prstGeom>
          <a:solidFill>
            <a:srgbClr val="006FAA"/>
          </a:solidFill>
          <a:ln w="22860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C4EEB975-C7FD-6E94-3838-1DCDB9F21871}"/>
              </a:ext>
            </a:extLst>
          </p:cNvPr>
          <p:cNvSpPr/>
          <p:nvPr/>
        </p:nvSpPr>
        <p:spPr>
          <a:xfrm>
            <a:off x="318" y="0"/>
            <a:ext cx="12191695" cy="91440"/>
          </a:xfrm>
          <a:prstGeom prst="rect">
            <a:avLst/>
          </a:prstGeom>
          <a:solidFill>
            <a:srgbClr val="3D8DFF"/>
          </a:solidFill>
          <a:ln w="1270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6809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8A60DF8E-93B6-4578-800F-E281BB0A6E25}"/>
              </a:ext>
            </a:extLst>
          </p:cNvPr>
          <p:cNvSpPr>
            <a:spLocks noGrp="1"/>
          </p:cNvSpPr>
          <p:nvPr/>
        </p:nvSpPr>
        <p:spPr>
          <a:xfrm>
            <a:off x="704850" y="43815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00" b="1">
                <a:solidFill>
                  <a:srgbClr val="005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YOLO输出解码与候选框整理</a:t>
            </a:r>
            <a:endParaRPr sz="32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224A1E9-144E-4E17-A7AF-9557C1AB6FA2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B0CF71C-E7D5-5AEF-6F85-24870D4533AD}"/>
              </a:ext>
            </a:extLst>
          </p:cNvPr>
          <p:cNvSpPr>
            <a:spLocks noGrp="1"/>
          </p:cNvSpPr>
          <p:nvPr/>
        </p:nvSpPr>
        <p:spPr>
          <a:xfrm>
            <a:off x="857250" y="1428750"/>
            <a:ext cx="3048000" cy="3429000"/>
          </a:xfrm>
          <a:prstGeom prst="roundRect">
            <a:avLst>
              <a:gd name="adj" fmla="val 3125"/>
            </a:avLst>
          </a:prstGeom>
          <a:solidFill>
            <a:srgbClr val="F9ECEB"/>
          </a:solidFill>
          <a:ln w="9525">
            <a:solidFill>
              <a:srgbClr val="E8B6B6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077D863-7F70-6C34-CE19-DB609B839ACA}"/>
              </a:ext>
            </a:extLst>
          </p:cNvPr>
          <p:cNvSpPr>
            <a:spLocks noGrp="1"/>
          </p:cNvSpPr>
          <p:nvPr/>
        </p:nvSpPr>
        <p:spPr>
          <a:xfrm>
            <a:off x="1181100" y="17526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raw output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C95D97B-76A0-88E9-AD17-AF532908AA70}"/>
              </a:ext>
            </a:extLst>
          </p:cNvPr>
          <p:cNvSpPr>
            <a:spLocks noGrp="1"/>
          </p:cNvSpPr>
          <p:nvPr/>
        </p:nvSpPr>
        <p:spPr>
          <a:xfrm>
            <a:off x="1123950" y="2333625"/>
            <a:ext cx="2381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(1, 25200, 85)</a:t>
            </a:r>
          </a:p>
          <a:p>
            <a:endParaRPr sz="1575" b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4维框坐标</a:t>
            </a:r>
          </a:p>
          <a:p>
            <a:pPr algn="ctr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1维objectness</a:t>
            </a:r>
          </a:p>
          <a:p>
            <a:pPr algn="ctr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80维类别分数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B5E7A67-E8A2-AE66-AF73-53F604BF9CBB}"/>
              </a:ext>
            </a:extLst>
          </p:cNvPr>
          <p:cNvSpPr>
            <a:spLocks noGrp="1"/>
          </p:cNvSpPr>
          <p:nvPr/>
        </p:nvSpPr>
        <p:spPr>
          <a:xfrm>
            <a:off x="4762500" y="1428750"/>
            <a:ext cx="6096000" cy="34290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181C767-1B16-5BAD-293F-8516024B7669}"/>
              </a:ext>
            </a:extLst>
          </p:cNvPr>
          <p:cNvSpPr>
            <a:spLocks noGrp="1"/>
          </p:cNvSpPr>
          <p:nvPr/>
        </p:nvSpPr>
        <p:spPr>
          <a:xfrm>
            <a:off x="5095875" y="1857375"/>
            <a:ext cx="52387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1. 将xywh转换为xyxy格式</a:t>
            </a:r>
          </a:p>
          <a:p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2. 计算score = objectness × class_score</a:t>
            </a:r>
          </a:p>
          <a:p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3. 按照score_threshold过滤候选框</a:t>
            </a:r>
          </a:p>
          <a:p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4. 按score降序排序，准备传入NMS</a:t>
            </a:r>
          </a:p>
          <a:p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5. 保存sorted_to_model_index用于结果回映射</a:t>
            </a: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8743EE45-98AD-AC33-976F-9B0CA36D18B3}"/>
              </a:ext>
            </a:extLst>
          </p:cNvPr>
          <p:cNvSpPr>
            <a:spLocks noGrp="1"/>
          </p:cNvSpPr>
          <p:nvPr/>
        </p:nvSpPr>
        <p:spPr>
          <a:xfrm>
            <a:off x="704850" y="1050925"/>
            <a:ext cx="990600" cy="0"/>
          </a:xfrm>
          <a:prstGeom prst="line">
            <a:avLst/>
          </a:prstGeom>
          <a:solidFill>
            <a:srgbClr val="006FAA"/>
          </a:solidFill>
          <a:ln w="22860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D0EC037B-1DB8-C18D-E7E9-8FD7650BC74D}"/>
              </a:ext>
            </a:extLst>
          </p:cNvPr>
          <p:cNvSpPr/>
          <p:nvPr/>
        </p:nvSpPr>
        <p:spPr>
          <a:xfrm>
            <a:off x="318" y="0"/>
            <a:ext cx="12191695" cy="91440"/>
          </a:xfrm>
          <a:prstGeom prst="rect">
            <a:avLst/>
          </a:prstGeom>
          <a:solidFill>
            <a:srgbClr val="3D8DFF"/>
          </a:solidFill>
          <a:ln w="1270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9491482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59EAE-25FD-58AC-AF29-109B0572E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D37CE2A-37C8-B23B-CC96-9072148CD7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背景介绍与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学习目标</a:t>
            </a:r>
          </a:p>
          <a:p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实验环境准备</a:t>
            </a:r>
            <a:endParaRPr lang="en-US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模型转换与 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PyACL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推理</a:t>
            </a: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自定义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NMS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算子开发</a:t>
            </a: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NPU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后处理集成与验证</a:t>
            </a: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sym typeface="+mn-ea"/>
              </a:rPr>
              <a:t>Profiling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sym typeface="+mn-ea"/>
              </a:rPr>
              <a:t>与实验验收</a:t>
            </a: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课后习题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5692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5B959-E635-6CA4-A717-7350CD730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3567A063-B097-9613-1AD6-FD3A6FDF65FA}"/>
              </a:ext>
            </a:extLst>
          </p:cNvPr>
          <p:cNvSpPr>
            <a:spLocks noGrp="1"/>
          </p:cNvSpPr>
          <p:nvPr/>
        </p:nvSpPr>
        <p:spPr>
          <a:xfrm>
            <a:off x="704850" y="43815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00" b="1">
                <a:solidFill>
                  <a:srgbClr val="005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</a:t>
            </a:r>
            <a:r>
              <a:rPr sz="3200" b="1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</a:t>
            </a:r>
            <a:r>
              <a:rPr lang="zh-CN" alt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，它有什么作用</a:t>
            </a:r>
            <a:endParaRPr sz="32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33EC99D-9101-EF81-1B03-8EAF3663A7B3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B9D415AB-A279-7035-92C3-34AAE1518243}"/>
              </a:ext>
            </a:extLst>
          </p:cNvPr>
          <p:cNvSpPr>
            <a:spLocks noGrp="1"/>
          </p:cNvSpPr>
          <p:nvPr/>
        </p:nvSpPr>
        <p:spPr>
          <a:xfrm>
            <a:off x="704850" y="1050925"/>
            <a:ext cx="990600" cy="0"/>
          </a:xfrm>
          <a:prstGeom prst="line">
            <a:avLst/>
          </a:prstGeom>
          <a:solidFill>
            <a:srgbClr val="006FAA"/>
          </a:solidFill>
          <a:ln w="22860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8FC58B8-0847-F486-D477-8491392282D0}"/>
              </a:ext>
            </a:extLst>
          </p:cNvPr>
          <p:cNvSpPr txBox="1"/>
          <p:nvPr/>
        </p:nvSpPr>
        <p:spPr>
          <a:xfrm>
            <a:off x="704850" y="981075"/>
            <a:ext cx="10820400" cy="5034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</a:t>
            </a:r>
            <a:r>
              <a:rPr lang="zh-CN" altLang="zh-CN" b="1" dirty="0"/>
              <a:t>算子</a:t>
            </a:r>
            <a:endParaRPr lang="en-US" altLang="zh-CN" b="1" dirty="0"/>
          </a:p>
          <a:p>
            <a:pPr indent="457200">
              <a:lnSpc>
                <a:spcPct val="150000"/>
              </a:lnSpc>
              <a:buNone/>
            </a:pPr>
            <a:r>
              <a:rPr lang="zh-CN" altLang="zh-CN" dirty="0"/>
              <a:t>可以理解为神经网络或后处理流程中的一个“计算单元”，例如卷积、矩阵乘法、激活函数、Add、Softmax、NMS 等。模型在 NPU 上运行时，并不是把整张网络当成一个黑盒一次性执行，而是由一系列算子按照计算图顺序完成数据计算。官方 Ascend C 文档中也把算子实现拆成 Host 侧 tiling 和 Device 侧 kernel：Host 侧负责根据 shape 等信息规划数据切分，Device 侧 kernel 负责在 AI Core 上真正执行计算。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b="1" dirty="0"/>
              <a:t>2. </a:t>
            </a:r>
            <a:r>
              <a:rPr lang="zh-CN" altLang="zh-CN" b="1" dirty="0"/>
              <a:t>自定义算子</a:t>
            </a:r>
            <a:endParaRPr lang="en-US" altLang="zh-CN" b="1" dirty="0"/>
          </a:p>
          <a:p>
            <a:pPr indent="457200">
              <a:lnSpc>
                <a:spcPct val="150000"/>
              </a:lnSpc>
              <a:buNone/>
            </a:pPr>
            <a:r>
              <a:rPr lang="zh-CN" altLang="zh-CN" dirty="0"/>
              <a:t>CANN 内置算子无法直接满足需求，或者我们想把某段特殊计算逻辑放到 NPU 上执行时，由开发者自己定义输入、输出、属性和 kernel 实现的算子。本实验里的 </a:t>
            </a:r>
            <a:r>
              <a:rPr lang="zh-CN" altLang="zh-CN" dirty="0">
                <a:solidFill>
                  <a:srgbClr val="FF0000"/>
                </a:solidFill>
                <a:latin typeface="Courier New" panose="02070309020205020404" pitchFamily="49" charset="0"/>
              </a:rPr>
              <a:t>YoloNmsCustom</a:t>
            </a:r>
            <a:r>
              <a:rPr lang="zh-CN" altLang="zh-CN" dirty="0">
                <a:solidFill>
                  <a:srgbClr val="FF0000"/>
                </a:solidFill>
              </a:rPr>
              <a:t> </a:t>
            </a:r>
            <a:r>
              <a:rPr lang="zh-CN" altLang="zh-CN" dirty="0"/>
              <a:t>就是一个自定义算子：YOLO OM 模型先输出候选框和分数，原本 NMS 后处理可以在 CPU 上做，但我们用 Ascend C 编写 NMS kernel，通过 </a:t>
            </a:r>
            <a:r>
              <a:rPr lang="zh-CN" altLang="zh-CN" dirty="0">
                <a:latin typeface="Courier New" panose="02070309020205020404" pitchFamily="49" charset="0"/>
              </a:rPr>
              <a:t>msopgen/opc</a:t>
            </a:r>
            <a:r>
              <a:rPr lang="zh-CN" altLang="zh-CN" dirty="0"/>
              <a:t> 编译安装成 custom OPP，再用 ACLNN 接口调用它。它的作用是把 YOLO 后处理中的 NMS 计算从 CPU 卸载到 NPU，使模型推理和关键后处理都能在端侧异构计算链路中完成，并通过 CPU baseline 和 Profiling 验证正确性与耗时。</a:t>
            </a:r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35CA3BE8-4867-5B5D-01D2-780ED6B7F312}"/>
              </a:ext>
            </a:extLst>
          </p:cNvPr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2E86AB"/>
          </a:solidFill>
        </p:spPr>
      </p:sp>
    </p:spTree>
    <p:extLst>
      <p:ext uri="{BB962C8B-B14F-4D97-AF65-F5344CB8AC3E}">
        <p14:creationId xmlns:p14="http://schemas.microsoft.com/office/powerpoint/2010/main" val="3572314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6FA55-5A78-391A-F40B-330904071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45613284-931A-F994-F665-D411D1BC5A70}"/>
              </a:ext>
            </a:extLst>
          </p:cNvPr>
          <p:cNvSpPr>
            <a:spLocks noGrp="1"/>
          </p:cNvSpPr>
          <p:nvPr/>
        </p:nvSpPr>
        <p:spPr>
          <a:xfrm>
            <a:off x="704850" y="43815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00" b="1">
                <a:solidFill>
                  <a:srgbClr val="005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三种自定义算子路线</a:t>
            </a:r>
            <a:r>
              <a:rPr lang="zh-CN" alt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</a:t>
            </a:r>
            <a:endParaRPr sz="32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E09F551-F3DC-617E-6834-70749B176FFE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B84B886-E9BD-B624-A3A6-648CFB6AAC03}"/>
              </a:ext>
            </a:extLst>
          </p:cNvPr>
          <p:cNvSpPr>
            <a:spLocks noGrp="1"/>
          </p:cNvSpPr>
          <p:nvPr/>
        </p:nvSpPr>
        <p:spPr>
          <a:xfrm>
            <a:off x="647700" y="1428750"/>
            <a:ext cx="1524000" cy="914400"/>
          </a:xfrm>
          <a:prstGeom prst="rect">
            <a:avLst/>
          </a:prstGeom>
          <a:solidFill>
            <a:srgbClr val="F9ECEB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6569CA-C938-473B-BE10-05C0052FE5AB}"/>
              </a:ext>
            </a:extLst>
          </p:cNvPr>
          <p:cNvSpPr>
            <a:spLocks noGrp="1"/>
          </p:cNvSpPr>
          <p:nvPr/>
        </p:nvSpPr>
        <p:spPr>
          <a:xfrm>
            <a:off x="762000" y="1514475"/>
            <a:ext cx="1295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路线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2491D01-85B2-9F18-33B2-EE74B37B77AD}"/>
              </a:ext>
            </a:extLst>
          </p:cNvPr>
          <p:cNvSpPr>
            <a:spLocks noGrp="1"/>
          </p:cNvSpPr>
          <p:nvPr/>
        </p:nvSpPr>
        <p:spPr>
          <a:xfrm>
            <a:off x="2171700" y="1428750"/>
            <a:ext cx="4953000" cy="914400"/>
          </a:xfrm>
          <a:prstGeom prst="rect">
            <a:avLst/>
          </a:prstGeom>
          <a:solidFill>
            <a:srgbClr val="F9ECEB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A431751-64BA-2488-3D2F-B471609B520E}"/>
              </a:ext>
            </a:extLst>
          </p:cNvPr>
          <p:cNvSpPr>
            <a:spLocks noGrp="1"/>
          </p:cNvSpPr>
          <p:nvPr/>
        </p:nvSpPr>
        <p:spPr>
          <a:xfrm>
            <a:off x="2286000" y="1514475"/>
            <a:ext cx="4724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主要用途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A0F266E-B94F-964B-3A6C-9D59B146316D}"/>
              </a:ext>
            </a:extLst>
          </p:cNvPr>
          <p:cNvSpPr>
            <a:spLocks noGrp="1"/>
          </p:cNvSpPr>
          <p:nvPr/>
        </p:nvSpPr>
        <p:spPr>
          <a:xfrm>
            <a:off x="7124700" y="1428750"/>
            <a:ext cx="4000500" cy="914400"/>
          </a:xfrm>
          <a:prstGeom prst="rect">
            <a:avLst/>
          </a:prstGeom>
          <a:solidFill>
            <a:srgbClr val="F9ECEB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849D63-9D69-D460-8208-9EABCF9C2C4A}"/>
              </a:ext>
            </a:extLst>
          </p:cNvPr>
          <p:cNvSpPr>
            <a:spLocks noGrp="1"/>
          </p:cNvSpPr>
          <p:nvPr/>
        </p:nvSpPr>
        <p:spPr>
          <a:xfrm>
            <a:off x="7239000" y="1514475"/>
            <a:ext cx="3771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本实验定位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5179264-056B-B132-DBE8-1FF1A2A4B8F7}"/>
              </a:ext>
            </a:extLst>
          </p:cNvPr>
          <p:cNvSpPr>
            <a:spLocks noGrp="1"/>
          </p:cNvSpPr>
          <p:nvPr/>
        </p:nvSpPr>
        <p:spPr>
          <a:xfrm>
            <a:off x="647700" y="2343150"/>
            <a:ext cx="1524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4D05C0-6E75-19AA-BF86-D57D4137DE8F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1295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Ascend C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74DE60-A531-02A1-AD20-5473D0225167}"/>
              </a:ext>
            </a:extLst>
          </p:cNvPr>
          <p:cNvSpPr>
            <a:spLocks noGrp="1"/>
          </p:cNvSpPr>
          <p:nvPr/>
        </p:nvSpPr>
        <p:spPr>
          <a:xfrm>
            <a:off x="2171700" y="2343150"/>
            <a:ext cx="4953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8A9A2C0-59BE-C7A7-0D6C-1DBC8B2C7023}"/>
              </a:ext>
            </a:extLst>
          </p:cNvPr>
          <p:cNvSpPr>
            <a:spLocks noGrp="1"/>
          </p:cNvSpPr>
          <p:nvPr/>
        </p:nvSpPr>
        <p:spPr>
          <a:xfrm>
            <a:off x="2286000" y="2428875"/>
            <a:ext cx="4724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面向AI</a:t>
            </a:r>
            <a:r>
              <a:rPr sz="12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Core的底层自定义算子开发，控制kernel、tiling和工程打包</a:t>
            </a:r>
            <a:endParaRPr sz="1200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10109B7-3382-F670-8DEC-99CCED56CBD1}"/>
              </a:ext>
            </a:extLst>
          </p:cNvPr>
          <p:cNvSpPr>
            <a:spLocks noGrp="1"/>
          </p:cNvSpPr>
          <p:nvPr/>
        </p:nvSpPr>
        <p:spPr>
          <a:xfrm>
            <a:off x="7124700" y="2343150"/>
            <a:ext cx="4000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7C5A3F7-1724-3F08-AD67-3070B7E7987A}"/>
              </a:ext>
            </a:extLst>
          </p:cNvPr>
          <p:cNvSpPr>
            <a:spLocks noGrp="1"/>
          </p:cNvSpPr>
          <p:nvPr/>
        </p:nvSpPr>
        <p:spPr>
          <a:xfrm>
            <a:off x="7239000" y="2428875"/>
            <a:ext cx="3771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主线实现并验证YoloNmsCustom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255D991-DC6B-AC3A-5114-1AD4E0A54A26}"/>
              </a:ext>
            </a:extLst>
          </p:cNvPr>
          <p:cNvSpPr>
            <a:spLocks noGrp="1"/>
          </p:cNvSpPr>
          <p:nvPr/>
        </p:nvSpPr>
        <p:spPr>
          <a:xfrm>
            <a:off x="647700" y="3257550"/>
            <a:ext cx="1524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D62CA97-9AE0-D9D3-2903-030BED5A31C6}"/>
              </a:ext>
            </a:extLst>
          </p:cNvPr>
          <p:cNvSpPr>
            <a:spLocks noGrp="1"/>
          </p:cNvSpPr>
          <p:nvPr/>
        </p:nvSpPr>
        <p:spPr>
          <a:xfrm>
            <a:off x="762000" y="3343275"/>
            <a:ext cx="1295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PyPTO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EE00160-5832-0F53-EC20-4B50A96B0617}"/>
              </a:ext>
            </a:extLst>
          </p:cNvPr>
          <p:cNvSpPr>
            <a:spLocks noGrp="1"/>
          </p:cNvSpPr>
          <p:nvPr/>
        </p:nvSpPr>
        <p:spPr>
          <a:xfrm>
            <a:off x="2171700" y="3257550"/>
            <a:ext cx="4953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B1670EA-7F3F-D93A-1F70-18F39C5EB099}"/>
              </a:ext>
            </a:extLst>
          </p:cNvPr>
          <p:cNvSpPr>
            <a:spLocks noGrp="1"/>
          </p:cNvSpPr>
          <p:nvPr/>
        </p:nvSpPr>
        <p:spPr>
          <a:xfrm>
            <a:off x="2286000" y="3343275"/>
            <a:ext cx="4724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Python侧更高层的原型开发路线，适合探索和快速表达算子逻辑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04265B0-141F-6BBB-3D3A-F89224283EE2}"/>
              </a:ext>
            </a:extLst>
          </p:cNvPr>
          <p:cNvSpPr>
            <a:spLocks noGrp="1"/>
          </p:cNvSpPr>
          <p:nvPr/>
        </p:nvSpPr>
        <p:spPr>
          <a:xfrm>
            <a:off x="7124700" y="3257550"/>
            <a:ext cx="4000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906DA9E-1D0C-35A2-5DD3-2C1D7DE3D68E}"/>
              </a:ext>
            </a:extLst>
          </p:cNvPr>
          <p:cNvSpPr>
            <a:spLocks noGrp="1"/>
          </p:cNvSpPr>
          <p:nvPr/>
        </p:nvSpPr>
        <p:spPr>
          <a:xfrm>
            <a:off x="7239000" y="3343275"/>
            <a:ext cx="3771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由于</a:t>
            </a:r>
            <a:r>
              <a:rPr lang="en-US" altLang="zh-CN" sz="120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npu</a:t>
            </a:r>
            <a:r>
              <a:rPr lang="zh-CN" altLang="en-US" sz="120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型号及现有环境冲突，</a:t>
            </a:r>
            <a:r>
              <a:rPr sz="12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作为可选路线介绍，不作为本次验收主线</a:t>
            </a:r>
            <a:endParaRPr sz="1200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F42B98C-0F81-96C7-9721-2F5BAF83B167}"/>
              </a:ext>
            </a:extLst>
          </p:cNvPr>
          <p:cNvSpPr>
            <a:spLocks noGrp="1"/>
          </p:cNvSpPr>
          <p:nvPr/>
        </p:nvSpPr>
        <p:spPr>
          <a:xfrm>
            <a:off x="647700" y="4171950"/>
            <a:ext cx="1524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58E7643-728D-A003-9419-481F65FF3297}"/>
              </a:ext>
            </a:extLst>
          </p:cNvPr>
          <p:cNvSpPr>
            <a:spLocks noGrp="1"/>
          </p:cNvSpPr>
          <p:nvPr/>
        </p:nvSpPr>
        <p:spPr>
          <a:xfrm>
            <a:off x="762000" y="4257675"/>
            <a:ext cx="1295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TileLang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7A5DBE7-37DC-7F7D-045E-2E9691DB2FBB}"/>
              </a:ext>
            </a:extLst>
          </p:cNvPr>
          <p:cNvSpPr>
            <a:spLocks noGrp="1"/>
          </p:cNvSpPr>
          <p:nvPr/>
        </p:nvSpPr>
        <p:spPr>
          <a:xfrm>
            <a:off x="2171700" y="4171950"/>
            <a:ext cx="4953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9437773-2DC6-88D0-C157-EB20AFC51EB4}"/>
              </a:ext>
            </a:extLst>
          </p:cNvPr>
          <p:cNvSpPr>
            <a:spLocks noGrp="1"/>
          </p:cNvSpPr>
          <p:nvPr/>
        </p:nvSpPr>
        <p:spPr>
          <a:xfrm>
            <a:off x="2286000" y="4257675"/>
            <a:ext cx="4724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面向tile/调度表达的算子探索路线，适合研究不同调度策略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E0C72F4-AD34-01B2-59DB-FF31D45F1EE7}"/>
              </a:ext>
            </a:extLst>
          </p:cNvPr>
          <p:cNvSpPr>
            <a:spLocks noGrp="1"/>
          </p:cNvSpPr>
          <p:nvPr/>
        </p:nvSpPr>
        <p:spPr>
          <a:xfrm>
            <a:off x="7124700" y="4171950"/>
            <a:ext cx="4000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355BC51-2D39-D0F8-ADC0-D57E32A4D1D5}"/>
              </a:ext>
            </a:extLst>
          </p:cNvPr>
          <p:cNvSpPr>
            <a:spLocks noGrp="1"/>
          </p:cNvSpPr>
          <p:nvPr/>
        </p:nvSpPr>
        <p:spPr>
          <a:xfrm>
            <a:off x="7239000" y="4257675"/>
            <a:ext cx="3771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由于</a:t>
            </a:r>
            <a:r>
              <a:rPr lang="en-US" altLang="zh-CN" sz="120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npu</a:t>
            </a:r>
            <a:r>
              <a:rPr lang="zh-CN" altLang="en-US" sz="120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型号及现有环境冲突。</a:t>
            </a:r>
            <a:r>
              <a:rPr sz="12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作为可选路线介绍，不替代Ascend</a:t>
            </a:r>
            <a:r>
              <a:rPr sz="12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C验收</a:t>
            </a:r>
            <a:endParaRPr sz="1200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858AD43D-6551-CBCD-4F4C-34ECC3CD4F27}"/>
              </a:ext>
            </a:extLst>
          </p:cNvPr>
          <p:cNvSpPr>
            <a:spLocks noGrp="1"/>
          </p:cNvSpPr>
          <p:nvPr/>
        </p:nvSpPr>
        <p:spPr>
          <a:xfrm>
            <a:off x="704850" y="1050925"/>
            <a:ext cx="990600" cy="0"/>
          </a:xfrm>
          <a:prstGeom prst="line">
            <a:avLst/>
          </a:prstGeom>
          <a:solidFill>
            <a:srgbClr val="006FAA"/>
          </a:solidFill>
          <a:ln w="22860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0">
            <a:extLst>
              <a:ext uri="{FF2B5EF4-FFF2-40B4-BE49-F238E27FC236}">
                <a16:creationId xmlns:a16="http://schemas.microsoft.com/office/drawing/2014/main" id="{A929B6B5-36E4-F62D-F70B-E57B1F7065CD}"/>
              </a:ext>
            </a:extLst>
          </p:cNvPr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2E86AB"/>
          </a:solidFill>
        </p:spPr>
      </p:sp>
    </p:spTree>
    <p:extLst>
      <p:ext uri="{BB962C8B-B14F-4D97-AF65-F5344CB8AC3E}">
        <p14:creationId xmlns:p14="http://schemas.microsoft.com/office/powerpoint/2010/main" val="21956919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8793B-3212-86DD-AE28-2DE1D55D9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26333CE8-3907-EFB7-137E-D2F7F33B34B8}"/>
              </a:ext>
            </a:extLst>
          </p:cNvPr>
          <p:cNvSpPr>
            <a:spLocks noGrp="1"/>
          </p:cNvSpPr>
          <p:nvPr/>
        </p:nvSpPr>
        <p:spPr>
          <a:xfrm>
            <a:off x="704850" y="43815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00" b="1">
                <a:solidFill>
                  <a:srgbClr val="005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Ascend </a:t>
            </a:r>
            <a:r>
              <a:rPr sz="3200" b="1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C自定义算子完整开发流程</a:t>
            </a:r>
            <a:endParaRPr sz="32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378B64F-47D2-E628-1AF5-300A949C3FBE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A64C853-0108-1F5C-E611-AF280C99220F}"/>
              </a:ext>
            </a:extLst>
          </p:cNvPr>
          <p:cNvSpPr>
            <a:spLocks noGrp="1"/>
          </p:cNvSpPr>
          <p:nvPr/>
        </p:nvSpPr>
        <p:spPr>
          <a:xfrm>
            <a:off x="857250" y="1428750"/>
            <a:ext cx="1809750" cy="609600"/>
          </a:xfrm>
          <a:prstGeom prst="roundRect">
            <a:avLst>
              <a:gd name="adj" fmla="val 15625"/>
            </a:avLst>
          </a:prstGeom>
          <a:solidFill>
            <a:srgbClr val="006FAA"/>
          </a:solidFill>
          <a:ln w="14288">
            <a:noFill/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E07DEA-ADC9-21CC-30FE-7294F64F256B}"/>
              </a:ext>
            </a:extLst>
          </p:cNvPr>
          <p:cNvSpPr>
            <a:spLocks noGrp="1"/>
          </p:cNvSpPr>
          <p:nvPr/>
        </p:nvSpPr>
        <p:spPr>
          <a:xfrm>
            <a:off x="952500" y="1552575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编写IR</a:t>
            </a:r>
            <a:r>
              <a:rPr sz="1600" b="1" dirty="0">
                <a:solidFill>
                  <a:srgbClr val="FFFFFF"/>
                </a:solidFill>
                <a:latin typeface="Microsoft YaHei"/>
                <a:ea typeface="Microsoft YaHei"/>
              </a:rPr>
              <a:t> JSON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D68F67F1-DA5C-03C2-258D-AA6A23ECFB48}"/>
              </a:ext>
            </a:extLst>
          </p:cNvPr>
          <p:cNvSpPr>
            <a:spLocks noGrp="1"/>
          </p:cNvSpPr>
          <p:nvPr/>
        </p:nvSpPr>
        <p:spPr>
          <a:xfrm>
            <a:off x="2762250" y="1600200"/>
            <a:ext cx="889000" cy="266700"/>
          </a:xfrm>
          <a:prstGeom prst="rightArrow">
            <a:avLst/>
          </a:prstGeom>
          <a:solidFill>
            <a:srgbClr val="C7000B"/>
          </a:solidFill>
          <a:ln w="0">
            <a:solidFill>
              <a:srgbClr val="C7000B"/>
            </a:solidFill>
            <a:prstDash val="solid"/>
          </a:ln>
        </p:spPr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D093F11-DDFF-C749-ACB1-E93741BCC0B7}"/>
              </a:ext>
            </a:extLst>
          </p:cNvPr>
          <p:cNvSpPr>
            <a:spLocks noGrp="1"/>
          </p:cNvSpPr>
          <p:nvPr/>
        </p:nvSpPr>
        <p:spPr>
          <a:xfrm>
            <a:off x="3746500" y="1428750"/>
            <a:ext cx="1809750" cy="609600"/>
          </a:xfrm>
          <a:prstGeom prst="roundRect">
            <a:avLst>
              <a:gd name="adj" fmla="val 15625"/>
            </a:avLst>
          </a:prstGeom>
          <a:solidFill>
            <a:srgbClr val="30B5C5"/>
          </a:solidFill>
          <a:ln w="14288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D24FDA9-FBD7-AE1A-B28E-12E462BE831A}"/>
              </a:ext>
            </a:extLst>
          </p:cNvPr>
          <p:cNvSpPr>
            <a:spLocks noGrp="1"/>
          </p:cNvSpPr>
          <p:nvPr/>
        </p:nvSpPr>
        <p:spPr>
          <a:xfrm>
            <a:off x="3841750" y="1552575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msopgen</a:t>
            </a:r>
            <a:r>
              <a:rPr sz="1600" b="1" dirty="0">
                <a:solidFill>
                  <a:srgbClr val="FFFFFF"/>
                </a:solidFill>
                <a:latin typeface="Microsoft YaHei"/>
                <a:ea typeface="Microsoft YaHei"/>
              </a:rPr>
              <a:t> gen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4196655C-C51E-6054-AE1D-12055341A57E}"/>
              </a:ext>
            </a:extLst>
          </p:cNvPr>
          <p:cNvSpPr>
            <a:spLocks noGrp="1"/>
          </p:cNvSpPr>
          <p:nvPr/>
        </p:nvSpPr>
        <p:spPr>
          <a:xfrm>
            <a:off x="5651500" y="1600200"/>
            <a:ext cx="889000" cy="266700"/>
          </a:xfrm>
          <a:prstGeom prst="rightArrow">
            <a:avLst/>
          </a:prstGeom>
          <a:solidFill>
            <a:srgbClr val="C7000B"/>
          </a:solidFill>
          <a:ln w="0">
            <a:solidFill>
              <a:srgbClr val="C7000B"/>
            </a:solidFill>
            <a:prstDash val="solid"/>
          </a:ln>
        </p:spPr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1583167-1B8E-A8B0-3D2D-41AE7145C9FE}"/>
              </a:ext>
            </a:extLst>
          </p:cNvPr>
          <p:cNvSpPr>
            <a:spLocks noGrp="1"/>
          </p:cNvSpPr>
          <p:nvPr/>
        </p:nvSpPr>
        <p:spPr>
          <a:xfrm>
            <a:off x="6635750" y="1428750"/>
            <a:ext cx="1809750" cy="609600"/>
          </a:xfrm>
          <a:prstGeom prst="roundRect">
            <a:avLst>
              <a:gd name="adj" fmla="val 15625"/>
            </a:avLst>
          </a:prstGeom>
          <a:solidFill>
            <a:srgbClr val="62B230"/>
          </a:solidFill>
          <a:ln w="14288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814109C-2F63-1CCF-3F0C-49FF23E02720}"/>
              </a:ext>
            </a:extLst>
          </p:cNvPr>
          <p:cNvSpPr>
            <a:spLocks noGrp="1"/>
          </p:cNvSpPr>
          <p:nvPr/>
        </p:nvSpPr>
        <p:spPr>
          <a:xfrm>
            <a:off x="6731000" y="1552575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生成工程</a:t>
            </a:r>
            <a:endParaRPr sz="16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1326E270-730F-2825-A05E-C346C02AAA4C}"/>
              </a:ext>
            </a:extLst>
          </p:cNvPr>
          <p:cNvSpPr>
            <a:spLocks noGrp="1"/>
          </p:cNvSpPr>
          <p:nvPr/>
        </p:nvSpPr>
        <p:spPr>
          <a:xfrm>
            <a:off x="8540750" y="1600200"/>
            <a:ext cx="889000" cy="266700"/>
          </a:xfrm>
          <a:prstGeom prst="rightArrow">
            <a:avLst/>
          </a:prstGeom>
          <a:solidFill>
            <a:srgbClr val="C7000B"/>
          </a:solidFill>
          <a:ln w="0">
            <a:solidFill>
              <a:srgbClr val="C7000B"/>
            </a:solidFill>
            <a:prstDash val="solid"/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95921AE-2314-EEB8-0850-E2D5A1F930D2}"/>
              </a:ext>
            </a:extLst>
          </p:cNvPr>
          <p:cNvSpPr>
            <a:spLocks noGrp="1"/>
          </p:cNvSpPr>
          <p:nvPr/>
        </p:nvSpPr>
        <p:spPr>
          <a:xfrm>
            <a:off x="9525000" y="1428750"/>
            <a:ext cx="1809750" cy="609600"/>
          </a:xfrm>
          <a:prstGeom prst="roundRect">
            <a:avLst>
              <a:gd name="adj" fmla="val 15625"/>
            </a:avLst>
          </a:prstGeom>
          <a:solidFill>
            <a:srgbClr val="ED6D00"/>
          </a:solidFill>
          <a:ln w="14288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7DB1C0-FC38-5B55-5797-76E06B07AE7B}"/>
              </a:ext>
            </a:extLst>
          </p:cNvPr>
          <p:cNvSpPr>
            <a:spLocks noGrp="1"/>
          </p:cNvSpPr>
          <p:nvPr/>
        </p:nvSpPr>
        <p:spPr>
          <a:xfrm>
            <a:off x="9525000" y="1552575"/>
            <a:ext cx="1809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修改CANN路径</a:t>
            </a:r>
            <a:endParaRPr sz="16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B304F3A-8543-985C-CC72-EDD934585C28}"/>
              </a:ext>
            </a:extLst>
          </p:cNvPr>
          <p:cNvSpPr>
            <a:spLocks noGrp="1"/>
          </p:cNvSpPr>
          <p:nvPr/>
        </p:nvSpPr>
        <p:spPr>
          <a:xfrm>
            <a:off x="857250" y="3333750"/>
            <a:ext cx="1809750" cy="609600"/>
          </a:xfrm>
          <a:prstGeom prst="roundRect">
            <a:avLst>
              <a:gd name="adj" fmla="val 15625"/>
            </a:avLst>
          </a:prstGeom>
          <a:solidFill>
            <a:srgbClr val="30B5C5"/>
          </a:solidFill>
          <a:ln w="14288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DF5E52C-C818-5FAD-CF4A-9A18BE59DBDE}"/>
              </a:ext>
            </a:extLst>
          </p:cNvPr>
          <p:cNvSpPr>
            <a:spLocks noGrp="1"/>
          </p:cNvSpPr>
          <p:nvPr/>
        </p:nvSpPr>
        <p:spPr>
          <a:xfrm>
            <a:off x="952500" y="3457575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开发op_host</a:t>
            </a:r>
            <a:endParaRPr sz="16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21B7D093-A27A-6A5E-5A91-C2D7D0CC7AD4}"/>
              </a:ext>
            </a:extLst>
          </p:cNvPr>
          <p:cNvSpPr>
            <a:spLocks noGrp="1"/>
          </p:cNvSpPr>
          <p:nvPr/>
        </p:nvSpPr>
        <p:spPr>
          <a:xfrm>
            <a:off x="2762250" y="3505200"/>
            <a:ext cx="889000" cy="266700"/>
          </a:xfrm>
          <a:prstGeom prst="rightArrow">
            <a:avLst/>
          </a:prstGeom>
          <a:solidFill>
            <a:srgbClr val="C7000B"/>
          </a:solidFill>
          <a:ln w="0">
            <a:solidFill>
              <a:srgbClr val="C7000B"/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A78E6D4-1F4B-224D-B9B3-68D0B7994757}"/>
              </a:ext>
            </a:extLst>
          </p:cNvPr>
          <p:cNvSpPr>
            <a:spLocks noGrp="1"/>
          </p:cNvSpPr>
          <p:nvPr/>
        </p:nvSpPr>
        <p:spPr>
          <a:xfrm>
            <a:off x="3746500" y="3333750"/>
            <a:ext cx="1809750" cy="609600"/>
          </a:xfrm>
          <a:prstGeom prst="roundRect">
            <a:avLst>
              <a:gd name="adj" fmla="val 15625"/>
            </a:avLst>
          </a:prstGeom>
          <a:solidFill>
            <a:srgbClr val="62B230"/>
          </a:solidFill>
          <a:ln w="14288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4023FFD-ABBF-745D-8038-685F5818FEF8}"/>
              </a:ext>
            </a:extLst>
          </p:cNvPr>
          <p:cNvSpPr>
            <a:spLocks noGrp="1"/>
          </p:cNvSpPr>
          <p:nvPr/>
        </p:nvSpPr>
        <p:spPr>
          <a:xfrm>
            <a:off x="3841750" y="3457575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开发op_kernel</a:t>
            </a:r>
            <a:endParaRPr sz="16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5C2D854C-6CDC-3851-AD56-61C58A3D2FFD}"/>
              </a:ext>
            </a:extLst>
          </p:cNvPr>
          <p:cNvSpPr>
            <a:spLocks noGrp="1"/>
          </p:cNvSpPr>
          <p:nvPr/>
        </p:nvSpPr>
        <p:spPr>
          <a:xfrm>
            <a:off x="5651500" y="3505200"/>
            <a:ext cx="889000" cy="266700"/>
          </a:xfrm>
          <a:prstGeom prst="rightArrow">
            <a:avLst/>
          </a:prstGeom>
          <a:solidFill>
            <a:srgbClr val="C7000B"/>
          </a:solidFill>
          <a:ln w="0">
            <a:solidFill>
              <a:srgbClr val="C7000B"/>
            </a:solidFill>
            <a:prstDash val="solid"/>
          </a:ln>
        </p:spPr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C708660-B732-828A-B503-67D04CA1F8B2}"/>
              </a:ext>
            </a:extLst>
          </p:cNvPr>
          <p:cNvSpPr>
            <a:spLocks noGrp="1"/>
          </p:cNvSpPr>
          <p:nvPr/>
        </p:nvSpPr>
        <p:spPr>
          <a:xfrm>
            <a:off x="6635750" y="3333750"/>
            <a:ext cx="1809750" cy="609600"/>
          </a:xfrm>
          <a:prstGeom prst="roundRect">
            <a:avLst>
              <a:gd name="adj" fmla="val 15625"/>
            </a:avLst>
          </a:prstGeom>
          <a:solidFill>
            <a:srgbClr val="ED6D00"/>
          </a:solidFill>
          <a:ln w="14288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6A7DC3F-77D7-18FA-7F34-C1BC7A27E31D}"/>
              </a:ext>
            </a:extLst>
          </p:cNvPr>
          <p:cNvSpPr>
            <a:spLocks noGrp="1"/>
          </p:cNvSpPr>
          <p:nvPr/>
        </p:nvSpPr>
        <p:spPr>
          <a:xfrm>
            <a:off x="6731000" y="3457575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build.sh打包</a:t>
            </a:r>
            <a:endParaRPr sz="16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264982A2-0A30-1491-5909-FA57631A6E9D}"/>
              </a:ext>
            </a:extLst>
          </p:cNvPr>
          <p:cNvSpPr>
            <a:spLocks noGrp="1"/>
          </p:cNvSpPr>
          <p:nvPr/>
        </p:nvSpPr>
        <p:spPr>
          <a:xfrm>
            <a:off x="8540750" y="3505200"/>
            <a:ext cx="889000" cy="266700"/>
          </a:xfrm>
          <a:prstGeom prst="rightArrow">
            <a:avLst/>
          </a:prstGeom>
          <a:solidFill>
            <a:srgbClr val="C7000B"/>
          </a:solidFill>
          <a:ln w="0">
            <a:solidFill>
              <a:srgbClr val="C7000B"/>
            </a:solidFill>
            <a:prstDash val="solid"/>
          </a:ln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4221305-84C6-FF66-7930-B8E7860F5E66}"/>
              </a:ext>
            </a:extLst>
          </p:cNvPr>
          <p:cNvSpPr>
            <a:spLocks noGrp="1"/>
          </p:cNvSpPr>
          <p:nvPr/>
        </p:nvSpPr>
        <p:spPr>
          <a:xfrm>
            <a:off x="9525000" y="3330106"/>
            <a:ext cx="1809750" cy="609600"/>
          </a:xfrm>
          <a:prstGeom prst="roundRect">
            <a:avLst>
              <a:gd name="adj" fmla="val 15625"/>
            </a:avLst>
          </a:prstGeom>
          <a:solidFill>
            <a:srgbClr val="006FAA"/>
          </a:solidFill>
          <a:ln w="14288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022E9C9-3E08-DCF7-7D9B-3D8CA6AFD037}"/>
              </a:ext>
            </a:extLst>
          </p:cNvPr>
          <p:cNvSpPr>
            <a:spLocks noGrp="1"/>
          </p:cNvSpPr>
          <p:nvPr/>
        </p:nvSpPr>
        <p:spPr>
          <a:xfrm>
            <a:off x="9620250" y="3347686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安装custom</a:t>
            </a:r>
            <a:r>
              <a:rPr sz="1600" b="1" dirty="0">
                <a:solidFill>
                  <a:srgbClr val="FFFFFF"/>
                </a:solidFill>
                <a:latin typeface="Microsoft YaHei"/>
                <a:ea typeface="Microsoft YaHei"/>
              </a:rPr>
              <a:t> OPP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D4E5D21-2C23-995A-361B-5C672DB31B20}"/>
              </a:ext>
            </a:extLst>
          </p:cNvPr>
          <p:cNvSpPr>
            <a:spLocks noGrp="1"/>
          </p:cNvSpPr>
          <p:nvPr/>
        </p:nvSpPr>
        <p:spPr>
          <a:xfrm>
            <a:off x="857250" y="5238750"/>
            <a:ext cx="1809750" cy="609600"/>
          </a:xfrm>
          <a:prstGeom prst="roundRect">
            <a:avLst>
              <a:gd name="adj" fmla="val 15625"/>
            </a:avLst>
          </a:prstGeom>
          <a:solidFill>
            <a:srgbClr val="62B230"/>
          </a:solidFill>
          <a:ln w="14288">
            <a:noFill/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B0C3C65-21B2-7B0E-49A6-7A4F2ECE527E}"/>
              </a:ext>
            </a:extLst>
          </p:cNvPr>
          <p:cNvSpPr>
            <a:spLocks noGrp="1"/>
          </p:cNvSpPr>
          <p:nvPr/>
        </p:nvSpPr>
        <p:spPr>
          <a:xfrm>
            <a:off x="952500" y="5249106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生成ACLNN头文件</a:t>
            </a:r>
            <a:endParaRPr sz="16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823AC8CB-9A18-D0E6-1BF6-4AE51CF41CB2}"/>
              </a:ext>
            </a:extLst>
          </p:cNvPr>
          <p:cNvSpPr>
            <a:spLocks noGrp="1"/>
          </p:cNvSpPr>
          <p:nvPr/>
        </p:nvSpPr>
        <p:spPr>
          <a:xfrm>
            <a:off x="2762250" y="5410200"/>
            <a:ext cx="889000" cy="266700"/>
          </a:xfrm>
          <a:prstGeom prst="rightArrow">
            <a:avLst/>
          </a:prstGeom>
          <a:solidFill>
            <a:srgbClr val="C7000B"/>
          </a:solidFill>
          <a:ln w="0">
            <a:solidFill>
              <a:srgbClr val="C7000B"/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7B6FE278-8286-CC42-007D-A39371C6D294}"/>
              </a:ext>
            </a:extLst>
          </p:cNvPr>
          <p:cNvSpPr>
            <a:spLocks noGrp="1"/>
          </p:cNvSpPr>
          <p:nvPr/>
        </p:nvSpPr>
        <p:spPr>
          <a:xfrm>
            <a:off x="3746500" y="5238750"/>
            <a:ext cx="1809750" cy="609600"/>
          </a:xfrm>
          <a:prstGeom prst="roundRect">
            <a:avLst>
              <a:gd name="adj" fmla="val 15625"/>
            </a:avLst>
          </a:prstGeom>
          <a:solidFill>
            <a:srgbClr val="ED6D00"/>
          </a:solidFill>
          <a:ln w="14288">
            <a:noFill/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7401884-EC0F-3C22-659A-E4509B90416C}"/>
              </a:ext>
            </a:extLst>
          </p:cNvPr>
          <p:cNvSpPr>
            <a:spLocks noGrp="1"/>
          </p:cNvSpPr>
          <p:nvPr/>
        </p:nvSpPr>
        <p:spPr>
          <a:xfrm>
            <a:off x="3841750" y="5362575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创建调用工程</a:t>
            </a:r>
            <a:endParaRPr sz="16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F80EF612-3192-55FE-BC97-E153D33CEA0E}"/>
              </a:ext>
            </a:extLst>
          </p:cNvPr>
          <p:cNvSpPr>
            <a:spLocks noGrp="1"/>
          </p:cNvSpPr>
          <p:nvPr/>
        </p:nvSpPr>
        <p:spPr>
          <a:xfrm>
            <a:off x="5651500" y="5410200"/>
            <a:ext cx="889000" cy="266700"/>
          </a:xfrm>
          <a:prstGeom prst="rightArrow">
            <a:avLst/>
          </a:prstGeom>
          <a:solidFill>
            <a:srgbClr val="C7000B"/>
          </a:solidFill>
          <a:ln w="0">
            <a:solidFill>
              <a:srgbClr val="C7000B"/>
            </a:solidFill>
            <a:prstDash val="solid"/>
          </a:ln>
        </p:spPr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F6153B2-41BA-AF8B-58FD-A38CADE15F0C}"/>
              </a:ext>
            </a:extLst>
          </p:cNvPr>
          <p:cNvSpPr>
            <a:spLocks noGrp="1"/>
          </p:cNvSpPr>
          <p:nvPr/>
        </p:nvSpPr>
        <p:spPr>
          <a:xfrm>
            <a:off x="6635750" y="5238750"/>
            <a:ext cx="1809750" cy="609600"/>
          </a:xfrm>
          <a:prstGeom prst="roundRect">
            <a:avLst>
              <a:gd name="adj" fmla="val 15625"/>
            </a:avLst>
          </a:prstGeom>
          <a:solidFill>
            <a:srgbClr val="006FAA"/>
          </a:solidFill>
          <a:ln w="14288">
            <a:noFill/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A110F09-A0DD-7111-A312-FF476E00D2A5}"/>
              </a:ext>
            </a:extLst>
          </p:cNvPr>
          <p:cNvSpPr>
            <a:spLocks noGrp="1"/>
          </p:cNvSpPr>
          <p:nvPr/>
        </p:nvSpPr>
        <p:spPr>
          <a:xfrm>
            <a:off x="6731000" y="5362575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运行runner</a:t>
            </a:r>
            <a:endParaRPr sz="16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5" name="箭头: 右 34">
            <a:extLst>
              <a:ext uri="{FF2B5EF4-FFF2-40B4-BE49-F238E27FC236}">
                <a16:creationId xmlns:a16="http://schemas.microsoft.com/office/drawing/2014/main" id="{BF75AC31-B5CE-DF4E-5BDD-772166403462}"/>
              </a:ext>
            </a:extLst>
          </p:cNvPr>
          <p:cNvSpPr>
            <a:spLocks noGrp="1"/>
          </p:cNvSpPr>
          <p:nvPr/>
        </p:nvSpPr>
        <p:spPr>
          <a:xfrm>
            <a:off x="8540750" y="5410200"/>
            <a:ext cx="889000" cy="266700"/>
          </a:xfrm>
          <a:prstGeom prst="rightArrow">
            <a:avLst/>
          </a:prstGeom>
          <a:solidFill>
            <a:srgbClr val="C7000B"/>
          </a:solidFill>
          <a:ln w="0">
            <a:solidFill>
              <a:srgbClr val="C7000B"/>
            </a:solidFill>
            <a:prstDash val="solid"/>
          </a:ln>
        </p:spPr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CF111C2C-8549-6682-5A30-470BFBAFE109}"/>
              </a:ext>
            </a:extLst>
          </p:cNvPr>
          <p:cNvSpPr>
            <a:spLocks noGrp="1"/>
          </p:cNvSpPr>
          <p:nvPr/>
        </p:nvSpPr>
        <p:spPr>
          <a:xfrm>
            <a:off x="9525000" y="5238750"/>
            <a:ext cx="1809750" cy="609600"/>
          </a:xfrm>
          <a:prstGeom prst="roundRect">
            <a:avLst>
              <a:gd name="adj" fmla="val 15625"/>
            </a:avLst>
          </a:prstGeom>
          <a:solidFill>
            <a:srgbClr val="30B5C5"/>
          </a:solidFill>
          <a:ln w="14288">
            <a:noFill/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04C0176-B64A-3701-F774-45CBB4469387}"/>
              </a:ext>
            </a:extLst>
          </p:cNvPr>
          <p:cNvSpPr>
            <a:spLocks noGrp="1"/>
          </p:cNvSpPr>
          <p:nvPr/>
        </p:nvSpPr>
        <p:spPr>
          <a:xfrm>
            <a:off x="9620250" y="5362575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对齐CPU结果</a:t>
            </a:r>
            <a:endParaRPr sz="16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1E296318-DEFF-254F-FD73-F853C6FBCA48}"/>
              </a:ext>
            </a:extLst>
          </p:cNvPr>
          <p:cNvSpPr>
            <a:spLocks noGrp="1"/>
          </p:cNvSpPr>
          <p:nvPr/>
        </p:nvSpPr>
        <p:spPr>
          <a:xfrm>
            <a:off x="704850" y="1050925"/>
            <a:ext cx="990600" cy="0"/>
          </a:xfrm>
          <a:prstGeom prst="line">
            <a:avLst/>
          </a:prstGeom>
          <a:solidFill>
            <a:srgbClr val="006FAA"/>
          </a:solidFill>
          <a:ln w="22860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0">
            <a:extLst>
              <a:ext uri="{FF2B5EF4-FFF2-40B4-BE49-F238E27FC236}">
                <a16:creationId xmlns:a16="http://schemas.microsoft.com/office/drawing/2014/main" id="{4BF6413E-7231-DE4B-4A16-A0B34426A906}"/>
              </a:ext>
            </a:extLst>
          </p:cNvPr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2E86AB"/>
          </a:solidFill>
        </p:spPr>
      </p:sp>
    </p:spTree>
    <p:extLst>
      <p:ext uri="{BB962C8B-B14F-4D97-AF65-F5344CB8AC3E}">
        <p14:creationId xmlns:p14="http://schemas.microsoft.com/office/powerpoint/2010/main" val="17837629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>
            <a:extLst>
              <a:ext uri="{FF2B5EF4-FFF2-40B4-BE49-F238E27FC236}">
                <a16:creationId xmlns:a16="http://schemas.microsoft.com/office/drawing/2014/main" id="{A1971001-4130-45F6-AAC3-8682FFB6F96A}"/>
              </a:ext>
            </a:extLst>
          </p:cNvPr>
          <p:cNvSpPr>
            <a:spLocks noGrp="1"/>
          </p:cNvSpPr>
          <p:nvPr/>
        </p:nvSpPr>
        <p:spPr>
          <a:xfrm>
            <a:off x="704850" y="43815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00" b="1">
                <a:solidFill>
                  <a:srgbClr val="005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YoloNmsCustom接口设计</a:t>
            </a:r>
            <a:endParaRPr sz="32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D7F46C-8C8E-40E6-8D60-FC1685CB9621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30D88E2-EBEB-47EC-8E14-82D8E14A9F0E}"/>
              </a:ext>
            </a:extLst>
          </p:cNvPr>
          <p:cNvSpPr>
            <a:spLocks noGrp="1"/>
          </p:cNvSpPr>
          <p:nvPr/>
        </p:nvSpPr>
        <p:spPr>
          <a:xfrm>
            <a:off x="666750" y="1314450"/>
            <a:ext cx="1428750" cy="590550"/>
          </a:xfrm>
          <a:prstGeom prst="rect">
            <a:avLst/>
          </a:prstGeom>
          <a:solidFill>
            <a:srgbClr val="F9ECEB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9CB144-5CEE-4992-A27C-954A421BBC68}"/>
              </a:ext>
            </a:extLst>
          </p:cNvPr>
          <p:cNvSpPr>
            <a:spLocks noGrp="1"/>
          </p:cNvSpPr>
          <p:nvPr/>
        </p:nvSpPr>
        <p:spPr>
          <a:xfrm>
            <a:off x="781050" y="1400175"/>
            <a:ext cx="1200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类别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D7F481C-0208-48F4-89A7-BDF2AEF80301}"/>
              </a:ext>
            </a:extLst>
          </p:cNvPr>
          <p:cNvSpPr>
            <a:spLocks noGrp="1"/>
          </p:cNvSpPr>
          <p:nvPr/>
        </p:nvSpPr>
        <p:spPr>
          <a:xfrm>
            <a:off x="2095500" y="1314450"/>
            <a:ext cx="1714500" cy="590550"/>
          </a:xfrm>
          <a:prstGeom prst="rect">
            <a:avLst/>
          </a:prstGeom>
          <a:solidFill>
            <a:srgbClr val="F9ECEB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D0184EE-1F74-4263-90C5-0832F98827CA}"/>
              </a:ext>
            </a:extLst>
          </p:cNvPr>
          <p:cNvSpPr>
            <a:spLocks noGrp="1"/>
          </p:cNvSpPr>
          <p:nvPr/>
        </p:nvSpPr>
        <p:spPr>
          <a:xfrm>
            <a:off x="2209800" y="1400175"/>
            <a:ext cx="1485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名称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122A84D-A607-48ED-8387-7EB22275ABD8}"/>
              </a:ext>
            </a:extLst>
          </p:cNvPr>
          <p:cNvSpPr>
            <a:spLocks noGrp="1"/>
          </p:cNvSpPr>
          <p:nvPr/>
        </p:nvSpPr>
        <p:spPr>
          <a:xfrm>
            <a:off x="3810000" y="1314450"/>
            <a:ext cx="2857500" cy="590550"/>
          </a:xfrm>
          <a:prstGeom prst="rect">
            <a:avLst/>
          </a:prstGeom>
          <a:solidFill>
            <a:srgbClr val="F9ECEB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3555D7-8338-41E6-B561-88190BAA8645}"/>
              </a:ext>
            </a:extLst>
          </p:cNvPr>
          <p:cNvSpPr>
            <a:spLocks noGrp="1"/>
          </p:cNvSpPr>
          <p:nvPr/>
        </p:nvSpPr>
        <p:spPr>
          <a:xfrm>
            <a:off x="3924300" y="1400175"/>
            <a:ext cx="2628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shape / 类型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9EC6995-C7C0-4840-93CD-7CBEB930B885}"/>
              </a:ext>
            </a:extLst>
          </p:cNvPr>
          <p:cNvSpPr>
            <a:spLocks noGrp="1"/>
          </p:cNvSpPr>
          <p:nvPr/>
        </p:nvSpPr>
        <p:spPr>
          <a:xfrm>
            <a:off x="6667500" y="1314450"/>
            <a:ext cx="4381500" cy="590550"/>
          </a:xfrm>
          <a:prstGeom prst="rect">
            <a:avLst/>
          </a:prstGeom>
          <a:solidFill>
            <a:srgbClr val="F9ECEB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5844F99-BC93-4949-9292-400CEA0EA3CB}"/>
              </a:ext>
            </a:extLst>
          </p:cNvPr>
          <p:cNvSpPr>
            <a:spLocks noGrp="1"/>
          </p:cNvSpPr>
          <p:nvPr/>
        </p:nvSpPr>
        <p:spPr>
          <a:xfrm>
            <a:off x="6781800" y="1400175"/>
            <a:ext cx="4152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75612F8-227D-49DA-B436-BA9A0AF94A0D}"/>
              </a:ext>
            </a:extLst>
          </p:cNvPr>
          <p:cNvSpPr>
            <a:spLocks noGrp="1"/>
          </p:cNvSpPr>
          <p:nvPr/>
        </p:nvSpPr>
        <p:spPr>
          <a:xfrm>
            <a:off x="666750" y="1905000"/>
            <a:ext cx="1428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2054E97-8D3C-4EEE-9A9A-38E711D3295C}"/>
              </a:ext>
            </a:extLst>
          </p:cNvPr>
          <p:cNvSpPr>
            <a:spLocks noGrp="1"/>
          </p:cNvSpPr>
          <p:nvPr/>
        </p:nvSpPr>
        <p:spPr>
          <a:xfrm>
            <a:off x="781050" y="1990725"/>
            <a:ext cx="1200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81E0B67-9C0A-4010-96E9-A69BE0A20D41}"/>
              </a:ext>
            </a:extLst>
          </p:cNvPr>
          <p:cNvSpPr>
            <a:spLocks noGrp="1"/>
          </p:cNvSpPr>
          <p:nvPr/>
        </p:nvSpPr>
        <p:spPr>
          <a:xfrm>
            <a:off x="2095500" y="1905000"/>
            <a:ext cx="1714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77E27F3-CA0E-43B4-A4D9-83145F530E46}"/>
              </a:ext>
            </a:extLst>
          </p:cNvPr>
          <p:cNvSpPr>
            <a:spLocks noGrp="1"/>
          </p:cNvSpPr>
          <p:nvPr/>
        </p:nvSpPr>
        <p:spPr>
          <a:xfrm>
            <a:off x="2209800" y="1990725"/>
            <a:ext cx="1485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boxes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77972F9-70D8-4C4B-8260-1735C17E1CEA}"/>
              </a:ext>
            </a:extLst>
          </p:cNvPr>
          <p:cNvSpPr>
            <a:spLocks noGrp="1"/>
          </p:cNvSpPr>
          <p:nvPr/>
        </p:nvSpPr>
        <p:spPr>
          <a:xfrm>
            <a:off x="3810000" y="1905000"/>
            <a:ext cx="285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CDDC33A-B13B-485E-9D89-D46716A3B25F}"/>
              </a:ext>
            </a:extLst>
          </p:cNvPr>
          <p:cNvSpPr>
            <a:spLocks noGrp="1"/>
          </p:cNvSpPr>
          <p:nvPr/>
        </p:nvSpPr>
        <p:spPr>
          <a:xfrm>
            <a:off x="3924300" y="1990725"/>
            <a:ext cx="2628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[N,4] float32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C8A09F5-115A-4815-8D23-8B31C5F291DD}"/>
              </a:ext>
            </a:extLst>
          </p:cNvPr>
          <p:cNvSpPr>
            <a:spLocks noGrp="1"/>
          </p:cNvSpPr>
          <p:nvPr/>
        </p:nvSpPr>
        <p:spPr>
          <a:xfrm>
            <a:off x="6667500" y="1905000"/>
            <a:ext cx="4381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0D77C3B-087B-43DC-8D73-0B7BB47EFA78}"/>
              </a:ext>
            </a:extLst>
          </p:cNvPr>
          <p:cNvSpPr>
            <a:spLocks noGrp="1"/>
          </p:cNvSpPr>
          <p:nvPr/>
        </p:nvSpPr>
        <p:spPr>
          <a:xfrm>
            <a:off x="6781800" y="1990725"/>
            <a:ext cx="4152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候选框坐标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D06A19C-83BB-4BC7-8E7C-2D456E9B9F5D}"/>
              </a:ext>
            </a:extLst>
          </p:cNvPr>
          <p:cNvSpPr>
            <a:spLocks noGrp="1"/>
          </p:cNvSpPr>
          <p:nvPr/>
        </p:nvSpPr>
        <p:spPr>
          <a:xfrm>
            <a:off x="666750" y="2495550"/>
            <a:ext cx="1428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9DEA873-538F-4C50-AB00-BDC143391BA6}"/>
              </a:ext>
            </a:extLst>
          </p:cNvPr>
          <p:cNvSpPr>
            <a:spLocks noGrp="1"/>
          </p:cNvSpPr>
          <p:nvPr/>
        </p:nvSpPr>
        <p:spPr>
          <a:xfrm>
            <a:off x="781050" y="2581275"/>
            <a:ext cx="1200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239D7B1-0193-4629-BD58-5CCCB7A0C84C}"/>
              </a:ext>
            </a:extLst>
          </p:cNvPr>
          <p:cNvSpPr>
            <a:spLocks noGrp="1"/>
          </p:cNvSpPr>
          <p:nvPr/>
        </p:nvSpPr>
        <p:spPr>
          <a:xfrm>
            <a:off x="2095500" y="2495550"/>
            <a:ext cx="1714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60486A0-EC67-4D5B-8E32-920E99ACED4E}"/>
              </a:ext>
            </a:extLst>
          </p:cNvPr>
          <p:cNvSpPr>
            <a:spLocks noGrp="1"/>
          </p:cNvSpPr>
          <p:nvPr/>
        </p:nvSpPr>
        <p:spPr>
          <a:xfrm>
            <a:off x="2209800" y="2581275"/>
            <a:ext cx="1485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scores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87AEE88-E714-463D-BD1B-1940697E6078}"/>
              </a:ext>
            </a:extLst>
          </p:cNvPr>
          <p:cNvSpPr>
            <a:spLocks noGrp="1"/>
          </p:cNvSpPr>
          <p:nvPr/>
        </p:nvSpPr>
        <p:spPr>
          <a:xfrm>
            <a:off x="3810000" y="2495550"/>
            <a:ext cx="285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4B9A487-8979-4E53-A46A-31AEC36A6E1C}"/>
              </a:ext>
            </a:extLst>
          </p:cNvPr>
          <p:cNvSpPr>
            <a:spLocks noGrp="1"/>
          </p:cNvSpPr>
          <p:nvPr/>
        </p:nvSpPr>
        <p:spPr>
          <a:xfrm>
            <a:off x="3924300" y="2581275"/>
            <a:ext cx="2628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[N] float32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224BAA1-29D1-47AA-88B8-62BB4F0FC149}"/>
              </a:ext>
            </a:extLst>
          </p:cNvPr>
          <p:cNvSpPr>
            <a:spLocks noGrp="1"/>
          </p:cNvSpPr>
          <p:nvPr/>
        </p:nvSpPr>
        <p:spPr>
          <a:xfrm>
            <a:off x="6667500" y="2495550"/>
            <a:ext cx="4381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99AF37A-0F2C-420B-ABE7-D8ABD91CDC6E}"/>
              </a:ext>
            </a:extLst>
          </p:cNvPr>
          <p:cNvSpPr>
            <a:spLocks noGrp="1"/>
          </p:cNvSpPr>
          <p:nvPr/>
        </p:nvSpPr>
        <p:spPr>
          <a:xfrm>
            <a:off x="6781800" y="2581275"/>
            <a:ext cx="4152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已降序排列的置信度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8A6E694-D053-413A-96C8-85D0E5C84085}"/>
              </a:ext>
            </a:extLst>
          </p:cNvPr>
          <p:cNvSpPr>
            <a:spLocks noGrp="1"/>
          </p:cNvSpPr>
          <p:nvPr/>
        </p:nvSpPr>
        <p:spPr>
          <a:xfrm>
            <a:off x="666750" y="3086100"/>
            <a:ext cx="1428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122C555-9701-4BE4-8543-3107BF5FFE52}"/>
              </a:ext>
            </a:extLst>
          </p:cNvPr>
          <p:cNvSpPr>
            <a:spLocks noGrp="1"/>
          </p:cNvSpPr>
          <p:nvPr/>
        </p:nvSpPr>
        <p:spPr>
          <a:xfrm>
            <a:off x="781050" y="3171825"/>
            <a:ext cx="1200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Attr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210AA86-CAAE-46BB-BB95-76A4C1A9B411}"/>
              </a:ext>
            </a:extLst>
          </p:cNvPr>
          <p:cNvSpPr>
            <a:spLocks noGrp="1"/>
          </p:cNvSpPr>
          <p:nvPr/>
        </p:nvSpPr>
        <p:spPr>
          <a:xfrm>
            <a:off x="2095500" y="3086100"/>
            <a:ext cx="1714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2A9F12F-F9E2-4B09-91DA-8010B5742B6C}"/>
              </a:ext>
            </a:extLst>
          </p:cNvPr>
          <p:cNvSpPr>
            <a:spLocks noGrp="1"/>
          </p:cNvSpPr>
          <p:nvPr/>
        </p:nvSpPr>
        <p:spPr>
          <a:xfrm>
            <a:off x="2209800" y="3171825"/>
            <a:ext cx="1485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iouThreshold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D9E2A25-8C49-4EAF-857A-80DD592FB491}"/>
              </a:ext>
            </a:extLst>
          </p:cNvPr>
          <p:cNvSpPr>
            <a:spLocks noGrp="1"/>
          </p:cNvSpPr>
          <p:nvPr/>
        </p:nvSpPr>
        <p:spPr>
          <a:xfrm>
            <a:off x="3810000" y="3086100"/>
            <a:ext cx="285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58914A2-3CFC-4561-9FC7-41A32D628596}"/>
              </a:ext>
            </a:extLst>
          </p:cNvPr>
          <p:cNvSpPr>
            <a:spLocks noGrp="1"/>
          </p:cNvSpPr>
          <p:nvPr/>
        </p:nvSpPr>
        <p:spPr>
          <a:xfrm>
            <a:off x="3924300" y="3171825"/>
            <a:ext cx="2628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float，默认0.45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B71377E-206C-4FA8-843D-60706D7DDA2F}"/>
              </a:ext>
            </a:extLst>
          </p:cNvPr>
          <p:cNvSpPr>
            <a:spLocks noGrp="1"/>
          </p:cNvSpPr>
          <p:nvPr/>
        </p:nvSpPr>
        <p:spPr>
          <a:xfrm>
            <a:off x="6667500" y="3086100"/>
            <a:ext cx="4381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B5EE348-4B85-4C48-89E1-88578B4332D2}"/>
              </a:ext>
            </a:extLst>
          </p:cNvPr>
          <p:cNvSpPr>
            <a:spLocks noGrp="1"/>
          </p:cNvSpPr>
          <p:nvPr/>
        </p:nvSpPr>
        <p:spPr>
          <a:xfrm>
            <a:off x="6781800" y="3171825"/>
            <a:ext cx="4152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IoU抑制阈值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B76BE8-D078-4908-BCBC-1EBDEAD141CE}"/>
              </a:ext>
            </a:extLst>
          </p:cNvPr>
          <p:cNvSpPr>
            <a:spLocks noGrp="1"/>
          </p:cNvSpPr>
          <p:nvPr/>
        </p:nvSpPr>
        <p:spPr>
          <a:xfrm>
            <a:off x="666750" y="3676650"/>
            <a:ext cx="1428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6B77330-A4B4-4C26-908E-8B86BDC398A9}"/>
              </a:ext>
            </a:extLst>
          </p:cNvPr>
          <p:cNvSpPr>
            <a:spLocks noGrp="1"/>
          </p:cNvSpPr>
          <p:nvPr/>
        </p:nvSpPr>
        <p:spPr>
          <a:xfrm>
            <a:off x="781050" y="3762375"/>
            <a:ext cx="1200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Attr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8233EC8-A0D2-4581-A917-D394DEA64B67}"/>
              </a:ext>
            </a:extLst>
          </p:cNvPr>
          <p:cNvSpPr>
            <a:spLocks noGrp="1"/>
          </p:cNvSpPr>
          <p:nvPr/>
        </p:nvSpPr>
        <p:spPr>
          <a:xfrm>
            <a:off x="2095500" y="3676650"/>
            <a:ext cx="1714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4B3E3F0-97E7-4D7E-80A2-B03DB4969F8A}"/>
              </a:ext>
            </a:extLst>
          </p:cNvPr>
          <p:cNvSpPr>
            <a:spLocks noGrp="1"/>
          </p:cNvSpPr>
          <p:nvPr/>
        </p:nvSpPr>
        <p:spPr>
          <a:xfrm>
            <a:off x="2209800" y="3762375"/>
            <a:ext cx="1485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maxOutput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F86E9DB-FF00-4F93-A6ED-08A9F03C34D9}"/>
              </a:ext>
            </a:extLst>
          </p:cNvPr>
          <p:cNvSpPr>
            <a:spLocks noGrp="1"/>
          </p:cNvSpPr>
          <p:nvPr/>
        </p:nvSpPr>
        <p:spPr>
          <a:xfrm>
            <a:off x="3810000" y="3676650"/>
            <a:ext cx="285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487879F-20AC-4F5F-B98F-3A9AA2F8A502}"/>
              </a:ext>
            </a:extLst>
          </p:cNvPr>
          <p:cNvSpPr>
            <a:spLocks noGrp="1"/>
          </p:cNvSpPr>
          <p:nvPr/>
        </p:nvSpPr>
        <p:spPr>
          <a:xfrm>
            <a:off x="3924300" y="3762375"/>
            <a:ext cx="2628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int，默认300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5391493-ED3D-4FF5-848F-4CFDD9DDFC34}"/>
              </a:ext>
            </a:extLst>
          </p:cNvPr>
          <p:cNvSpPr>
            <a:spLocks noGrp="1"/>
          </p:cNvSpPr>
          <p:nvPr/>
        </p:nvSpPr>
        <p:spPr>
          <a:xfrm>
            <a:off x="6667500" y="3676650"/>
            <a:ext cx="4381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ACDD3A7-FAFC-4942-AE4A-3CFCFD8C2ACF}"/>
              </a:ext>
            </a:extLst>
          </p:cNvPr>
          <p:cNvSpPr>
            <a:spLocks noGrp="1"/>
          </p:cNvSpPr>
          <p:nvPr/>
        </p:nvSpPr>
        <p:spPr>
          <a:xfrm>
            <a:off x="6781800" y="3762375"/>
            <a:ext cx="4152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最多保留框数量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C0650AB-40FD-4F77-90E0-5A9D61B71958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1428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42D7930-4308-4A04-BBFC-A62D6AD4748B}"/>
              </a:ext>
            </a:extLst>
          </p:cNvPr>
          <p:cNvSpPr>
            <a:spLocks noGrp="1"/>
          </p:cNvSpPr>
          <p:nvPr/>
        </p:nvSpPr>
        <p:spPr>
          <a:xfrm>
            <a:off x="781050" y="4352925"/>
            <a:ext cx="1200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8B99FD0-CC5C-4248-A141-8E75EA3506F5}"/>
              </a:ext>
            </a:extLst>
          </p:cNvPr>
          <p:cNvSpPr>
            <a:spLocks noGrp="1"/>
          </p:cNvSpPr>
          <p:nvPr/>
        </p:nvSpPr>
        <p:spPr>
          <a:xfrm>
            <a:off x="2095500" y="4267200"/>
            <a:ext cx="1714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C64D3C5-68DB-453C-8487-75EBFA90ED47}"/>
              </a:ext>
            </a:extLst>
          </p:cNvPr>
          <p:cNvSpPr>
            <a:spLocks noGrp="1"/>
          </p:cNvSpPr>
          <p:nvPr/>
        </p:nvSpPr>
        <p:spPr>
          <a:xfrm>
            <a:off x="2209800" y="4352925"/>
            <a:ext cx="1485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keep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98D3606-37E0-4A55-A409-0408E9380CC6}"/>
              </a:ext>
            </a:extLst>
          </p:cNvPr>
          <p:cNvSpPr>
            <a:spLocks noGrp="1"/>
          </p:cNvSpPr>
          <p:nvPr/>
        </p:nvSpPr>
        <p:spPr>
          <a:xfrm>
            <a:off x="3810000" y="4267200"/>
            <a:ext cx="285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9A0CFE7-340B-40BE-A88E-DD893D593873}"/>
              </a:ext>
            </a:extLst>
          </p:cNvPr>
          <p:cNvSpPr>
            <a:spLocks noGrp="1"/>
          </p:cNvSpPr>
          <p:nvPr/>
        </p:nvSpPr>
        <p:spPr>
          <a:xfrm>
            <a:off x="3924300" y="4352925"/>
            <a:ext cx="2628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[maxOutput] int32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9E22B4A8-D224-4144-9D99-F58CD8DB675A}"/>
              </a:ext>
            </a:extLst>
          </p:cNvPr>
          <p:cNvSpPr>
            <a:spLocks noGrp="1"/>
          </p:cNvSpPr>
          <p:nvPr/>
        </p:nvSpPr>
        <p:spPr>
          <a:xfrm>
            <a:off x="6667500" y="4267200"/>
            <a:ext cx="4381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5A9050A-BB59-4F29-A029-637BAB40783C}"/>
              </a:ext>
            </a:extLst>
          </p:cNvPr>
          <p:cNvSpPr>
            <a:spLocks noGrp="1"/>
          </p:cNvSpPr>
          <p:nvPr/>
        </p:nvSpPr>
        <p:spPr>
          <a:xfrm>
            <a:off x="6781800" y="4352925"/>
            <a:ext cx="4152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保留的输入索引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B989B57-C9C5-4C00-92E9-7A1D45E60DCA}"/>
              </a:ext>
            </a:extLst>
          </p:cNvPr>
          <p:cNvSpPr>
            <a:spLocks noGrp="1"/>
          </p:cNvSpPr>
          <p:nvPr/>
        </p:nvSpPr>
        <p:spPr>
          <a:xfrm>
            <a:off x="666750" y="4857750"/>
            <a:ext cx="1428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792234E-3012-46C6-9D82-A3AD8F351ADF}"/>
              </a:ext>
            </a:extLst>
          </p:cNvPr>
          <p:cNvSpPr>
            <a:spLocks noGrp="1"/>
          </p:cNvSpPr>
          <p:nvPr/>
        </p:nvSpPr>
        <p:spPr>
          <a:xfrm>
            <a:off x="781050" y="4943475"/>
            <a:ext cx="1200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D7A21E8B-EA3D-4440-B621-76CDF7948625}"/>
              </a:ext>
            </a:extLst>
          </p:cNvPr>
          <p:cNvSpPr>
            <a:spLocks noGrp="1"/>
          </p:cNvSpPr>
          <p:nvPr/>
        </p:nvSpPr>
        <p:spPr>
          <a:xfrm>
            <a:off x="2095500" y="4857750"/>
            <a:ext cx="1714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6248E2FB-F838-4E48-94E1-BE54A54D0AAF}"/>
              </a:ext>
            </a:extLst>
          </p:cNvPr>
          <p:cNvSpPr>
            <a:spLocks noGrp="1"/>
          </p:cNvSpPr>
          <p:nvPr/>
        </p:nvSpPr>
        <p:spPr>
          <a:xfrm>
            <a:off x="2209800" y="4943475"/>
            <a:ext cx="1485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count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6A1D75F-6198-45D3-8FA2-AB2FB6FA8716}"/>
              </a:ext>
            </a:extLst>
          </p:cNvPr>
          <p:cNvSpPr>
            <a:spLocks noGrp="1"/>
          </p:cNvSpPr>
          <p:nvPr/>
        </p:nvSpPr>
        <p:spPr>
          <a:xfrm>
            <a:off x="3810000" y="4857750"/>
            <a:ext cx="285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2A152EB3-B353-401F-ACCB-712C1A5298D5}"/>
              </a:ext>
            </a:extLst>
          </p:cNvPr>
          <p:cNvSpPr>
            <a:spLocks noGrp="1"/>
          </p:cNvSpPr>
          <p:nvPr/>
        </p:nvSpPr>
        <p:spPr>
          <a:xfrm>
            <a:off x="3924300" y="4943475"/>
            <a:ext cx="2628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[1] int32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1D6C07E-258F-44C9-AEFB-70E7D4A0C7C6}"/>
              </a:ext>
            </a:extLst>
          </p:cNvPr>
          <p:cNvSpPr>
            <a:spLocks noGrp="1"/>
          </p:cNvSpPr>
          <p:nvPr/>
        </p:nvSpPr>
        <p:spPr>
          <a:xfrm>
            <a:off x="6667500" y="4857750"/>
            <a:ext cx="4381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904E9AB-0BD3-4038-84E1-9C931D28CC46}"/>
              </a:ext>
            </a:extLst>
          </p:cNvPr>
          <p:cNvSpPr>
            <a:spLocks noGrp="1"/>
          </p:cNvSpPr>
          <p:nvPr/>
        </p:nvSpPr>
        <p:spPr>
          <a:xfrm>
            <a:off x="6781800" y="4943475"/>
            <a:ext cx="4152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有效保留数量</a:t>
            </a:r>
          </a:p>
        </p:txBody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1D91C1FC-5E9D-5ED3-27AA-998419EB4625}"/>
              </a:ext>
            </a:extLst>
          </p:cNvPr>
          <p:cNvSpPr>
            <a:spLocks noGrp="1"/>
          </p:cNvSpPr>
          <p:nvPr/>
        </p:nvSpPr>
        <p:spPr>
          <a:xfrm>
            <a:off x="704850" y="1050925"/>
            <a:ext cx="990600" cy="0"/>
          </a:xfrm>
          <a:prstGeom prst="line">
            <a:avLst/>
          </a:prstGeom>
          <a:solidFill>
            <a:srgbClr val="006FAA"/>
          </a:solidFill>
          <a:ln w="22860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Shape 0">
            <a:extLst>
              <a:ext uri="{FF2B5EF4-FFF2-40B4-BE49-F238E27FC236}">
                <a16:creationId xmlns:a16="http://schemas.microsoft.com/office/drawing/2014/main" id="{2C69ED50-B96D-DFEC-57F1-270374727077}"/>
              </a:ext>
            </a:extLst>
          </p:cNvPr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2E86AB"/>
          </a:solidFill>
        </p:spPr>
      </p:sp>
    </p:spTree>
    <p:extLst>
      <p:ext uri="{BB962C8B-B14F-4D97-AF65-F5344CB8AC3E}">
        <p14:creationId xmlns:p14="http://schemas.microsoft.com/office/powerpoint/2010/main" val="2112988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13E3FCB1-71F3-4DA9-B44F-1686037BA44D}"/>
              </a:ext>
            </a:extLst>
          </p:cNvPr>
          <p:cNvSpPr>
            <a:spLocks noGrp="1"/>
          </p:cNvSpPr>
          <p:nvPr/>
        </p:nvSpPr>
        <p:spPr>
          <a:xfrm>
            <a:off x="704850" y="43815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00" b="1">
                <a:solidFill>
                  <a:srgbClr val="005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3200" b="1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op_host</a:t>
            </a:r>
            <a:r>
              <a:rPr lang="zh-CN" alt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shape</a:t>
            </a:r>
            <a:r>
              <a:rPr lang="zh-CN" alt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推导与</a:t>
            </a:r>
            <a:r>
              <a:rPr lang="en-US" altLang="zh-CN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tiling</a:t>
            </a:r>
            <a:r>
              <a:rPr lang="zh-CN" alt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C398C5-1B2D-42D3-A475-9DDEE73B2F5B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378328B-AB59-4037-9503-3FC1FEB9A2BF}"/>
              </a:ext>
            </a:extLst>
          </p:cNvPr>
          <p:cNvSpPr>
            <a:spLocks noGrp="1"/>
          </p:cNvSpPr>
          <p:nvPr/>
        </p:nvSpPr>
        <p:spPr>
          <a:xfrm>
            <a:off x="876299" y="1428750"/>
            <a:ext cx="5484743" cy="3619500"/>
          </a:xfrm>
          <a:prstGeom prst="roundRect">
            <a:avLst>
              <a:gd name="adj" fmla="val 2632"/>
            </a:avLst>
          </a:prstGeom>
          <a:solidFill>
            <a:srgbClr val="F9ECEB"/>
          </a:solidFill>
          <a:ln w="9525">
            <a:solidFill>
              <a:srgbClr val="E8B6B6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6DA2CB-8BFC-4CB8-AA18-7EF3CF21F12F}"/>
              </a:ext>
            </a:extLst>
          </p:cNvPr>
          <p:cNvSpPr>
            <a:spLocks noGrp="1"/>
          </p:cNvSpPr>
          <p:nvPr/>
        </p:nvSpPr>
        <p:spPr>
          <a:xfrm>
            <a:off x="1181100" y="18097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InferShape</a:t>
            </a:r>
            <a:endParaRPr sz="2400" b="1" dirty="0">
              <a:solidFill>
                <a:srgbClr val="C7000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2C6479-CF94-45F5-9C69-D094D93E9825}"/>
              </a:ext>
            </a:extLst>
          </p:cNvPr>
          <p:cNvSpPr>
            <a:spLocks noGrp="1"/>
          </p:cNvSpPr>
          <p:nvPr/>
        </p:nvSpPr>
        <p:spPr>
          <a:xfrm>
            <a:off x="1200150" y="2381250"/>
            <a:ext cx="4991102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24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读取boxes输入shape中的N</a:t>
            </a:r>
            <a:endParaRPr sz="2400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24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输出keep固定为maxOutput长度</a:t>
            </a:r>
            <a:endParaRPr sz="2400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输出count固定为1</a:t>
            </a:r>
          </a:p>
          <a:p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24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注册数据类型和ND格式</a:t>
            </a:r>
            <a:endParaRPr sz="2400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9691502-F6EF-407B-94DE-3FBBF482CFA1}"/>
              </a:ext>
            </a:extLst>
          </p:cNvPr>
          <p:cNvSpPr>
            <a:spLocks noGrp="1"/>
          </p:cNvSpPr>
          <p:nvPr/>
        </p:nvSpPr>
        <p:spPr>
          <a:xfrm>
            <a:off x="6665842" y="1428750"/>
            <a:ext cx="4573657" cy="36195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96ACB6-B8CD-4917-A094-A77DA6B541B8}"/>
              </a:ext>
            </a:extLst>
          </p:cNvPr>
          <p:cNvSpPr>
            <a:spLocks noGrp="1"/>
          </p:cNvSpPr>
          <p:nvPr/>
        </p:nvSpPr>
        <p:spPr>
          <a:xfrm>
            <a:off x="6800850" y="18097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TilingFunc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816E4A0-19CF-4A37-B53D-25BCE074E934}"/>
              </a:ext>
            </a:extLst>
          </p:cNvPr>
          <p:cNvSpPr>
            <a:spLocks noGrp="1"/>
          </p:cNvSpPr>
          <p:nvPr/>
        </p:nvSpPr>
        <p:spPr>
          <a:xfrm>
            <a:off x="6819899" y="2381250"/>
            <a:ext cx="4457701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24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向kernel传入候选框数量N</a:t>
            </a:r>
            <a:endParaRPr sz="2400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24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设置BlockDim</a:t>
            </a:r>
            <a:endParaRPr sz="2400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24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SaveToBuffer写入</a:t>
            </a:r>
            <a:r>
              <a:rPr lang="en-US" sz="24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                         	</a:t>
            </a:r>
            <a:r>
              <a:rPr sz="24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RawTilingData</a:t>
            </a:r>
            <a:endParaRPr sz="2400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24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AddConfig绑定</a:t>
            </a:r>
            <a:r>
              <a:rPr lang="en-US" sz="24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4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Ascend310B4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37799216-DFE9-F5A5-1107-298953ABEE72}"/>
              </a:ext>
            </a:extLst>
          </p:cNvPr>
          <p:cNvSpPr>
            <a:spLocks noGrp="1"/>
          </p:cNvSpPr>
          <p:nvPr/>
        </p:nvSpPr>
        <p:spPr>
          <a:xfrm>
            <a:off x="704850" y="1050925"/>
            <a:ext cx="990600" cy="0"/>
          </a:xfrm>
          <a:prstGeom prst="line">
            <a:avLst/>
          </a:prstGeom>
          <a:solidFill>
            <a:srgbClr val="006FAA"/>
          </a:solidFill>
          <a:ln w="22860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0">
            <a:extLst>
              <a:ext uri="{FF2B5EF4-FFF2-40B4-BE49-F238E27FC236}">
                <a16:creationId xmlns:a16="http://schemas.microsoft.com/office/drawing/2014/main" id="{469FB19E-821A-63EE-C56E-FF7005A709E9}"/>
              </a:ext>
            </a:extLst>
          </p:cNvPr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2E86AB"/>
          </a:solidFill>
        </p:spPr>
      </p:sp>
    </p:spTree>
    <p:extLst>
      <p:ext uri="{BB962C8B-B14F-4D97-AF65-F5344CB8AC3E}">
        <p14:creationId xmlns:p14="http://schemas.microsoft.com/office/powerpoint/2010/main" val="19573523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1A09D4EC-A525-4CE4-857E-EA9263765771}"/>
              </a:ext>
            </a:extLst>
          </p:cNvPr>
          <p:cNvSpPr>
            <a:spLocks noGrp="1"/>
          </p:cNvSpPr>
          <p:nvPr/>
        </p:nvSpPr>
        <p:spPr>
          <a:xfrm>
            <a:off x="704850" y="43815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00" b="1">
                <a:solidFill>
                  <a:srgbClr val="005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3200" b="1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op_kernel</a:t>
            </a:r>
            <a:r>
              <a:rPr lang="zh-CN" alt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：先实现单</a:t>
            </a:r>
            <a:r>
              <a:rPr lang="en-US" altLang="zh-CN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Core</a:t>
            </a:r>
            <a:r>
              <a:rPr lang="zh-CN" alt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</a:t>
            </a:r>
            <a:r>
              <a:rPr lang="en-US" altLang="zh-CN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NMS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086A3C0-1C29-4A61-A702-4E2B3638F75B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6D6A8AA-D66B-43E8-80AD-5B23269BE5A5}"/>
              </a:ext>
            </a:extLst>
          </p:cNvPr>
          <p:cNvSpPr>
            <a:spLocks noGrp="1"/>
          </p:cNvSpPr>
          <p:nvPr/>
        </p:nvSpPr>
        <p:spPr>
          <a:xfrm>
            <a:off x="1000125" y="1476375"/>
            <a:ext cx="81915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24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Python侧已经将scores降序排序，kernel内不再排序</a:t>
            </a:r>
            <a:endParaRPr sz="2400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24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只让block</a:t>
            </a:r>
            <a:r>
              <a:rPr sz="24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0执行逻辑，先保证功能正确</a:t>
            </a:r>
          </a:p>
          <a:p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24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遍历候选框，和已保留框计算IoU</a:t>
            </a:r>
            <a:endParaRPr sz="2400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4. </a:t>
            </a:r>
            <a:r>
              <a:rPr sz="24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IoU小于等于阈值则写入keep</a:t>
            </a:r>
            <a:endParaRPr sz="2400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5. count[0]</a:t>
            </a:r>
            <a:r>
              <a:rPr sz="24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写入最终有效保留数量</a:t>
            </a:r>
            <a:endParaRPr sz="2400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48E37FA-517F-44B8-A180-25F00F9881BA}"/>
              </a:ext>
            </a:extLst>
          </p:cNvPr>
          <p:cNvSpPr>
            <a:spLocks noGrp="1"/>
          </p:cNvSpPr>
          <p:nvPr/>
        </p:nvSpPr>
        <p:spPr>
          <a:xfrm>
            <a:off x="7280414" y="2846320"/>
            <a:ext cx="2857500" cy="2381250"/>
          </a:xfrm>
          <a:prstGeom prst="roundRect">
            <a:avLst>
              <a:gd name="adj" fmla="val 3200"/>
            </a:avLst>
          </a:prstGeom>
          <a:solidFill>
            <a:srgbClr val="F9ECEB"/>
          </a:solidFill>
          <a:ln w="9525">
            <a:solidFill>
              <a:srgbClr val="C7000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7AA88CE-7D36-40E1-8089-3F1D175FEA81}"/>
              </a:ext>
            </a:extLst>
          </p:cNvPr>
          <p:cNvSpPr>
            <a:spLocks noGrp="1"/>
          </p:cNvSpPr>
          <p:nvPr/>
        </p:nvSpPr>
        <p:spPr>
          <a:xfrm>
            <a:off x="7661414" y="3179695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目标</a:t>
            </a:r>
            <a:endParaRPr sz="1725" b="1" dirty="0">
              <a:solidFill>
                <a:srgbClr val="C7000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3E184DB-A265-41A5-8AEB-1C7FD892D6B7}"/>
              </a:ext>
            </a:extLst>
          </p:cNvPr>
          <p:cNvSpPr>
            <a:spLocks noGrp="1"/>
          </p:cNvSpPr>
          <p:nvPr/>
        </p:nvSpPr>
        <p:spPr>
          <a:xfrm>
            <a:off x="7566164" y="3703570"/>
            <a:ext cx="2286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完成CPU NMS卸载到NPU自定义算子</a:t>
            </a:r>
          </a:p>
          <a:p>
            <a:endParaRPr sz="1500" b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先追求可验证闭环</a:t>
            </a:r>
          </a:p>
          <a:p>
            <a:pPr algn="ctr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再讨论并行优化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641A2708-C187-378E-A4D7-14A3A1550BD6}"/>
              </a:ext>
            </a:extLst>
          </p:cNvPr>
          <p:cNvSpPr>
            <a:spLocks noGrp="1"/>
          </p:cNvSpPr>
          <p:nvPr/>
        </p:nvSpPr>
        <p:spPr>
          <a:xfrm>
            <a:off x="704850" y="1050925"/>
            <a:ext cx="990600" cy="0"/>
          </a:xfrm>
          <a:prstGeom prst="line">
            <a:avLst/>
          </a:prstGeom>
          <a:solidFill>
            <a:srgbClr val="006FAA"/>
          </a:solidFill>
          <a:ln w="22860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F4FDFC2A-905B-2ECB-AA84-BB77898B0E16}"/>
              </a:ext>
            </a:extLst>
          </p:cNvPr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2E86AB"/>
          </a:solidFill>
        </p:spPr>
      </p:sp>
    </p:spTree>
    <p:extLst>
      <p:ext uri="{BB962C8B-B14F-4D97-AF65-F5344CB8AC3E}">
        <p14:creationId xmlns:p14="http://schemas.microsoft.com/office/powerpoint/2010/main" val="16835797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2A8BADE2-76F4-4B37-A099-4657B047A6E0}"/>
              </a:ext>
            </a:extLst>
          </p:cNvPr>
          <p:cNvSpPr>
            <a:spLocks noGrp="1"/>
          </p:cNvSpPr>
          <p:nvPr/>
        </p:nvSpPr>
        <p:spPr>
          <a:xfrm>
            <a:off x="704850" y="43815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00" b="1">
                <a:solidFill>
                  <a:srgbClr val="005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编译、打包与安装custom</a:t>
            </a:r>
            <a:r>
              <a:rPr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OPP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99FD4EA-6AE7-49E4-A2B3-0BECE6FC0A51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A743796-635A-4933-B5BC-B4A519B73DA6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809750" cy="704850"/>
          </a:xfrm>
          <a:prstGeom prst="roundRect">
            <a:avLst>
              <a:gd name="adj" fmla="val 13514"/>
            </a:avLst>
          </a:prstGeom>
          <a:solidFill>
            <a:srgbClr val="006FAA"/>
          </a:solidFill>
          <a:ln w="9525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08CDABE-B251-4762-B794-2889FCF5F515}"/>
              </a:ext>
            </a:extLst>
          </p:cNvPr>
          <p:cNvSpPr>
            <a:spLocks noGrp="1"/>
          </p:cNvSpPr>
          <p:nvPr/>
        </p:nvSpPr>
        <p:spPr>
          <a:xfrm>
            <a:off x="971550" y="1790700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build.sh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A85C39C1-4A34-49C3-B882-C2B89106D810}"/>
              </a:ext>
            </a:extLst>
          </p:cNvPr>
          <p:cNvSpPr>
            <a:spLocks noGrp="1"/>
          </p:cNvSpPr>
          <p:nvPr/>
        </p:nvSpPr>
        <p:spPr>
          <a:xfrm>
            <a:off x="2781300" y="1838325"/>
            <a:ext cx="876300" cy="266700"/>
          </a:xfrm>
          <a:prstGeom prst="rightArrow">
            <a:avLst/>
          </a:prstGeom>
          <a:solidFill>
            <a:srgbClr val="ED6D00"/>
          </a:solidFill>
          <a:ln w="15240">
            <a:solidFill>
              <a:srgbClr val="ED6D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4A4AF5D-74BB-4E82-BD60-94AE3B377281}"/>
              </a:ext>
            </a:extLst>
          </p:cNvPr>
          <p:cNvSpPr>
            <a:spLocks noGrp="1"/>
          </p:cNvSpPr>
          <p:nvPr/>
        </p:nvSpPr>
        <p:spPr>
          <a:xfrm>
            <a:off x="3742878" y="1666875"/>
            <a:ext cx="1809750" cy="704850"/>
          </a:xfrm>
          <a:prstGeom prst="roundRect">
            <a:avLst>
              <a:gd name="adj" fmla="val 13514"/>
            </a:avLst>
          </a:prstGeom>
          <a:solidFill>
            <a:srgbClr val="ED6D00"/>
          </a:solidFill>
          <a:ln w="9525">
            <a:solidFill>
              <a:srgbClr val="ED6D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8CFFDF-9DE2-466F-85B2-2C389E82D641}"/>
              </a:ext>
            </a:extLst>
          </p:cNvPr>
          <p:cNvSpPr>
            <a:spLocks noGrp="1"/>
          </p:cNvSpPr>
          <p:nvPr/>
        </p:nvSpPr>
        <p:spPr>
          <a:xfrm>
            <a:off x="3838128" y="1790700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O</a:t>
            </a: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pc</a:t>
            </a:r>
            <a:r>
              <a:rPr lang="en-US" sz="1600" b="1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编译</a:t>
            </a:r>
            <a:r>
              <a:rPr lang="en-US" sz="1600" b="1" dirty="0">
                <a:solidFill>
                  <a:srgbClr val="FFFFFF"/>
                </a:solidFill>
                <a:latin typeface="Microsoft YaHei"/>
                <a:ea typeface="Microsoft YaHei"/>
              </a:rPr>
              <a:t>   </a:t>
            </a:r>
            <a:r>
              <a:rPr sz="1600" b="1" dirty="0">
                <a:solidFill>
                  <a:srgbClr val="FFFFFF"/>
                </a:solidFill>
                <a:latin typeface="Microsoft YaHei"/>
                <a:ea typeface="Microsoft YaHei"/>
              </a:rPr>
              <a:t>.o/.</a:t>
            </a: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json</a:t>
            </a:r>
            <a:endParaRPr sz="16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1F571FFD-1653-4EB0-B001-901D6AAAD878}"/>
              </a:ext>
            </a:extLst>
          </p:cNvPr>
          <p:cNvSpPr>
            <a:spLocks noGrp="1"/>
          </p:cNvSpPr>
          <p:nvPr/>
        </p:nvSpPr>
        <p:spPr>
          <a:xfrm>
            <a:off x="5657850" y="1838325"/>
            <a:ext cx="876300" cy="266700"/>
          </a:xfrm>
          <a:prstGeom prst="rightArrow">
            <a:avLst/>
          </a:prstGeom>
          <a:solidFill>
            <a:srgbClr val="ED6D00"/>
          </a:solidFill>
          <a:ln w="15240">
            <a:solidFill>
              <a:srgbClr val="ED6D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DA007A-6097-46ED-AB55-F200723B5242}"/>
              </a:ext>
            </a:extLst>
          </p:cNvPr>
          <p:cNvSpPr>
            <a:spLocks noGrp="1"/>
          </p:cNvSpPr>
          <p:nvPr/>
        </p:nvSpPr>
        <p:spPr>
          <a:xfrm>
            <a:off x="6629400" y="1666875"/>
            <a:ext cx="1809750" cy="704850"/>
          </a:xfrm>
          <a:prstGeom prst="roundRect">
            <a:avLst>
              <a:gd name="adj" fmla="val 13514"/>
            </a:avLst>
          </a:prstGeom>
          <a:solidFill>
            <a:srgbClr val="62B230"/>
          </a:solidFill>
          <a:ln w="9525">
            <a:solidFill>
              <a:srgbClr val="62B2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E9D16E0-3B16-4365-8745-13B738792207}"/>
              </a:ext>
            </a:extLst>
          </p:cNvPr>
          <p:cNvSpPr>
            <a:spLocks noGrp="1"/>
          </p:cNvSpPr>
          <p:nvPr/>
        </p:nvSpPr>
        <p:spPr>
          <a:xfrm>
            <a:off x="6724650" y="1790700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  <a:r>
              <a:rPr lang="en-US" sz="16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p</a:t>
            </a: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ack</a:t>
            </a:r>
            <a:r>
              <a:rPr lang="en-US" sz="1600" b="1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生成</a:t>
            </a:r>
            <a:r>
              <a:rPr lang="en-US" sz="1600" b="1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Microsoft YaHei"/>
                <a:ea typeface="Microsoft YaHei"/>
              </a:rPr>
              <a:t>run</a:t>
            </a:r>
            <a:r>
              <a:rPr lang="en-US" sz="1600" b="1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Microsoft YaHei"/>
                <a:ea typeface="Microsoft YaHei"/>
              </a:rPr>
              <a:t>包</a:t>
            </a: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6D724FF1-7C23-4678-BD44-829FD3644339}"/>
              </a:ext>
            </a:extLst>
          </p:cNvPr>
          <p:cNvSpPr>
            <a:spLocks noGrp="1"/>
          </p:cNvSpPr>
          <p:nvPr/>
        </p:nvSpPr>
        <p:spPr>
          <a:xfrm>
            <a:off x="8534400" y="1838325"/>
            <a:ext cx="876300" cy="266700"/>
          </a:xfrm>
          <a:prstGeom prst="rightArrow">
            <a:avLst/>
          </a:prstGeom>
          <a:solidFill>
            <a:srgbClr val="ED6D00"/>
          </a:solidFill>
          <a:ln w="15240">
            <a:solidFill>
              <a:srgbClr val="ED6D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1E8FF1F-369E-4BE1-B259-4526A460E8B9}"/>
              </a:ext>
            </a:extLst>
          </p:cNvPr>
          <p:cNvSpPr>
            <a:spLocks noGrp="1"/>
          </p:cNvSpPr>
          <p:nvPr/>
        </p:nvSpPr>
        <p:spPr>
          <a:xfrm>
            <a:off x="9505950" y="1666875"/>
            <a:ext cx="1809750" cy="704850"/>
          </a:xfrm>
          <a:prstGeom prst="roundRect">
            <a:avLst>
              <a:gd name="adj" fmla="val 13514"/>
            </a:avLst>
          </a:prstGeom>
          <a:solidFill>
            <a:srgbClr val="30B5C5"/>
          </a:solidFill>
          <a:ln w="9525">
            <a:solidFill>
              <a:srgbClr val="30B5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A080152-2490-4C47-B9B3-43E6E3F071B8}"/>
              </a:ext>
            </a:extLst>
          </p:cNvPr>
          <p:cNvSpPr>
            <a:spLocks noGrp="1"/>
          </p:cNvSpPr>
          <p:nvPr/>
        </p:nvSpPr>
        <p:spPr>
          <a:xfrm>
            <a:off x="9601200" y="1790700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执行</a:t>
            </a:r>
            <a:r>
              <a:rPr lang="en-US" sz="1600" b="1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Microsoft YaHei"/>
                <a:ea typeface="Microsoft YaHei"/>
              </a:rPr>
              <a:t>run</a:t>
            </a:r>
            <a:r>
              <a:rPr lang="en-US" sz="1600" b="1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安装</a:t>
            </a:r>
            <a:endParaRPr sz="16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FB4EC6C-5D87-4CCB-AF73-6C832AD180DC}"/>
              </a:ext>
            </a:extLst>
          </p:cNvPr>
          <p:cNvSpPr>
            <a:spLocks noGrp="1"/>
          </p:cNvSpPr>
          <p:nvPr/>
        </p:nvSpPr>
        <p:spPr>
          <a:xfrm>
            <a:off x="1428750" y="3774905"/>
            <a:ext cx="93345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chemeClr val="tx2">
                <a:lumMod val="90000"/>
                <a:lumOff val="10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98BBE9E-C886-4FEB-A5F6-3596F5D495B7}"/>
              </a:ext>
            </a:extLst>
          </p:cNvPr>
          <p:cNvSpPr>
            <a:spLocks noGrp="1"/>
          </p:cNvSpPr>
          <p:nvPr/>
        </p:nvSpPr>
        <p:spPr>
          <a:xfrm>
            <a:off x="1695450" y="39814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00" b="1">
                <a:solidFill>
                  <a:srgbClr val="ED6D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成功标志</a:t>
            </a:r>
            <a:r>
              <a:rPr lang="zh-CN" altLang="en-US" sz="1600" b="1" dirty="0">
                <a:solidFill>
                  <a:srgbClr val="FF0000"/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sz="1600" b="1" dirty="0">
              <a:solidFill>
                <a:srgbClr val="FF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5811641-5A40-4208-B363-ABA2E4BFFB3E}"/>
              </a:ext>
            </a:extLst>
          </p:cNvPr>
          <p:cNvSpPr>
            <a:spLocks noGrp="1"/>
          </p:cNvSpPr>
          <p:nvPr/>
        </p:nvSpPr>
        <p:spPr>
          <a:xfrm>
            <a:off x="1695450" y="4351071"/>
            <a:ext cx="8572500" cy="3542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50" b="0">
                <a:solidFill>
                  <a:srgbClr val="595757"/>
                </a:solidFill>
                <a:latin typeface="Consolas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957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build_out</a:t>
            </a:r>
            <a:r>
              <a:rPr sz="1400" b="0" dirty="0">
                <a:solidFill>
                  <a:srgbClr val="5957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/custom_opp_ubuntu_aarch64.run </a:t>
            </a:r>
            <a:r>
              <a:rPr sz="1400" b="0" dirty="0" err="1">
                <a:solidFill>
                  <a:srgbClr val="5957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生成；安装后可找到</a:t>
            </a:r>
            <a:r>
              <a:rPr sz="1400" b="0" dirty="0">
                <a:solidFill>
                  <a:srgbClr val="5957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 </a:t>
            </a:r>
            <a:r>
              <a:rPr sz="1400" b="0" dirty="0" err="1">
                <a:solidFill>
                  <a:srgbClr val="5957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aclnn_yolo_nms_custom.h、YoloNmsCustom</a:t>
            </a:r>
            <a:r>
              <a:rPr sz="1400" b="0" dirty="0">
                <a:solidFill>
                  <a:srgbClr val="5957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 的 .o 和 .</a:t>
            </a:r>
            <a:r>
              <a:rPr sz="1400" b="0" dirty="0" err="1">
                <a:solidFill>
                  <a:srgbClr val="5957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json</a:t>
            </a:r>
            <a:r>
              <a:rPr sz="1400" b="0" dirty="0">
                <a:solidFill>
                  <a:srgbClr val="5957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。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FDFC96E-3D1F-3798-8255-9B9BFE107F26}"/>
              </a:ext>
            </a:extLst>
          </p:cNvPr>
          <p:cNvSpPr>
            <a:spLocks noGrp="1"/>
          </p:cNvSpPr>
          <p:nvPr/>
        </p:nvSpPr>
        <p:spPr>
          <a:xfrm>
            <a:off x="704850" y="1050925"/>
            <a:ext cx="990600" cy="0"/>
          </a:xfrm>
          <a:prstGeom prst="line">
            <a:avLst/>
          </a:prstGeom>
          <a:solidFill>
            <a:srgbClr val="006FAA"/>
          </a:solidFill>
          <a:ln w="22860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9C601FE1-41C7-AA46-957B-6268B13607B0}"/>
              </a:ext>
            </a:extLst>
          </p:cNvPr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2E86AB"/>
          </a:solidFill>
        </p:spPr>
      </p:sp>
    </p:spTree>
    <p:extLst>
      <p:ext uri="{BB962C8B-B14F-4D97-AF65-F5344CB8AC3E}">
        <p14:creationId xmlns:p14="http://schemas.microsoft.com/office/powerpoint/2010/main" val="33267434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1041CFCE-7EA7-4B2B-A2B0-FE26DE17FBA3}"/>
              </a:ext>
            </a:extLst>
          </p:cNvPr>
          <p:cNvSpPr>
            <a:spLocks noGrp="1"/>
          </p:cNvSpPr>
          <p:nvPr/>
        </p:nvSpPr>
        <p:spPr>
          <a:xfrm>
            <a:off x="704850" y="43815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00" b="1">
                <a:solidFill>
                  <a:srgbClr val="005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ACLNN调用方式：两步执行自定义算子</a:t>
            </a:r>
            <a:endParaRPr sz="32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E04E740-77A2-4607-B551-F6CE7278550C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94DE786-E46D-4863-88BB-F98E7F5A23BE}"/>
              </a:ext>
            </a:extLst>
          </p:cNvPr>
          <p:cNvSpPr>
            <a:spLocks noGrp="1"/>
          </p:cNvSpPr>
          <p:nvPr/>
        </p:nvSpPr>
        <p:spPr>
          <a:xfrm>
            <a:off x="1028700" y="1619250"/>
            <a:ext cx="4381500" cy="25717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631166B-F595-4208-9F81-D1EBB940CAC5}"/>
              </a:ext>
            </a:extLst>
          </p:cNvPr>
          <p:cNvSpPr>
            <a:spLocks noGrp="1"/>
          </p:cNvSpPr>
          <p:nvPr/>
        </p:nvSpPr>
        <p:spPr>
          <a:xfrm>
            <a:off x="1352550" y="195262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第一步：GetWorkspaceSize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D8F2E60-06BD-4903-AA29-312232011693}"/>
              </a:ext>
            </a:extLst>
          </p:cNvPr>
          <p:cNvSpPr>
            <a:spLocks noGrp="1"/>
          </p:cNvSpPr>
          <p:nvPr/>
        </p:nvSpPr>
        <p:spPr>
          <a:xfrm>
            <a:off x="1381125" y="2571750"/>
            <a:ext cx="3143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传入boxes、scores和属性</a:t>
            </a:r>
          </a:p>
          <a:p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获得workspaceSize</a:t>
            </a:r>
          </a:p>
          <a:p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获得executor句柄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A0314AC-400E-4F86-8DFC-FB0B4F481271}"/>
              </a:ext>
            </a:extLst>
          </p:cNvPr>
          <p:cNvSpPr>
            <a:spLocks noGrp="1"/>
          </p:cNvSpPr>
          <p:nvPr/>
        </p:nvSpPr>
        <p:spPr>
          <a:xfrm>
            <a:off x="6743700" y="1619250"/>
            <a:ext cx="4381500" cy="2571750"/>
          </a:xfrm>
          <a:prstGeom prst="roundRect">
            <a:avLst>
              <a:gd name="adj" fmla="val 2963"/>
            </a:avLst>
          </a:prstGeom>
          <a:solidFill>
            <a:srgbClr val="F9ECEB"/>
          </a:solidFill>
          <a:ln w="9525">
            <a:solidFill>
              <a:srgbClr val="E8B6B6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5352EE-1C96-47B4-808A-974C3316A560}"/>
              </a:ext>
            </a:extLst>
          </p:cNvPr>
          <p:cNvSpPr>
            <a:spLocks noGrp="1"/>
          </p:cNvSpPr>
          <p:nvPr/>
        </p:nvSpPr>
        <p:spPr>
          <a:xfrm>
            <a:off x="7067550" y="195262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第二步：执行aclnn接口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06C9596-036E-4999-87D9-0C610E209387}"/>
              </a:ext>
            </a:extLst>
          </p:cNvPr>
          <p:cNvSpPr>
            <a:spLocks noGrp="1"/>
          </p:cNvSpPr>
          <p:nvPr/>
        </p:nvSpPr>
        <p:spPr>
          <a:xfrm>
            <a:off x="7096125" y="2571750"/>
            <a:ext cx="3143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申请workspace</a:t>
            </a:r>
          </a:p>
          <a:p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调用aclnnYoloNmsCustom</a:t>
            </a:r>
          </a:p>
          <a:p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同步stream并拷回输出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74BD924-70E1-48F6-8F82-D94CFFE2E185}"/>
              </a:ext>
            </a:extLst>
          </p:cNvPr>
          <p:cNvSpPr>
            <a:spLocks noGrp="1"/>
          </p:cNvSpPr>
          <p:nvPr/>
        </p:nvSpPr>
        <p:spPr>
          <a:xfrm>
            <a:off x="952500" y="5143500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这一步验证的是“自定义算子可被ACLNN方式调用”，不是Python import封装。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D940ABA6-EEC5-ABA2-BE8B-D2F4A0375AA6}"/>
              </a:ext>
            </a:extLst>
          </p:cNvPr>
          <p:cNvSpPr>
            <a:spLocks noGrp="1"/>
          </p:cNvSpPr>
          <p:nvPr/>
        </p:nvSpPr>
        <p:spPr>
          <a:xfrm>
            <a:off x="704850" y="1050925"/>
            <a:ext cx="990600" cy="0"/>
          </a:xfrm>
          <a:prstGeom prst="line">
            <a:avLst/>
          </a:prstGeom>
          <a:solidFill>
            <a:srgbClr val="006FAA"/>
          </a:solidFill>
          <a:ln w="22860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0">
            <a:extLst>
              <a:ext uri="{FF2B5EF4-FFF2-40B4-BE49-F238E27FC236}">
                <a16:creationId xmlns:a16="http://schemas.microsoft.com/office/drawing/2014/main" id="{DF8125E2-8990-4838-C78F-CD1A611B52AF}"/>
              </a:ext>
            </a:extLst>
          </p:cNvPr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2E86AB"/>
          </a:solidFill>
        </p:spPr>
      </p:sp>
    </p:spTree>
    <p:extLst>
      <p:ext uri="{BB962C8B-B14F-4D97-AF65-F5344CB8AC3E}">
        <p14:creationId xmlns:p14="http://schemas.microsoft.com/office/powerpoint/2010/main" val="18895013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F25CA5C-535F-4844-A695-8A1704ECEBBB}"/>
              </a:ext>
            </a:extLst>
          </p:cNvPr>
          <p:cNvSpPr>
            <a:spLocks noGrp="1"/>
          </p:cNvSpPr>
          <p:nvPr/>
        </p:nvSpPr>
        <p:spPr>
          <a:xfrm>
            <a:off x="704850" y="43815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00" b="1">
                <a:solidFill>
                  <a:srgbClr val="005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ACLNN </a:t>
            </a:r>
            <a:r>
              <a:rPr sz="3200" b="1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runner调用</a:t>
            </a:r>
            <a:endParaRPr sz="32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B62139-3109-4904-8325-94699532F791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C0DD841-E5E9-4582-BC26-D365DF574F16}"/>
              </a:ext>
            </a:extLst>
          </p:cNvPr>
          <p:cNvSpPr>
            <a:spLocks noGrp="1"/>
          </p:cNvSpPr>
          <p:nvPr/>
        </p:nvSpPr>
        <p:spPr>
          <a:xfrm>
            <a:off x="1343984" y="1390650"/>
            <a:ext cx="8916934" cy="4427141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9525">
            <a:solidFill>
              <a:srgbClr val="30B5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47EE8FB-CF48-445F-8542-5D1303B8BFC8}"/>
              </a:ext>
            </a:extLst>
          </p:cNvPr>
          <p:cNvSpPr>
            <a:spLocks noGrp="1"/>
          </p:cNvSpPr>
          <p:nvPr/>
        </p:nvSpPr>
        <p:spPr>
          <a:xfrm>
            <a:off x="1143000" y="1590675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50" b="0">
                <a:solidFill>
                  <a:srgbClr val="595757"/>
                </a:solidFill>
                <a:latin typeface="Consolas"/>
                <a:ea typeface="Microsoft YaHei"/>
                <a:cs typeface="Microsoft YaHei"/>
              </a:defRPr>
            </a:pPr>
            <a:endParaRPr sz="950" b="0" dirty="0">
              <a:solidFill>
                <a:srgbClr val="595757"/>
              </a:solidFill>
              <a:latin typeface="Consolas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04E119-4AC4-485C-B392-F5A0C66C6405}"/>
              </a:ext>
            </a:extLst>
          </p:cNvPr>
          <p:cNvSpPr>
            <a:spLocks noGrp="1"/>
          </p:cNvSpPr>
          <p:nvPr/>
        </p:nvSpPr>
        <p:spPr>
          <a:xfrm>
            <a:off x="1143000" y="2047875"/>
            <a:ext cx="9906000" cy="3419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50" b="0">
                <a:solidFill>
                  <a:srgbClr val="595757"/>
                </a:solidFill>
                <a:latin typeface="Consolas"/>
                <a:ea typeface="Microsoft YaHei"/>
                <a:cs typeface="Microsoft YaHei"/>
              </a:defRPr>
            </a:pPr>
            <a:endParaRPr sz="950" b="0" dirty="0">
              <a:solidFill>
                <a:srgbClr val="595757"/>
              </a:solidFill>
              <a:latin typeface="Consolas"/>
              <a:ea typeface="Microsoft YaHei"/>
              <a:cs typeface="Microsoft YaHei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304D24A-0A72-2C30-9EC4-60EDEFB0B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775" y="1505471"/>
            <a:ext cx="8659268" cy="4169053"/>
          </a:xfrm>
          <a:prstGeom prst="rect">
            <a:avLst/>
          </a:prstGeom>
        </p:spPr>
      </p:pic>
      <p:sp>
        <p:nvSpPr>
          <p:cNvPr id="3" name="直接连接符 2">
            <a:extLst>
              <a:ext uri="{FF2B5EF4-FFF2-40B4-BE49-F238E27FC236}">
                <a16:creationId xmlns:a16="http://schemas.microsoft.com/office/drawing/2014/main" id="{E2B420AE-6CBD-F9E4-DA6F-16AAD6951515}"/>
              </a:ext>
            </a:extLst>
          </p:cNvPr>
          <p:cNvSpPr>
            <a:spLocks noGrp="1"/>
          </p:cNvSpPr>
          <p:nvPr/>
        </p:nvSpPr>
        <p:spPr>
          <a:xfrm>
            <a:off x="704850" y="1050925"/>
            <a:ext cx="990600" cy="0"/>
          </a:xfrm>
          <a:prstGeom prst="line">
            <a:avLst/>
          </a:prstGeom>
          <a:solidFill>
            <a:srgbClr val="006FAA"/>
          </a:solidFill>
          <a:ln w="22860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EF39C56E-FA8B-008E-D5AD-DAF817C5FDFC}"/>
              </a:ext>
            </a:extLst>
          </p:cNvPr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2E86AB"/>
          </a:solidFill>
        </p:spPr>
      </p:sp>
    </p:spTree>
    <p:extLst>
      <p:ext uri="{BB962C8B-B14F-4D97-AF65-F5344CB8AC3E}">
        <p14:creationId xmlns:p14="http://schemas.microsoft.com/office/powerpoint/2010/main" val="32611057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A10E2-5615-4471-3391-4D6424AD3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4B6973E-3BD4-4797-15FB-4E6ACA743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背景介绍与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学习目标</a:t>
            </a:r>
          </a:p>
          <a:p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实验环境准备</a:t>
            </a:r>
            <a:endParaRPr lang="en-US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模型转换与 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PyACL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推理</a:t>
            </a: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自定义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NMS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算子开发</a:t>
            </a: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NPU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后处理集成与验证</a:t>
            </a: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sym typeface="+mn-ea"/>
              </a:rPr>
              <a:t>Profiling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sym typeface="+mn-ea"/>
              </a:rPr>
              <a:t>与实验验收</a:t>
            </a: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课后习题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22125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A8289737-4952-4DFB-90A6-C24EC4BDF237}"/>
              </a:ext>
            </a:extLst>
          </p:cNvPr>
          <p:cNvSpPr>
            <a:spLocks noGrp="1"/>
          </p:cNvSpPr>
          <p:nvPr/>
        </p:nvSpPr>
        <p:spPr>
          <a:xfrm>
            <a:off x="704850" y="43815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00" b="1">
                <a:solidFill>
                  <a:srgbClr val="005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为什么要做后处理卸载</a:t>
            </a:r>
            <a:endParaRPr sz="32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C6CD496-03F0-4874-ABF9-C38A19FF289A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CD0666E-350F-4805-B603-E121E480BA43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4953000" cy="4000500"/>
          </a:xfrm>
          <a:prstGeom prst="roundRect">
            <a:avLst>
              <a:gd name="adj" fmla="val 2381"/>
            </a:avLst>
          </a:prstGeom>
          <a:solidFill>
            <a:srgbClr val="F9ECEB"/>
          </a:solidFill>
          <a:ln w="9525">
            <a:solidFill>
              <a:srgbClr val="E8B6B6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1C55021-8D0E-46DA-9800-96CCAFC87BE3}"/>
              </a:ext>
            </a:extLst>
          </p:cNvPr>
          <p:cNvSpPr>
            <a:spLocks noGrp="1"/>
          </p:cNvSpPr>
          <p:nvPr/>
        </p:nvSpPr>
        <p:spPr>
          <a:xfrm>
            <a:off x="1066800" y="1809750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YOLO模型输出不是最终检测框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A12C253-5350-4A40-A6CF-E4D90E2B9553}"/>
              </a:ext>
            </a:extLst>
          </p:cNvPr>
          <p:cNvSpPr>
            <a:spLocks noGrp="1"/>
          </p:cNvSpPr>
          <p:nvPr/>
        </p:nvSpPr>
        <p:spPr>
          <a:xfrm>
            <a:off x="1123950" y="2400300"/>
            <a:ext cx="4000500" cy="160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OM模型输出大量候选预测</a:t>
            </a:r>
          </a:p>
          <a:p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需要解码、过滤、排序和NMS</a:t>
            </a:r>
          </a:p>
          <a:p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NMS通常存在较多IoU比较</a:t>
            </a:r>
          </a:p>
          <a:p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端侧场景中CPU后处理可能拉长整体链路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6B6E602-D880-4EF2-9FDA-FB38801222BE}"/>
              </a:ext>
            </a:extLst>
          </p:cNvPr>
          <p:cNvSpPr>
            <a:spLocks noGrp="1"/>
          </p:cNvSpPr>
          <p:nvPr/>
        </p:nvSpPr>
        <p:spPr>
          <a:xfrm>
            <a:off x="6381750" y="1428750"/>
            <a:ext cx="4953000" cy="40005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27224A-895E-4F57-BA69-45BED57F2193}"/>
              </a:ext>
            </a:extLst>
          </p:cNvPr>
          <p:cNvSpPr>
            <a:spLocks noGrp="1"/>
          </p:cNvSpPr>
          <p:nvPr/>
        </p:nvSpPr>
        <p:spPr>
          <a:xfrm>
            <a:off x="6705600" y="18097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本实验的优化目标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AA36400-9C6A-4DAD-A4FF-0AF0F426AAD6}"/>
              </a:ext>
            </a:extLst>
          </p:cNvPr>
          <p:cNvSpPr>
            <a:spLocks noGrp="1"/>
          </p:cNvSpPr>
          <p:nvPr/>
        </p:nvSpPr>
        <p:spPr>
          <a:xfrm>
            <a:off x="6762750" y="2400300"/>
            <a:ext cx="4000500" cy="160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推理仍由YOLO OM模型完成</a:t>
            </a:r>
          </a:p>
          <a:p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把NMS核心逻辑迁移到NPU自定义算子</a:t>
            </a:r>
          </a:p>
          <a:p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CPU侧保留baseline作为正确性参考</a:t>
            </a:r>
          </a:p>
          <a:p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通过Profiling读取自定义算子真实耗时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254920-F71D-2730-C2C7-A6BDB24B9D2C}"/>
              </a:ext>
            </a:extLst>
          </p:cNvPr>
          <p:cNvSpPr>
            <a:spLocks noGrp="1"/>
          </p:cNvSpPr>
          <p:nvPr/>
        </p:nvSpPr>
        <p:spPr>
          <a:xfrm>
            <a:off x="704850" y="1050925"/>
            <a:ext cx="990600" cy="0"/>
          </a:xfrm>
          <a:prstGeom prst="line">
            <a:avLst/>
          </a:prstGeom>
          <a:solidFill>
            <a:srgbClr val="006FAA"/>
          </a:solidFill>
          <a:ln w="22860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0">
            <a:extLst>
              <a:ext uri="{FF2B5EF4-FFF2-40B4-BE49-F238E27FC236}">
                <a16:creationId xmlns:a16="http://schemas.microsoft.com/office/drawing/2014/main" id="{9EE803C5-FDCA-07AE-D22B-91CF1D4F53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81706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1DAA4790-FF80-42CB-99C9-93D88BCF04E2}"/>
              </a:ext>
            </a:extLst>
          </p:cNvPr>
          <p:cNvSpPr>
            <a:spLocks noGrp="1"/>
          </p:cNvSpPr>
          <p:nvPr/>
        </p:nvSpPr>
        <p:spPr>
          <a:xfrm>
            <a:off x="704850" y="43815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00" b="1">
                <a:solidFill>
                  <a:srgbClr val="005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 NMS </a:t>
            </a:r>
            <a:r>
              <a:rPr sz="3200" b="1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baseline：为什么必须保留</a:t>
            </a:r>
            <a:endParaRPr sz="32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1FF060-FA12-4D77-9B06-C5B042C8D855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29CCA3-B640-4B3C-8AAC-D62CE9FE6B44}"/>
              </a:ext>
            </a:extLst>
          </p:cNvPr>
          <p:cNvSpPr>
            <a:spLocks noGrp="1"/>
          </p:cNvSpPr>
          <p:nvPr/>
        </p:nvSpPr>
        <p:spPr>
          <a:xfrm>
            <a:off x="1000125" y="1524000"/>
            <a:ext cx="952500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24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CPU </a:t>
            </a:r>
            <a:r>
              <a:rPr sz="24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NMS作为正确性参考，不是最终优化目标</a:t>
            </a:r>
            <a:endParaRPr sz="2400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24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同一份boxes</a:t>
            </a:r>
            <a:r>
              <a:rPr sz="24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24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scores输入必须同时喂给CPU和NPU</a:t>
            </a:r>
            <a:endParaRPr sz="2400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24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对齐字段是keep索引和count数量</a:t>
            </a:r>
            <a:endParaRPr sz="2400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24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只有输入一致，CPU与NPU结果比较才有意义</a:t>
            </a:r>
            <a:endParaRPr sz="2400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16B466E-F998-4374-8D07-7D49B5B613AD}"/>
              </a:ext>
            </a:extLst>
          </p:cNvPr>
          <p:cNvSpPr>
            <a:spLocks noGrp="1"/>
          </p:cNvSpPr>
          <p:nvPr/>
        </p:nvSpPr>
        <p:spPr>
          <a:xfrm>
            <a:off x="1238250" y="4461536"/>
            <a:ext cx="9715500" cy="490954"/>
          </a:xfrm>
          <a:prstGeom prst="roundRect">
            <a:avLst>
              <a:gd name="adj" fmla="val 8333"/>
            </a:avLst>
          </a:prstGeom>
          <a:solidFill>
            <a:srgbClr val="F9ECEB"/>
          </a:solidFill>
          <a:ln w="9525">
            <a:solidFill>
              <a:srgbClr val="C7000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715B891-AEAC-4DE1-B05E-89736B446FE1}"/>
              </a:ext>
            </a:extLst>
          </p:cNvPr>
          <p:cNvSpPr>
            <a:spLocks noGrp="1"/>
          </p:cNvSpPr>
          <p:nvPr/>
        </p:nvSpPr>
        <p:spPr>
          <a:xfrm>
            <a:off x="1238249" y="4552950"/>
            <a:ext cx="9715499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实验验收标准：custom</a:t>
            </a:r>
            <a:r>
              <a:rPr sz="1600" b="1" dirty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 count == </a:t>
            </a:r>
            <a:r>
              <a:rPr sz="1600" b="1" dirty="0" err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cpu</a:t>
            </a:r>
            <a:r>
              <a:rPr sz="1600" b="1" dirty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600" b="1" dirty="0" err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count，并且</a:t>
            </a:r>
            <a:r>
              <a:rPr sz="1600" b="1" dirty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 custom keep 与 CPU keep </a:t>
            </a:r>
            <a:r>
              <a:rPr sz="1600" b="1" dirty="0" err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一致</a:t>
            </a:r>
            <a:endParaRPr sz="1600" b="1" dirty="0">
              <a:solidFill>
                <a:srgbClr val="C7000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D6885C0B-5804-B817-9C43-3E9FBED5218D}"/>
              </a:ext>
            </a:extLst>
          </p:cNvPr>
          <p:cNvSpPr>
            <a:spLocks noGrp="1"/>
          </p:cNvSpPr>
          <p:nvPr/>
        </p:nvSpPr>
        <p:spPr>
          <a:xfrm>
            <a:off x="704850" y="1050925"/>
            <a:ext cx="990600" cy="0"/>
          </a:xfrm>
          <a:prstGeom prst="line">
            <a:avLst/>
          </a:prstGeom>
          <a:solidFill>
            <a:srgbClr val="006FAA"/>
          </a:solidFill>
          <a:ln w="22860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61EC23CA-A106-1C4B-A987-59F83E2B94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034353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5550F-C6BA-FFA2-ABC6-B17F1FA9E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2927C61-3A65-541A-5C51-E37AE39BA6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背景介绍与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学习目标</a:t>
            </a:r>
          </a:p>
          <a:p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实验环境准备</a:t>
            </a:r>
            <a:endParaRPr lang="en-US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模型转换与 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PyACL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推理</a:t>
            </a: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自定义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NMS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算子开发</a:t>
            </a: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NPU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后处理集成与验证</a:t>
            </a: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Profiling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与实验验收</a:t>
            </a: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课后习题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30156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725E7FF6-F971-4F33-B3BD-2F7B8F4B322D}"/>
              </a:ext>
            </a:extLst>
          </p:cNvPr>
          <p:cNvSpPr>
            <a:spLocks noGrp="1"/>
          </p:cNvSpPr>
          <p:nvPr/>
        </p:nvSpPr>
        <p:spPr>
          <a:xfrm>
            <a:off x="704850" y="43815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00" b="1">
                <a:solidFill>
                  <a:srgbClr val="005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正确性验证：NPU输出与CPU参考对齐</a:t>
            </a:r>
            <a:endParaRPr sz="32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BEE36FF-836B-4480-9AF3-5F6FEEB8CFF2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A7A4387-607C-427E-897C-2AFD81B78EF4}"/>
              </a:ext>
            </a:extLst>
          </p:cNvPr>
          <p:cNvSpPr>
            <a:spLocks noGrp="1"/>
          </p:cNvSpPr>
          <p:nvPr/>
        </p:nvSpPr>
        <p:spPr>
          <a:xfrm>
            <a:off x="904875" y="1428750"/>
            <a:ext cx="4762500" cy="333375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sz="160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E3A13F8-22DA-4B9B-8CD9-1ED67876530D}"/>
              </a:ext>
            </a:extLst>
          </p:cNvPr>
          <p:cNvSpPr>
            <a:spLocks noGrp="1"/>
          </p:cNvSpPr>
          <p:nvPr/>
        </p:nvSpPr>
        <p:spPr>
          <a:xfrm>
            <a:off x="1219200" y="1762125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00" b="1">
                <a:solidFill>
                  <a:srgbClr val="ED6D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ED6D00"/>
                </a:solidFill>
                <a:latin typeface="Microsoft YaHei"/>
                <a:ea typeface="Microsoft YaHei"/>
                <a:cs typeface="Microsoft YaHei"/>
              </a:rPr>
              <a:t>验收输出示例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39D7DB-E630-447C-AC8B-63019C9E17D8}"/>
              </a:ext>
            </a:extLst>
          </p:cNvPr>
          <p:cNvSpPr>
            <a:spLocks noGrp="1"/>
          </p:cNvSpPr>
          <p:nvPr/>
        </p:nvSpPr>
        <p:spPr>
          <a:xfrm>
            <a:off x="1257300" y="2286000"/>
            <a:ext cx="40957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50" b="0">
                <a:solidFill>
                  <a:srgbClr val="595757"/>
                </a:solidFill>
                <a:latin typeface="Consolas"/>
                <a:ea typeface="Microsoft YaHei"/>
                <a:cs typeface="Microsoft YaHei"/>
              </a:defRPr>
            </a:pPr>
            <a:r>
              <a:rPr sz="1600" b="0">
                <a:solidFill>
                  <a:srgbClr val="595757"/>
                </a:solidFill>
                <a:latin typeface="Consolas"/>
                <a:ea typeface="Microsoft YaHei"/>
                <a:cs typeface="Microsoft YaHei"/>
              </a:rPr>
              <a:t>custom count: 5</a:t>
            </a:r>
          </a:p>
          <a:p>
            <a:pPr algn="l">
              <a:defRPr sz="950" b="0">
                <a:solidFill>
                  <a:srgbClr val="595757"/>
                </a:solidFill>
                <a:latin typeface="Consolas"/>
                <a:ea typeface="Microsoft YaHei"/>
                <a:cs typeface="Microsoft YaHei"/>
              </a:defRPr>
            </a:pPr>
            <a:r>
              <a:rPr sz="1600" b="0">
                <a:solidFill>
                  <a:srgbClr val="595757"/>
                </a:solidFill>
                <a:latin typeface="Consolas"/>
                <a:ea typeface="Microsoft YaHei"/>
                <a:cs typeface="Microsoft YaHei"/>
              </a:rPr>
              <a:t>cpu count: 5</a:t>
            </a:r>
          </a:p>
          <a:p>
            <a:pPr algn="l">
              <a:defRPr sz="950" b="0">
                <a:solidFill>
                  <a:srgbClr val="595757"/>
                </a:solidFill>
                <a:latin typeface="Consolas"/>
                <a:ea typeface="Microsoft YaHei"/>
                <a:cs typeface="Microsoft YaHei"/>
              </a:defRPr>
            </a:pPr>
            <a:r>
              <a:rPr sz="1600" b="0">
                <a:solidFill>
                  <a:srgbClr val="595757"/>
                </a:solidFill>
                <a:latin typeface="Consolas"/>
                <a:ea typeface="Microsoft YaHei"/>
                <a:cs typeface="Microsoft YaHei"/>
              </a:rPr>
              <a:t>custom first 20: [0 9 19 31 34]</a:t>
            </a:r>
          </a:p>
          <a:p>
            <a:pPr algn="l">
              <a:defRPr sz="950" b="0">
                <a:solidFill>
                  <a:srgbClr val="595757"/>
                </a:solidFill>
                <a:latin typeface="Consolas"/>
                <a:ea typeface="Microsoft YaHei"/>
                <a:cs typeface="Microsoft YaHei"/>
              </a:defRPr>
            </a:pPr>
            <a:r>
              <a:rPr sz="1600" b="0">
                <a:solidFill>
                  <a:srgbClr val="595757"/>
                </a:solidFill>
                <a:latin typeface="Consolas"/>
                <a:ea typeface="Microsoft YaHei"/>
                <a:cs typeface="Microsoft YaHei"/>
              </a:rPr>
              <a:t>cpu first 20:    [0 9 19 31 34]</a:t>
            </a:r>
          </a:p>
          <a:p>
            <a:pPr algn="l">
              <a:defRPr sz="950" b="0">
                <a:solidFill>
                  <a:srgbClr val="595757"/>
                </a:solidFill>
                <a:latin typeface="Consolas"/>
                <a:ea typeface="Microsoft YaHei"/>
                <a:cs typeface="Microsoft YaHei"/>
              </a:defRPr>
            </a:pPr>
            <a:r>
              <a:rPr sz="1600" b="0">
                <a:solidFill>
                  <a:srgbClr val="595757"/>
                </a:solidFill>
                <a:latin typeface="Consolas"/>
                <a:ea typeface="Microsoft YaHei"/>
                <a:cs typeface="Microsoft YaHei"/>
              </a:rPr>
              <a:t>same count: True</a:t>
            </a:r>
          </a:p>
          <a:p>
            <a:pPr algn="l">
              <a:defRPr sz="950" b="0">
                <a:solidFill>
                  <a:srgbClr val="595757"/>
                </a:solidFill>
                <a:latin typeface="Consolas"/>
                <a:ea typeface="Microsoft YaHei"/>
                <a:cs typeface="Microsoft YaHei"/>
              </a:defRPr>
            </a:pPr>
            <a:r>
              <a:rPr sz="1600" b="0">
                <a:solidFill>
                  <a:srgbClr val="595757"/>
                </a:solidFill>
                <a:latin typeface="Consolas"/>
                <a:ea typeface="Microsoft YaHei"/>
                <a:cs typeface="Microsoft YaHei"/>
              </a:rPr>
              <a:t>same keep: True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EB01D0C-193E-4276-BDB1-2C411C60CA84}"/>
              </a:ext>
            </a:extLst>
          </p:cNvPr>
          <p:cNvSpPr>
            <a:spLocks noGrp="1"/>
          </p:cNvSpPr>
          <p:nvPr/>
        </p:nvSpPr>
        <p:spPr>
          <a:xfrm>
            <a:off x="6429375" y="1428750"/>
            <a:ext cx="4762500" cy="333375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sz="160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DB88DB3-3500-457E-9B4B-FFE2A35D7845}"/>
              </a:ext>
            </a:extLst>
          </p:cNvPr>
          <p:cNvSpPr>
            <a:spLocks noGrp="1"/>
          </p:cNvSpPr>
          <p:nvPr/>
        </p:nvSpPr>
        <p:spPr>
          <a:xfrm>
            <a:off x="6743700" y="1762125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00" b="1">
                <a:solidFill>
                  <a:srgbClr val="ED6D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ED6D00"/>
                </a:solidFill>
                <a:latin typeface="Microsoft YaHei"/>
                <a:ea typeface="Microsoft YaHei"/>
                <a:cs typeface="Microsoft YaHei"/>
              </a:rPr>
              <a:t>通过标准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3854AAF-B2FA-4433-AD1E-80FDB09418F5}"/>
              </a:ext>
            </a:extLst>
          </p:cNvPr>
          <p:cNvSpPr>
            <a:spLocks noGrp="1"/>
          </p:cNvSpPr>
          <p:nvPr/>
        </p:nvSpPr>
        <p:spPr>
          <a:xfrm>
            <a:off x="6781800" y="2362200"/>
            <a:ext cx="34290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• 同一份输入文件</a:t>
            </a:r>
          </a:p>
          <a:p>
            <a:pPr algn="l">
              <a:defRPr sz="11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• CPU与NPU count一致</a:t>
            </a:r>
          </a:p>
          <a:p>
            <a:pPr algn="l">
              <a:defRPr sz="11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• keep索引序列一致</a:t>
            </a:r>
          </a:p>
          <a:p>
            <a:pPr algn="l">
              <a:defRPr sz="11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• 回映射到模型行索引后仍一致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66B23D4-1394-2A54-1D16-F28647137935}"/>
              </a:ext>
            </a:extLst>
          </p:cNvPr>
          <p:cNvSpPr>
            <a:spLocks noGrp="1"/>
          </p:cNvSpPr>
          <p:nvPr/>
        </p:nvSpPr>
        <p:spPr>
          <a:xfrm>
            <a:off x="704850" y="1050925"/>
            <a:ext cx="990600" cy="0"/>
          </a:xfrm>
          <a:prstGeom prst="line">
            <a:avLst/>
          </a:prstGeom>
          <a:solidFill>
            <a:srgbClr val="006FAA"/>
          </a:solidFill>
          <a:ln w="22860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0">
            <a:extLst>
              <a:ext uri="{FF2B5EF4-FFF2-40B4-BE49-F238E27FC236}">
                <a16:creationId xmlns:a16="http://schemas.microsoft.com/office/drawing/2014/main" id="{170501AF-2453-6B64-76AB-284D8AD1476C}"/>
              </a:ext>
            </a:extLst>
          </p:cNvPr>
          <p:cNvSpPr/>
          <p:nvPr/>
        </p:nvSpPr>
        <p:spPr>
          <a:xfrm>
            <a:off x="318" y="0"/>
            <a:ext cx="12191695" cy="91440"/>
          </a:xfrm>
          <a:prstGeom prst="rect">
            <a:avLst/>
          </a:prstGeom>
          <a:solidFill>
            <a:srgbClr val="EBB3CC"/>
          </a:solidFill>
          <a:ln w="1270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662472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EA12D0D2-EFD9-42A4-84CA-C90237AE0A0B}"/>
              </a:ext>
            </a:extLst>
          </p:cNvPr>
          <p:cNvSpPr>
            <a:spLocks noGrp="1"/>
          </p:cNvSpPr>
          <p:nvPr/>
        </p:nvSpPr>
        <p:spPr>
          <a:xfrm>
            <a:off x="704850" y="43815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00" b="1">
                <a:solidFill>
                  <a:srgbClr val="005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性能测量：三种时间口径不能混淆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94DD83F-960A-4A46-8FD7-771C787E44E7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B0C19AC-603D-41E5-9378-BE13BA7622B0}"/>
              </a:ext>
            </a:extLst>
          </p:cNvPr>
          <p:cNvSpPr>
            <a:spLocks noGrp="1"/>
          </p:cNvSpPr>
          <p:nvPr/>
        </p:nvSpPr>
        <p:spPr>
          <a:xfrm>
            <a:off x="762000" y="1571625"/>
            <a:ext cx="2381250" cy="876300"/>
          </a:xfrm>
          <a:prstGeom prst="rect">
            <a:avLst/>
          </a:prstGeom>
          <a:solidFill>
            <a:srgbClr val="F9ECEB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E93FFB8-3C1D-4039-836A-AAB3F6D58F18}"/>
              </a:ext>
            </a:extLst>
          </p:cNvPr>
          <p:cNvSpPr>
            <a:spLocks noGrp="1"/>
          </p:cNvSpPr>
          <p:nvPr/>
        </p:nvSpPr>
        <p:spPr>
          <a:xfrm>
            <a:off x="876300" y="1657350"/>
            <a:ext cx="2152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时间口径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D7C310-2FD6-486A-B8A1-CD02BC70F3BC}"/>
              </a:ext>
            </a:extLst>
          </p:cNvPr>
          <p:cNvSpPr>
            <a:spLocks noGrp="1"/>
          </p:cNvSpPr>
          <p:nvPr/>
        </p:nvSpPr>
        <p:spPr>
          <a:xfrm>
            <a:off x="3143250" y="1571625"/>
            <a:ext cx="4953000" cy="876300"/>
          </a:xfrm>
          <a:prstGeom prst="rect">
            <a:avLst/>
          </a:prstGeom>
          <a:solidFill>
            <a:srgbClr val="F9ECEB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86B3D08-F271-4680-98C3-142D85C02B39}"/>
              </a:ext>
            </a:extLst>
          </p:cNvPr>
          <p:cNvSpPr>
            <a:spLocks noGrp="1"/>
          </p:cNvSpPr>
          <p:nvPr/>
        </p:nvSpPr>
        <p:spPr>
          <a:xfrm>
            <a:off x="3257550" y="1657350"/>
            <a:ext cx="4724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B196DDF-BC10-4260-A70A-8AA6E68721C2}"/>
              </a:ext>
            </a:extLst>
          </p:cNvPr>
          <p:cNvSpPr>
            <a:spLocks noGrp="1"/>
          </p:cNvSpPr>
          <p:nvPr/>
        </p:nvSpPr>
        <p:spPr>
          <a:xfrm>
            <a:off x="8096250" y="1571625"/>
            <a:ext cx="3143250" cy="876300"/>
          </a:xfrm>
          <a:prstGeom prst="rect">
            <a:avLst/>
          </a:prstGeom>
          <a:solidFill>
            <a:srgbClr val="F9ECEB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FD37933-18C3-4C81-AC03-8598C956AA76}"/>
              </a:ext>
            </a:extLst>
          </p:cNvPr>
          <p:cNvSpPr>
            <a:spLocks noGrp="1"/>
          </p:cNvSpPr>
          <p:nvPr/>
        </p:nvSpPr>
        <p:spPr>
          <a:xfrm>
            <a:off x="8210550" y="1657350"/>
            <a:ext cx="2914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是否代表NPU kernel纯耗时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97832CC-0905-4E2A-887E-5854F96493BF}"/>
              </a:ext>
            </a:extLst>
          </p:cNvPr>
          <p:cNvSpPr>
            <a:spLocks noGrp="1"/>
          </p:cNvSpPr>
          <p:nvPr/>
        </p:nvSpPr>
        <p:spPr>
          <a:xfrm>
            <a:off x="762000" y="2447925"/>
            <a:ext cx="2381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CC04F34-2899-4D61-B0AE-E62A29D9002F}"/>
              </a:ext>
            </a:extLst>
          </p:cNvPr>
          <p:cNvSpPr>
            <a:spLocks noGrp="1"/>
          </p:cNvSpPr>
          <p:nvPr/>
        </p:nvSpPr>
        <p:spPr>
          <a:xfrm>
            <a:off x="876300" y="2533650"/>
            <a:ext cx="2152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CPU NMS算法时间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186664-346D-46F5-8281-B62623DB3735}"/>
              </a:ext>
            </a:extLst>
          </p:cNvPr>
          <p:cNvSpPr>
            <a:spLocks noGrp="1"/>
          </p:cNvSpPr>
          <p:nvPr/>
        </p:nvSpPr>
        <p:spPr>
          <a:xfrm>
            <a:off x="3143250" y="2447925"/>
            <a:ext cx="49530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F60B7FE-E85E-466F-8CE1-0DC1E40E038D}"/>
              </a:ext>
            </a:extLst>
          </p:cNvPr>
          <p:cNvSpPr>
            <a:spLocks noGrp="1"/>
          </p:cNvSpPr>
          <p:nvPr/>
        </p:nvSpPr>
        <p:spPr>
          <a:xfrm>
            <a:off x="3257550" y="2533650"/>
            <a:ext cx="4724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只测CPU/NumPy NMS函数本身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CEDC4AF-10C9-41E3-A8FA-6308610578BF}"/>
              </a:ext>
            </a:extLst>
          </p:cNvPr>
          <p:cNvSpPr>
            <a:spLocks noGrp="1"/>
          </p:cNvSpPr>
          <p:nvPr/>
        </p:nvSpPr>
        <p:spPr>
          <a:xfrm>
            <a:off x="8096250" y="2447925"/>
            <a:ext cx="3143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E6E3C75-7EF0-4601-9EF9-063B613F5F7E}"/>
              </a:ext>
            </a:extLst>
          </p:cNvPr>
          <p:cNvSpPr>
            <a:spLocks noGrp="1"/>
          </p:cNvSpPr>
          <p:nvPr/>
        </p:nvSpPr>
        <p:spPr>
          <a:xfrm>
            <a:off x="8210550" y="2533650"/>
            <a:ext cx="2914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否，CPU baseline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D7BB91D-969A-4E1B-8654-1D9934AD8301}"/>
              </a:ext>
            </a:extLst>
          </p:cNvPr>
          <p:cNvSpPr>
            <a:spLocks noGrp="1"/>
          </p:cNvSpPr>
          <p:nvPr/>
        </p:nvSpPr>
        <p:spPr>
          <a:xfrm>
            <a:off x="762000" y="3324225"/>
            <a:ext cx="2381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203DC87-C094-4BC5-9A42-F6E04CBA754D}"/>
              </a:ext>
            </a:extLst>
          </p:cNvPr>
          <p:cNvSpPr>
            <a:spLocks noGrp="1"/>
          </p:cNvSpPr>
          <p:nvPr/>
        </p:nvSpPr>
        <p:spPr>
          <a:xfrm>
            <a:off x="876300" y="3409950"/>
            <a:ext cx="2152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ACLNN runner端到端时间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554C0B1-E574-4E8C-81EE-F6F4735E395D}"/>
              </a:ext>
            </a:extLst>
          </p:cNvPr>
          <p:cNvSpPr>
            <a:spLocks noGrp="1"/>
          </p:cNvSpPr>
          <p:nvPr/>
        </p:nvSpPr>
        <p:spPr>
          <a:xfrm>
            <a:off x="3143250" y="3324225"/>
            <a:ext cx="49530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2A30359-D589-484E-8208-FB0C901F9035}"/>
              </a:ext>
            </a:extLst>
          </p:cNvPr>
          <p:cNvSpPr>
            <a:spLocks noGrp="1"/>
          </p:cNvSpPr>
          <p:nvPr/>
        </p:nvSpPr>
        <p:spPr>
          <a:xfrm>
            <a:off x="3257550" y="3409950"/>
            <a:ext cx="4724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包含脚本、CMake、ACL初始化、文件读写、同步等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EA65E6A-F47B-4FED-86EF-C07FB3A10C97}"/>
              </a:ext>
            </a:extLst>
          </p:cNvPr>
          <p:cNvSpPr>
            <a:spLocks noGrp="1"/>
          </p:cNvSpPr>
          <p:nvPr/>
        </p:nvSpPr>
        <p:spPr>
          <a:xfrm>
            <a:off x="8096250" y="3324225"/>
            <a:ext cx="3143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7FB09F2-93EC-44CF-B9D7-68CB4C15B92F}"/>
              </a:ext>
            </a:extLst>
          </p:cNvPr>
          <p:cNvSpPr>
            <a:spLocks noGrp="1"/>
          </p:cNvSpPr>
          <p:nvPr/>
        </p:nvSpPr>
        <p:spPr>
          <a:xfrm>
            <a:off x="8210550" y="3409950"/>
            <a:ext cx="2914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否，只看整体调用链稳定性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1E6EDDE-9062-4F0A-9955-106148DD8E58}"/>
              </a:ext>
            </a:extLst>
          </p:cNvPr>
          <p:cNvSpPr>
            <a:spLocks noGrp="1"/>
          </p:cNvSpPr>
          <p:nvPr/>
        </p:nvSpPr>
        <p:spPr>
          <a:xfrm>
            <a:off x="762000" y="4200525"/>
            <a:ext cx="2381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E4AC454-FE89-43E5-978E-7BB1D7F927CB}"/>
              </a:ext>
            </a:extLst>
          </p:cNvPr>
          <p:cNvSpPr>
            <a:spLocks noGrp="1"/>
          </p:cNvSpPr>
          <p:nvPr/>
        </p:nvSpPr>
        <p:spPr>
          <a:xfrm>
            <a:off x="876300" y="4286250"/>
            <a:ext cx="2152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Profiling Task Duration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6F5346A-1247-451E-B7FA-AC4BD6376DCA}"/>
              </a:ext>
            </a:extLst>
          </p:cNvPr>
          <p:cNvSpPr>
            <a:spLocks noGrp="1"/>
          </p:cNvSpPr>
          <p:nvPr/>
        </p:nvSpPr>
        <p:spPr>
          <a:xfrm>
            <a:off x="3143250" y="4200525"/>
            <a:ext cx="49530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3DEEE4F-704C-4EE5-9083-B37EB791FD8C}"/>
              </a:ext>
            </a:extLst>
          </p:cNvPr>
          <p:cNvSpPr>
            <a:spLocks noGrp="1"/>
          </p:cNvSpPr>
          <p:nvPr/>
        </p:nvSpPr>
        <p:spPr>
          <a:xfrm>
            <a:off x="3257550" y="4286250"/>
            <a:ext cx="4724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msprof/MindStudio记录的kernel/task执行时间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EA2AC6A-5054-461C-9738-CA32F1589554}"/>
              </a:ext>
            </a:extLst>
          </p:cNvPr>
          <p:cNvSpPr>
            <a:spLocks noGrp="1"/>
          </p:cNvSpPr>
          <p:nvPr/>
        </p:nvSpPr>
        <p:spPr>
          <a:xfrm>
            <a:off x="8096250" y="4200525"/>
            <a:ext cx="3143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F61C536-D9E3-4181-A0D2-FDD4F67F12D9}"/>
              </a:ext>
            </a:extLst>
          </p:cNvPr>
          <p:cNvSpPr>
            <a:spLocks noGrp="1"/>
          </p:cNvSpPr>
          <p:nvPr/>
        </p:nvSpPr>
        <p:spPr>
          <a:xfrm>
            <a:off x="8210550" y="4286250"/>
            <a:ext cx="2914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是，分析自定义算子性能看这个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FFC5EAF-6EB4-4086-984D-219E0C2C43E2}"/>
              </a:ext>
            </a:extLst>
          </p:cNvPr>
          <p:cNvSpPr>
            <a:spLocks noGrp="1"/>
          </p:cNvSpPr>
          <p:nvPr/>
        </p:nvSpPr>
        <p:spPr>
          <a:xfrm>
            <a:off x="876300" y="5524500"/>
            <a:ext cx="1000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实验报告中应区分端到端调用时间与 </a:t>
            </a:r>
            <a:r>
              <a:rPr lang="en-US" altLang="zh-CN" sz="15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kernel/task </a:t>
            </a:r>
            <a:r>
              <a:rPr lang="zh-CN" altLang="en-US" sz="15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级耗时，不能用 </a:t>
            </a:r>
            <a:r>
              <a:rPr lang="en-US" altLang="zh-CN" sz="15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runner </a:t>
            </a:r>
            <a:r>
              <a:rPr lang="zh-CN" altLang="en-US" sz="15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总耗时直接判断 </a:t>
            </a:r>
            <a:r>
              <a:rPr lang="en-US" altLang="zh-CN" sz="15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NPU </a:t>
            </a:r>
            <a:r>
              <a:rPr lang="zh-CN" altLang="en-US" sz="15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算子性能。</a:t>
            </a:r>
            <a:endParaRPr lang="zh-CN" altLang="en-US" sz="1575" b="1" dirty="0" err="1">
              <a:solidFill>
                <a:srgbClr val="C7000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E1772B86-195B-3BAD-199F-DA71DFD3072B}"/>
              </a:ext>
            </a:extLst>
          </p:cNvPr>
          <p:cNvSpPr>
            <a:spLocks noGrp="1"/>
          </p:cNvSpPr>
          <p:nvPr/>
        </p:nvSpPr>
        <p:spPr>
          <a:xfrm>
            <a:off x="762000" y="1190625"/>
            <a:ext cx="1190625" cy="0"/>
          </a:xfrm>
          <a:prstGeom prst="line">
            <a:avLst/>
          </a:prstGeom>
          <a:ln w="38100">
            <a:solidFill>
              <a:srgbClr val="C7000B"/>
            </a:solidFill>
            <a:prstDash val="solid"/>
          </a:ln>
        </p:spPr>
      </p:sp>
      <p:sp>
        <p:nvSpPr>
          <p:cNvPr id="35" name="Shape 0">
            <a:extLst>
              <a:ext uri="{FF2B5EF4-FFF2-40B4-BE49-F238E27FC236}">
                <a16:creationId xmlns:a16="http://schemas.microsoft.com/office/drawing/2014/main" id="{59DCF987-A0D2-D69A-37A3-7F5354393EC4}"/>
              </a:ext>
            </a:extLst>
          </p:cNvPr>
          <p:cNvSpPr/>
          <p:nvPr/>
        </p:nvSpPr>
        <p:spPr>
          <a:xfrm>
            <a:off x="318" y="0"/>
            <a:ext cx="12191695" cy="91440"/>
          </a:xfrm>
          <a:prstGeom prst="rect">
            <a:avLst/>
          </a:prstGeom>
          <a:solidFill>
            <a:srgbClr val="EBB3CC"/>
          </a:solidFill>
          <a:ln w="1270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72593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EABBB210-03FD-4842-A210-95025DE40C66}"/>
              </a:ext>
            </a:extLst>
          </p:cNvPr>
          <p:cNvSpPr>
            <a:spLocks noGrp="1"/>
          </p:cNvSpPr>
          <p:nvPr/>
        </p:nvSpPr>
        <p:spPr>
          <a:xfrm>
            <a:off x="704850" y="43815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00" b="1">
                <a:solidFill>
                  <a:srgbClr val="005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msprof</a:t>
            </a:r>
            <a:r>
              <a:rPr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sz="3200" b="1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MindStudio</a:t>
            </a:r>
            <a:r>
              <a:rPr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3200" b="1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Profiling分析流程</a:t>
            </a:r>
            <a:endParaRPr sz="32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2D5B5EB-55A9-42D0-AF41-F9BF744C851E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C932E68-33E1-453B-90FC-1F2B98304BCA}"/>
              </a:ext>
            </a:extLst>
          </p:cNvPr>
          <p:cNvSpPr>
            <a:spLocks noGrp="1"/>
          </p:cNvSpPr>
          <p:nvPr/>
        </p:nvSpPr>
        <p:spPr>
          <a:xfrm>
            <a:off x="876300" y="1476375"/>
            <a:ext cx="1714500" cy="685800"/>
          </a:xfrm>
          <a:prstGeom prst="roundRect">
            <a:avLst>
              <a:gd name="adj" fmla="val 13889"/>
            </a:avLst>
          </a:prstGeom>
          <a:solidFill>
            <a:srgbClr val="006FAA"/>
          </a:solidFill>
          <a:ln w="9525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A218896-71BC-48CC-B580-4B2AC87AFD63}"/>
              </a:ext>
            </a:extLst>
          </p:cNvPr>
          <p:cNvSpPr>
            <a:spLocks noGrp="1"/>
          </p:cNvSpPr>
          <p:nvPr/>
        </p:nvSpPr>
        <p:spPr>
          <a:xfrm>
            <a:off x="971550" y="1600200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进入</a:t>
            </a:r>
            <a:r>
              <a:rPr lang="en-US"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runner</a:t>
            </a:r>
            <a:r>
              <a:rPr lang="en-US"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目录</a:t>
            </a:r>
            <a:endParaRPr sz="14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BBB8B6B1-673F-42C0-ACA5-70FEAF953402}"/>
              </a:ext>
            </a:extLst>
          </p:cNvPr>
          <p:cNvSpPr>
            <a:spLocks noGrp="1"/>
          </p:cNvSpPr>
          <p:nvPr/>
        </p:nvSpPr>
        <p:spPr>
          <a:xfrm>
            <a:off x="2686050" y="1647825"/>
            <a:ext cx="1003300" cy="266700"/>
          </a:xfrm>
          <a:prstGeom prst="rightArrow">
            <a:avLst/>
          </a:prstGeom>
          <a:solidFill>
            <a:srgbClr val="006FAA"/>
          </a:solidFill>
          <a:ln w="15240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3045650-5ADB-46C8-AB6F-E6451465F020}"/>
              </a:ext>
            </a:extLst>
          </p:cNvPr>
          <p:cNvSpPr>
            <a:spLocks noGrp="1"/>
          </p:cNvSpPr>
          <p:nvPr/>
        </p:nvSpPr>
        <p:spPr>
          <a:xfrm>
            <a:off x="3784600" y="1476375"/>
            <a:ext cx="1714500" cy="685800"/>
          </a:xfrm>
          <a:prstGeom prst="roundRect">
            <a:avLst>
              <a:gd name="adj" fmla="val 13889"/>
            </a:avLst>
          </a:prstGeom>
          <a:solidFill>
            <a:srgbClr val="ED6D00"/>
          </a:solidFill>
          <a:ln w="9525">
            <a:solidFill>
              <a:srgbClr val="ED6D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0FC425-06B0-4E52-99EE-7B7D27C8255B}"/>
              </a:ext>
            </a:extLst>
          </p:cNvPr>
          <p:cNvSpPr>
            <a:spLocks noGrp="1"/>
          </p:cNvSpPr>
          <p:nvPr/>
        </p:nvSpPr>
        <p:spPr>
          <a:xfrm>
            <a:off x="3879850" y="1600200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执行</a:t>
            </a:r>
            <a:r>
              <a:rPr lang="en-US" sz="1400" b="1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msprof</a:t>
            </a:r>
            <a:r>
              <a:rPr lang="en-US" sz="1400" b="1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采集</a:t>
            </a:r>
            <a:endParaRPr sz="14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F495107D-25E3-4197-88B7-BE82341BDFE1}"/>
              </a:ext>
            </a:extLst>
          </p:cNvPr>
          <p:cNvSpPr>
            <a:spLocks noGrp="1"/>
          </p:cNvSpPr>
          <p:nvPr/>
        </p:nvSpPr>
        <p:spPr>
          <a:xfrm>
            <a:off x="5594350" y="1647825"/>
            <a:ext cx="1003300" cy="266700"/>
          </a:xfrm>
          <a:prstGeom prst="rightArrow">
            <a:avLst/>
          </a:prstGeom>
          <a:solidFill>
            <a:srgbClr val="006FAA"/>
          </a:solidFill>
          <a:ln w="15240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D57FD21-C38B-4ABA-A28E-E3244219B1DB}"/>
              </a:ext>
            </a:extLst>
          </p:cNvPr>
          <p:cNvSpPr>
            <a:spLocks noGrp="1"/>
          </p:cNvSpPr>
          <p:nvPr/>
        </p:nvSpPr>
        <p:spPr>
          <a:xfrm>
            <a:off x="6692900" y="1476375"/>
            <a:ext cx="1714500" cy="685800"/>
          </a:xfrm>
          <a:prstGeom prst="roundRect">
            <a:avLst>
              <a:gd name="adj" fmla="val 13889"/>
            </a:avLst>
          </a:prstGeom>
          <a:solidFill>
            <a:srgbClr val="62B230"/>
          </a:solidFill>
          <a:ln w="9525">
            <a:solidFill>
              <a:srgbClr val="62B2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7776015-21F7-4399-8971-5946F098E294}"/>
              </a:ext>
            </a:extLst>
          </p:cNvPr>
          <p:cNvSpPr>
            <a:spLocks noGrp="1"/>
          </p:cNvSpPr>
          <p:nvPr/>
        </p:nvSpPr>
        <p:spPr>
          <a:xfrm>
            <a:off x="6788150" y="1600200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生成</a:t>
            </a:r>
            <a:r>
              <a:rPr lang="en-US" sz="1400" b="1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icrosoft YaHei"/>
                <a:ea typeface="Microsoft YaHei"/>
              </a:rPr>
              <a:t>PROF</a:t>
            </a:r>
            <a:r>
              <a:rPr lang="en-US" sz="1400" b="1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 sz="14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9D6D9E3D-1F21-4673-BF05-F5AC0A55D906}"/>
              </a:ext>
            </a:extLst>
          </p:cNvPr>
          <p:cNvSpPr>
            <a:spLocks noGrp="1"/>
          </p:cNvSpPr>
          <p:nvPr/>
        </p:nvSpPr>
        <p:spPr>
          <a:xfrm>
            <a:off x="8502650" y="1647825"/>
            <a:ext cx="1003300" cy="266700"/>
          </a:xfrm>
          <a:prstGeom prst="rightArrow">
            <a:avLst/>
          </a:prstGeom>
          <a:solidFill>
            <a:srgbClr val="006FAA"/>
          </a:solidFill>
          <a:ln w="15240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035D143-34A2-4F2E-8639-05CB6B48FB43}"/>
              </a:ext>
            </a:extLst>
          </p:cNvPr>
          <p:cNvSpPr>
            <a:spLocks noGrp="1"/>
          </p:cNvSpPr>
          <p:nvPr/>
        </p:nvSpPr>
        <p:spPr>
          <a:xfrm>
            <a:off x="9601200" y="1476375"/>
            <a:ext cx="1714500" cy="685800"/>
          </a:xfrm>
          <a:prstGeom prst="roundRect">
            <a:avLst>
              <a:gd name="adj" fmla="val 13889"/>
            </a:avLst>
          </a:prstGeom>
          <a:solidFill>
            <a:srgbClr val="30B5C5"/>
          </a:solidFill>
          <a:ln w="9525">
            <a:solidFill>
              <a:srgbClr val="30B5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5DA6CA-9AEE-4ACD-B46E-E94FA40975DE}"/>
              </a:ext>
            </a:extLst>
          </p:cNvPr>
          <p:cNvSpPr>
            <a:spLocks noGrp="1"/>
          </p:cNvSpPr>
          <p:nvPr/>
        </p:nvSpPr>
        <p:spPr>
          <a:xfrm>
            <a:off x="9696450" y="1600200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导出</a:t>
            </a:r>
            <a:r>
              <a:rPr lang="en-US" sz="1400" b="1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icrosoft YaHei"/>
                <a:ea typeface="Microsoft YaHei"/>
              </a:rPr>
              <a:t>CSV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A89734D-8559-4409-84EC-FFAFC0CC7E03}"/>
              </a:ext>
            </a:extLst>
          </p:cNvPr>
          <p:cNvSpPr>
            <a:spLocks noGrp="1"/>
          </p:cNvSpPr>
          <p:nvPr/>
        </p:nvSpPr>
        <p:spPr>
          <a:xfrm>
            <a:off x="876300" y="3619500"/>
            <a:ext cx="1714500" cy="685800"/>
          </a:xfrm>
          <a:prstGeom prst="roundRect">
            <a:avLst>
              <a:gd name="adj" fmla="val 13889"/>
            </a:avLst>
          </a:prstGeom>
          <a:solidFill>
            <a:srgbClr val="7030A0"/>
          </a:solidFill>
          <a:ln w="9525">
            <a:solidFill>
              <a:srgbClr val="7030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27443E1-B39A-429A-A905-E11E2E5EB47A}"/>
              </a:ext>
            </a:extLst>
          </p:cNvPr>
          <p:cNvSpPr>
            <a:spLocks noGrp="1"/>
          </p:cNvSpPr>
          <p:nvPr/>
        </p:nvSpPr>
        <p:spPr>
          <a:xfrm>
            <a:off x="971550" y="3743325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打开MindStudio</a:t>
            </a:r>
            <a:endParaRPr sz="14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E165EE0A-F5E5-4437-9883-3FF1F8755209}"/>
              </a:ext>
            </a:extLst>
          </p:cNvPr>
          <p:cNvSpPr>
            <a:spLocks noGrp="1"/>
          </p:cNvSpPr>
          <p:nvPr/>
        </p:nvSpPr>
        <p:spPr>
          <a:xfrm>
            <a:off x="2686050" y="3790950"/>
            <a:ext cx="1003300" cy="266700"/>
          </a:xfrm>
          <a:prstGeom prst="rightArrow">
            <a:avLst/>
          </a:prstGeom>
          <a:solidFill>
            <a:srgbClr val="006FAA"/>
          </a:solidFill>
          <a:ln w="15240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E3F3067-0BC2-44D0-9970-87B5DADF954A}"/>
              </a:ext>
            </a:extLst>
          </p:cNvPr>
          <p:cNvSpPr>
            <a:spLocks noGrp="1"/>
          </p:cNvSpPr>
          <p:nvPr/>
        </p:nvSpPr>
        <p:spPr>
          <a:xfrm>
            <a:off x="3784600" y="3619500"/>
            <a:ext cx="1714500" cy="685800"/>
          </a:xfrm>
          <a:prstGeom prst="roundRect">
            <a:avLst>
              <a:gd name="adj" fmla="val 13889"/>
            </a:avLst>
          </a:prstGeom>
          <a:solidFill>
            <a:srgbClr val="006FAA"/>
          </a:solidFill>
          <a:ln w="9525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62F7D6D-0151-4272-9676-E7E2D3A8CBF7}"/>
              </a:ext>
            </a:extLst>
          </p:cNvPr>
          <p:cNvSpPr>
            <a:spLocks noGrp="1"/>
          </p:cNvSpPr>
          <p:nvPr/>
        </p:nvSpPr>
        <p:spPr>
          <a:xfrm>
            <a:off x="3879850" y="3743325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>
                <a:solidFill>
                  <a:srgbClr val="FFFFFF"/>
                </a:solidFill>
                <a:latin typeface="Microsoft YaHei"/>
                <a:ea typeface="Microsoft YaHei"/>
              </a:rPr>
              <a:t>Import Result</a:t>
            </a:r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DC7AA17B-FB14-47CC-A1D9-3BF8818D5130}"/>
              </a:ext>
            </a:extLst>
          </p:cNvPr>
          <p:cNvSpPr>
            <a:spLocks noGrp="1"/>
          </p:cNvSpPr>
          <p:nvPr/>
        </p:nvSpPr>
        <p:spPr>
          <a:xfrm>
            <a:off x="5594350" y="3790950"/>
            <a:ext cx="1003300" cy="266700"/>
          </a:xfrm>
          <a:prstGeom prst="rightArrow">
            <a:avLst/>
          </a:prstGeom>
          <a:solidFill>
            <a:srgbClr val="006FAA"/>
          </a:solidFill>
          <a:ln w="15240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39AE250-BFDB-4558-A070-71F95A6F9747}"/>
              </a:ext>
            </a:extLst>
          </p:cNvPr>
          <p:cNvSpPr>
            <a:spLocks noGrp="1"/>
          </p:cNvSpPr>
          <p:nvPr/>
        </p:nvSpPr>
        <p:spPr>
          <a:xfrm>
            <a:off x="6692900" y="3619500"/>
            <a:ext cx="1714500" cy="685800"/>
          </a:xfrm>
          <a:prstGeom prst="roundRect">
            <a:avLst>
              <a:gd name="adj" fmla="val 13889"/>
            </a:avLst>
          </a:prstGeom>
          <a:solidFill>
            <a:srgbClr val="ED6D00"/>
          </a:solidFill>
          <a:ln w="9525">
            <a:solidFill>
              <a:srgbClr val="ED6D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D2BCCF2-C532-4572-A6E1-4780657B3EDC}"/>
              </a:ext>
            </a:extLst>
          </p:cNvPr>
          <p:cNvSpPr>
            <a:spLocks noGrp="1"/>
          </p:cNvSpPr>
          <p:nvPr/>
        </p:nvSpPr>
        <p:spPr>
          <a:xfrm>
            <a:off x="6788150" y="3743325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查看</a:t>
            </a:r>
            <a:r>
              <a:rPr lang="en-US" sz="1400" b="1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icrosoft YaHei"/>
                <a:ea typeface="Microsoft YaHei"/>
              </a:rPr>
              <a:t>OP Info</a:t>
            </a:r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11323D81-0C0F-4485-9B27-71948703D730}"/>
              </a:ext>
            </a:extLst>
          </p:cNvPr>
          <p:cNvSpPr>
            <a:spLocks noGrp="1"/>
          </p:cNvSpPr>
          <p:nvPr/>
        </p:nvSpPr>
        <p:spPr>
          <a:xfrm>
            <a:off x="8502650" y="3790950"/>
            <a:ext cx="1003300" cy="266700"/>
          </a:xfrm>
          <a:prstGeom prst="rightArrow">
            <a:avLst/>
          </a:prstGeom>
          <a:solidFill>
            <a:srgbClr val="006FAA"/>
          </a:solidFill>
          <a:ln w="15240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4717A6C-E3F8-475E-8BA5-251DBDF06D49}"/>
              </a:ext>
            </a:extLst>
          </p:cNvPr>
          <p:cNvSpPr>
            <a:spLocks noGrp="1"/>
          </p:cNvSpPr>
          <p:nvPr/>
        </p:nvSpPr>
        <p:spPr>
          <a:xfrm>
            <a:off x="9601200" y="3619500"/>
            <a:ext cx="1714500" cy="685800"/>
          </a:xfrm>
          <a:prstGeom prst="roundRect">
            <a:avLst>
              <a:gd name="adj" fmla="val 13889"/>
            </a:avLst>
          </a:prstGeom>
          <a:solidFill>
            <a:srgbClr val="62B230"/>
          </a:solidFill>
          <a:ln w="9525">
            <a:solidFill>
              <a:srgbClr val="62B2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1E06426-CD64-4BBF-BF99-68BFDB68B74E}"/>
              </a:ext>
            </a:extLst>
          </p:cNvPr>
          <p:cNvSpPr>
            <a:spLocks noGrp="1"/>
          </p:cNvSpPr>
          <p:nvPr/>
        </p:nvSpPr>
        <p:spPr>
          <a:xfrm>
            <a:off x="9696450" y="3743325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读取</a:t>
            </a:r>
            <a:r>
              <a:rPr lang="en-US" sz="1400" b="1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icrosoft YaHei"/>
                <a:ea typeface="Microsoft YaHei"/>
              </a:rPr>
              <a:t>Task Duration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F70294F-BE2E-4720-BFBE-2FA0AED02900}"/>
              </a:ext>
            </a:extLst>
          </p:cNvPr>
          <p:cNvSpPr>
            <a:spLocks noGrp="1"/>
          </p:cNvSpPr>
          <p:nvPr/>
        </p:nvSpPr>
        <p:spPr>
          <a:xfrm>
            <a:off x="914400" y="533400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00" b="1">
                <a:solidFill>
                  <a:srgbClr val="005B7F"/>
                </a:solidFill>
                <a:latin typeface="Microsoft YaHei"/>
                <a:ea typeface="Microsoft YaHei"/>
                <a:cs typeface="Microsoft YaHei"/>
              </a:defRPr>
            </a:pPr>
            <a:endParaRPr sz="1100" b="1" dirty="0">
              <a:solidFill>
                <a:srgbClr val="005B7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512732A-7266-E6CC-E1E3-C0DAF4AA8A59}"/>
              </a:ext>
            </a:extLst>
          </p:cNvPr>
          <p:cNvSpPr txBox="1"/>
          <p:nvPr/>
        </p:nvSpPr>
        <p:spPr>
          <a:xfrm>
            <a:off x="876300" y="5381625"/>
            <a:ext cx="10439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重点观察：</a:t>
            </a:r>
            <a:r>
              <a:rPr lang="en-US" altLang="zh-CN" sz="1500" b="1" dirty="0" err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mindstudio_profiler_output</a:t>
            </a:r>
            <a:r>
              <a:rPr lang="en-US" altLang="zh-CN" sz="1500" b="1" dirty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/op_summary_*.csv </a:t>
            </a:r>
            <a:r>
              <a:rPr lang="zh-CN" altLang="en-US" sz="1500" b="1" dirty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或 </a:t>
            </a:r>
            <a:r>
              <a:rPr lang="en-US" altLang="zh-CN" sz="1500" b="1" dirty="0" err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MindStudio</a:t>
            </a:r>
            <a:r>
              <a:rPr lang="zh-CN" altLang="en-US" sz="1500" b="1" dirty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界面的 </a:t>
            </a:r>
            <a:r>
              <a:rPr lang="en-US" altLang="zh-CN" sz="1500" b="1" dirty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OP Info / Task Duration(us)</a:t>
            </a:r>
            <a:r>
              <a:rPr lang="zh-CN" altLang="en-US" sz="1500" b="1" dirty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EF07B592-1997-1B92-B047-58B97CDC1C59}"/>
              </a:ext>
            </a:extLst>
          </p:cNvPr>
          <p:cNvSpPr>
            <a:spLocks noGrp="1"/>
          </p:cNvSpPr>
          <p:nvPr/>
        </p:nvSpPr>
        <p:spPr>
          <a:xfrm>
            <a:off x="704850" y="1050925"/>
            <a:ext cx="990600" cy="0"/>
          </a:xfrm>
          <a:prstGeom prst="line">
            <a:avLst/>
          </a:prstGeom>
          <a:solidFill>
            <a:srgbClr val="006FAA"/>
          </a:solidFill>
          <a:ln w="22860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0">
            <a:extLst>
              <a:ext uri="{FF2B5EF4-FFF2-40B4-BE49-F238E27FC236}">
                <a16:creationId xmlns:a16="http://schemas.microsoft.com/office/drawing/2014/main" id="{5D554857-8BAE-6866-81B4-F5889F15F258}"/>
              </a:ext>
            </a:extLst>
          </p:cNvPr>
          <p:cNvSpPr/>
          <p:nvPr/>
        </p:nvSpPr>
        <p:spPr>
          <a:xfrm>
            <a:off x="318" y="0"/>
            <a:ext cx="12191695" cy="91440"/>
          </a:xfrm>
          <a:prstGeom prst="rect">
            <a:avLst/>
          </a:prstGeom>
          <a:solidFill>
            <a:srgbClr val="EBB3CC"/>
          </a:solidFill>
          <a:ln w="1270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898968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0B4FD846-9A72-42F8-B767-DF9409B0206C}"/>
              </a:ext>
            </a:extLst>
          </p:cNvPr>
          <p:cNvSpPr>
            <a:spLocks noGrp="1"/>
          </p:cNvSpPr>
          <p:nvPr/>
        </p:nvSpPr>
        <p:spPr>
          <a:xfrm>
            <a:off x="704850" y="43815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00" b="1">
                <a:solidFill>
                  <a:srgbClr val="005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常见问题与排查路径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DFBC8E2-5818-4DAD-8E48-D121B6CEB0BF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5D064A0-334B-4623-9711-772C95DFBD31}"/>
              </a:ext>
            </a:extLst>
          </p:cNvPr>
          <p:cNvSpPr>
            <a:spLocks noGrp="1"/>
          </p:cNvSpPr>
          <p:nvPr/>
        </p:nvSpPr>
        <p:spPr>
          <a:xfrm>
            <a:off x="714375" y="1428750"/>
            <a:ext cx="3143250" cy="723900"/>
          </a:xfrm>
          <a:prstGeom prst="rect">
            <a:avLst/>
          </a:prstGeom>
          <a:solidFill>
            <a:srgbClr val="F9ECEB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3BAE13B-ACE0-4C24-81BB-4C3311BE4E48}"/>
              </a:ext>
            </a:extLst>
          </p:cNvPr>
          <p:cNvSpPr>
            <a:spLocks noGrp="1"/>
          </p:cNvSpPr>
          <p:nvPr/>
        </p:nvSpPr>
        <p:spPr>
          <a:xfrm>
            <a:off x="828675" y="1514475"/>
            <a:ext cx="29146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现象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7C8A191-B2CC-479E-AC6C-55CB42464EA6}"/>
              </a:ext>
            </a:extLst>
          </p:cNvPr>
          <p:cNvSpPr>
            <a:spLocks noGrp="1"/>
          </p:cNvSpPr>
          <p:nvPr/>
        </p:nvSpPr>
        <p:spPr>
          <a:xfrm>
            <a:off x="3857625" y="1428750"/>
            <a:ext cx="6953250" cy="723900"/>
          </a:xfrm>
          <a:prstGeom prst="rect">
            <a:avLst/>
          </a:prstGeom>
          <a:solidFill>
            <a:srgbClr val="F9ECEB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4622047-CA2B-49DA-96F7-8A69B2CC21B8}"/>
              </a:ext>
            </a:extLst>
          </p:cNvPr>
          <p:cNvSpPr>
            <a:spLocks noGrp="1"/>
          </p:cNvSpPr>
          <p:nvPr/>
        </p:nvSpPr>
        <p:spPr>
          <a:xfrm>
            <a:off x="3971925" y="1514475"/>
            <a:ext cx="67246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优先检查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E0F107C-15FC-44E3-8C0A-CB3BB24E780D}"/>
              </a:ext>
            </a:extLst>
          </p:cNvPr>
          <p:cNvSpPr>
            <a:spLocks noGrp="1"/>
          </p:cNvSpPr>
          <p:nvPr/>
        </p:nvSpPr>
        <p:spPr>
          <a:xfrm>
            <a:off x="714375" y="2152650"/>
            <a:ext cx="31432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B815C15-0CE1-4712-849D-9E91BC6903CB}"/>
              </a:ext>
            </a:extLst>
          </p:cNvPr>
          <p:cNvSpPr>
            <a:spLocks noGrp="1"/>
          </p:cNvSpPr>
          <p:nvPr/>
        </p:nvSpPr>
        <p:spPr>
          <a:xfrm>
            <a:off x="828675" y="2238375"/>
            <a:ext cx="29146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which opc / msopgen找不到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37A11D4-1E92-46CC-8E93-E21F56D75D5B}"/>
              </a:ext>
            </a:extLst>
          </p:cNvPr>
          <p:cNvSpPr>
            <a:spLocks noGrp="1"/>
          </p:cNvSpPr>
          <p:nvPr/>
        </p:nvSpPr>
        <p:spPr>
          <a:xfrm>
            <a:off x="3857625" y="2152650"/>
            <a:ext cx="69532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E77A420-D243-4790-AA9B-D28D100FC49F}"/>
              </a:ext>
            </a:extLst>
          </p:cNvPr>
          <p:cNvSpPr>
            <a:spLocks noGrp="1"/>
          </p:cNvSpPr>
          <p:nvPr/>
        </p:nvSpPr>
        <p:spPr>
          <a:xfrm>
            <a:off x="3971925" y="2238375"/>
            <a:ext cx="67246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是否source CANN set_env.sh，PATH是否包含8.0.RC1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B4620A8-E1AB-44C4-869C-CB27BC45323B}"/>
              </a:ext>
            </a:extLst>
          </p:cNvPr>
          <p:cNvSpPr>
            <a:spLocks noGrp="1"/>
          </p:cNvSpPr>
          <p:nvPr/>
        </p:nvSpPr>
        <p:spPr>
          <a:xfrm>
            <a:off x="714375" y="2876550"/>
            <a:ext cx="31432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BE3032A-52F9-4402-BDD8-42905726311E}"/>
              </a:ext>
            </a:extLst>
          </p:cNvPr>
          <p:cNvSpPr>
            <a:spLocks noGrp="1"/>
          </p:cNvSpPr>
          <p:nvPr/>
        </p:nvSpPr>
        <p:spPr>
          <a:xfrm>
            <a:off x="828675" y="2962275"/>
            <a:ext cx="29146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build.sh bad interpreter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846A359-D70E-425F-BC14-20BF7A3E9353}"/>
              </a:ext>
            </a:extLst>
          </p:cNvPr>
          <p:cNvSpPr>
            <a:spLocks noGrp="1"/>
          </p:cNvSpPr>
          <p:nvPr/>
        </p:nvSpPr>
        <p:spPr>
          <a:xfrm>
            <a:off x="3857625" y="2876550"/>
            <a:ext cx="69532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1E9FC71-C004-45DD-9CF3-03F20450E9F2}"/>
              </a:ext>
            </a:extLst>
          </p:cNvPr>
          <p:cNvSpPr>
            <a:spLocks noGrp="1"/>
          </p:cNvSpPr>
          <p:nvPr/>
        </p:nvSpPr>
        <p:spPr>
          <a:xfrm>
            <a:off x="3971925" y="2962275"/>
            <a:ext cx="67246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脚本是否为Windows CRLF，需要转换为Unix LF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A68BC2F-149A-4C44-B42E-12D5FB254EA8}"/>
              </a:ext>
            </a:extLst>
          </p:cNvPr>
          <p:cNvSpPr>
            <a:spLocks noGrp="1"/>
          </p:cNvSpPr>
          <p:nvPr/>
        </p:nvSpPr>
        <p:spPr>
          <a:xfrm>
            <a:off x="714375" y="3600450"/>
            <a:ext cx="31432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9E82F21-C1E6-4134-83B9-B622E9B31A34}"/>
              </a:ext>
            </a:extLst>
          </p:cNvPr>
          <p:cNvSpPr>
            <a:spLocks noGrp="1"/>
          </p:cNvSpPr>
          <p:nvPr/>
        </p:nvSpPr>
        <p:spPr>
          <a:xfrm>
            <a:off x="828675" y="3686175"/>
            <a:ext cx="29146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custom OPP找不到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C904E27-58CA-4030-A882-F03FBC619D2E}"/>
              </a:ext>
            </a:extLst>
          </p:cNvPr>
          <p:cNvSpPr>
            <a:spLocks noGrp="1"/>
          </p:cNvSpPr>
          <p:nvPr/>
        </p:nvSpPr>
        <p:spPr>
          <a:xfrm>
            <a:off x="3857625" y="3600450"/>
            <a:ext cx="69532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AF536B3-183F-4A27-B448-145AFEB04F9E}"/>
              </a:ext>
            </a:extLst>
          </p:cNvPr>
          <p:cNvSpPr>
            <a:spLocks noGrp="1"/>
          </p:cNvSpPr>
          <p:nvPr/>
        </p:nvSpPr>
        <p:spPr>
          <a:xfrm>
            <a:off x="3971925" y="3686175"/>
            <a:ext cx="67246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run包是否安装成功，vendors/customize目录是否有头文件和.o/.json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06A8FD0-C068-44AE-BFB4-0C0134A4E333}"/>
              </a:ext>
            </a:extLst>
          </p:cNvPr>
          <p:cNvSpPr>
            <a:spLocks noGrp="1"/>
          </p:cNvSpPr>
          <p:nvPr/>
        </p:nvSpPr>
        <p:spPr>
          <a:xfrm>
            <a:off x="714375" y="4324350"/>
            <a:ext cx="31432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2133923-FE1D-4379-AC96-5603CF8B60D5}"/>
              </a:ext>
            </a:extLst>
          </p:cNvPr>
          <p:cNvSpPr>
            <a:spLocks noGrp="1"/>
          </p:cNvSpPr>
          <p:nvPr/>
        </p:nvSpPr>
        <p:spPr>
          <a:xfrm>
            <a:off x="828675" y="4410075"/>
            <a:ext cx="29146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runner提示shape不匹配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2686B7E-E4EE-489C-AB85-7A590816B557}"/>
              </a:ext>
            </a:extLst>
          </p:cNvPr>
          <p:cNvSpPr>
            <a:spLocks noGrp="1"/>
          </p:cNvSpPr>
          <p:nvPr/>
        </p:nvSpPr>
        <p:spPr>
          <a:xfrm>
            <a:off x="3857625" y="4324350"/>
            <a:ext cx="69532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AF76E40-6C93-48CD-A1DD-BBF45D960052}"/>
              </a:ext>
            </a:extLst>
          </p:cNvPr>
          <p:cNvSpPr>
            <a:spLocks noGrp="1"/>
          </p:cNvSpPr>
          <p:nvPr/>
        </p:nvSpPr>
        <p:spPr>
          <a:xfrm>
            <a:off x="3971925" y="4410075"/>
            <a:ext cx="67246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真实YOLO过滤后N变化，需要同步修改main.cpp的boxesShape/scoresShape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2697551-B206-4707-91B7-C61CFD8A5C57}"/>
              </a:ext>
            </a:extLst>
          </p:cNvPr>
          <p:cNvSpPr>
            <a:spLocks noGrp="1"/>
          </p:cNvSpPr>
          <p:nvPr/>
        </p:nvSpPr>
        <p:spPr>
          <a:xfrm>
            <a:off x="714375" y="5048250"/>
            <a:ext cx="31432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120A9EC-E1FB-44A7-B0D3-A460F967DDD6}"/>
              </a:ext>
            </a:extLst>
          </p:cNvPr>
          <p:cNvSpPr>
            <a:spLocks noGrp="1"/>
          </p:cNvSpPr>
          <p:nvPr/>
        </p:nvSpPr>
        <p:spPr>
          <a:xfrm>
            <a:off x="828675" y="5133975"/>
            <a:ext cx="29146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runner时间很长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7BDF3D0-DAAB-4DA1-917A-DE4A7ADE4C34}"/>
              </a:ext>
            </a:extLst>
          </p:cNvPr>
          <p:cNvSpPr>
            <a:spLocks noGrp="1"/>
          </p:cNvSpPr>
          <p:nvPr/>
        </p:nvSpPr>
        <p:spPr>
          <a:xfrm>
            <a:off x="3857625" y="5048250"/>
            <a:ext cx="69532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759F9A0-0505-4619-8641-FF995E2567D2}"/>
              </a:ext>
            </a:extLst>
          </p:cNvPr>
          <p:cNvSpPr>
            <a:spLocks noGrp="1"/>
          </p:cNvSpPr>
          <p:nvPr/>
        </p:nvSpPr>
        <p:spPr>
          <a:xfrm>
            <a:off x="3971925" y="5133975"/>
            <a:ext cx="67246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确认这是端到端时间，Profiling耗时看Task Duration(us)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63C9589-A980-7700-1017-A0AD381CBAC5}"/>
              </a:ext>
            </a:extLst>
          </p:cNvPr>
          <p:cNvSpPr>
            <a:spLocks noGrp="1"/>
          </p:cNvSpPr>
          <p:nvPr/>
        </p:nvSpPr>
        <p:spPr>
          <a:xfrm>
            <a:off x="704850" y="1050925"/>
            <a:ext cx="990600" cy="0"/>
          </a:xfrm>
          <a:prstGeom prst="line">
            <a:avLst/>
          </a:prstGeom>
          <a:solidFill>
            <a:srgbClr val="006FAA"/>
          </a:solidFill>
          <a:ln w="22860">
            <a:solidFill>
              <a:srgbClr val="006F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0">
            <a:extLst>
              <a:ext uri="{FF2B5EF4-FFF2-40B4-BE49-F238E27FC236}">
                <a16:creationId xmlns:a16="http://schemas.microsoft.com/office/drawing/2014/main" id="{1D7BEF33-FB19-09DB-C012-57261A57D67C}"/>
              </a:ext>
            </a:extLst>
          </p:cNvPr>
          <p:cNvSpPr/>
          <p:nvPr/>
        </p:nvSpPr>
        <p:spPr>
          <a:xfrm>
            <a:off x="318" y="0"/>
            <a:ext cx="12191695" cy="91440"/>
          </a:xfrm>
          <a:prstGeom prst="rect">
            <a:avLst/>
          </a:prstGeom>
          <a:solidFill>
            <a:srgbClr val="EBB3CC"/>
          </a:solidFill>
          <a:ln w="1270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949071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3B71092-450B-49CD-A3D6-1B43DB32CA89}"/>
              </a:ext>
            </a:extLst>
          </p:cNvPr>
          <p:cNvSpPr>
            <a:spLocks noGrp="1"/>
          </p:cNvSpPr>
          <p:nvPr/>
        </p:nvSpPr>
        <p:spPr>
          <a:xfrm>
            <a:off x="742950" y="1104900"/>
            <a:ext cx="876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实验总</a:t>
            </a:r>
            <a:r>
              <a:rPr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EDCBDD99-EC5C-4948-ADEC-BDB461B6EB1F}"/>
              </a:ext>
            </a:extLst>
          </p:cNvPr>
          <p:cNvSpPr>
            <a:spLocks noGrp="1"/>
          </p:cNvSpPr>
          <p:nvPr/>
        </p:nvSpPr>
        <p:spPr>
          <a:xfrm>
            <a:off x="762000" y="1828800"/>
            <a:ext cx="1190625" cy="0"/>
          </a:xfrm>
          <a:prstGeom prst="line">
            <a:avLst/>
          </a:prstGeom>
          <a:ln w="38100">
            <a:solidFill>
              <a:srgbClr val="C7000B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51E0037-A575-465C-9A1E-33415415BE15}"/>
              </a:ext>
            </a:extLst>
          </p:cNvPr>
          <p:cNvSpPr>
            <a:spLocks noGrp="1"/>
          </p:cNvSpPr>
          <p:nvPr/>
        </p:nvSpPr>
        <p:spPr>
          <a:xfrm>
            <a:off x="781050" y="2238375"/>
            <a:ext cx="8572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latin typeface="宋体" panose="02010600030101010101" pitchFamily="2" charset="-122"/>
                <a:ea typeface="宋体" panose="02010600030101010101" pitchFamily="2" charset="-122"/>
                <a:cs typeface="Microsoft YaHei"/>
              </a:rPr>
              <a:t>本实验完成了从YOLO端侧推理到NPU自定义后处理卸载的完整闭环</a:t>
            </a:r>
            <a:r>
              <a:rPr sz="2000" b="1" dirty="0">
                <a:latin typeface="宋体" panose="02010600030101010101" pitchFamily="2" charset="-122"/>
                <a:ea typeface="宋体" panose="02010600030101010101" pitchFamily="2" charset="-122"/>
                <a:cs typeface="Microsoft YaHei"/>
              </a:rPr>
              <a:t>。</a:t>
            </a:r>
            <a:endParaRPr lang="en-US" sz="2000" b="1" dirty="0">
              <a:latin typeface="宋体" panose="02010600030101010101" pitchFamily="2" charset="-122"/>
              <a:ea typeface="宋体" panose="02010600030101010101" pitchFamily="2" charset="-122"/>
              <a:cs typeface="Microsoft YaHei"/>
            </a:endParaRPr>
          </a:p>
          <a:p>
            <a:pPr algn="l">
              <a:defRPr sz="16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Microsoft YaHei"/>
              </a:rPr>
              <a:t>关键组件以及作用如下所示：</a:t>
            </a:r>
            <a:endParaRPr sz="2000" b="1" dirty="0">
              <a:latin typeface="宋体" panose="02010600030101010101" pitchFamily="2" charset="-122"/>
              <a:ea typeface="宋体" panose="02010600030101010101" pitchFamily="2" charset="-122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96E9FAD-68CB-4146-AECE-2DDE1DAF7765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88888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DACCF7F-F69F-4C5B-B8A7-CFD109B28B73}"/>
              </a:ext>
            </a:extLst>
          </p:cNvPr>
          <p:cNvSpPr>
            <a:spLocks noGrp="1"/>
          </p:cNvSpPr>
          <p:nvPr/>
        </p:nvSpPr>
        <p:spPr>
          <a:xfrm>
            <a:off x="781050" y="3188073"/>
            <a:ext cx="990600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20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OM</a:t>
            </a:r>
            <a:r>
              <a:rPr lang="en-US" sz="20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模型负责</a:t>
            </a:r>
            <a:r>
              <a:rPr lang="en-US" sz="20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YOLO</a:t>
            </a:r>
            <a:r>
              <a:rPr lang="en-US" sz="20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网络推理，bus.jpg提供真实输入样例</a:t>
            </a:r>
            <a:endParaRPr sz="2000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CPU NMS baseline</a:t>
            </a:r>
            <a:r>
              <a:rPr lang="en-US" sz="20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用于建立正确性参考</a:t>
            </a:r>
            <a:endParaRPr sz="2000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Ascend C</a:t>
            </a:r>
            <a:r>
              <a:rPr lang="en-US" sz="20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实现了</a:t>
            </a:r>
            <a:r>
              <a:rPr lang="en-US" sz="20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YoloNmsCustom</a:t>
            </a:r>
            <a:r>
              <a:rPr lang="en-US" sz="20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自定义NMS算子</a:t>
            </a:r>
            <a:endParaRPr sz="2000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ACLNN runner</a:t>
            </a:r>
            <a:r>
              <a:rPr lang="en-US" sz="20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完成自定义算子调用和</a:t>
            </a:r>
            <a:r>
              <a:rPr lang="en-US" sz="20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keep/count</a:t>
            </a:r>
            <a:r>
              <a:rPr lang="en-US" sz="20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对齐验证</a:t>
            </a:r>
            <a:endParaRPr sz="2000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20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MindStudio</a:t>
            </a:r>
            <a:r>
              <a:rPr sz="20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Profiling</a:t>
            </a:r>
            <a:r>
              <a:rPr lang="en-US" sz="20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用于读取自定义算子真实</a:t>
            </a:r>
            <a:r>
              <a:rPr lang="en-US"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Task </a:t>
            </a:r>
            <a:r>
              <a:rPr sz="20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Duration</a:t>
            </a: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50171225-05AC-BE04-ECAD-30AC19E9F1BB}"/>
              </a:ext>
            </a:extLst>
          </p:cNvPr>
          <p:cNvSpPr/>
          <p:nvPr/>
        </p:nvSpPr>
        <p:spPr>
          <a:xfrm>
            <a:off x="318" y="0"/>
            <a:ext cx="12191695" cy="91440"/>
          </a:xfrm>
          <a:prstGeom prst="rect">
            <a:avLst/>
          </a:prstGeom>
          <a:solidFill>
            <a:srgbClr val="EBB3CC"/>
          </a:solidFill>
          <a:ln w="1270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116076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20BB1-27DA-D242-0511-10FFF8958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DA74401-C13B-CFFF-CB9C-CB32F068DD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背景介绍与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学习目标</a:t>
            </a:r>
          </a:p>
          <a:p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实验环境准备</a:t>
            </a:r>
            <a:endParaRPr lang="en-US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模型转换与 </a:t>
            </a:r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PyACL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推理</a:t>
            </a: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自定义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NMS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算子开发</a:t>
            </a: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NPU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后处理集成与验证</a:t>
            </a: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sym typeface="+mn-ea"/>
              </a:rPr>
              <a:t>Profiling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sym typeface="+mn-ea"/>
              </a:rPr>
              <a:t>与实验验收</a:t>
            </a: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课后习题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98020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B48F516-E8DE-469E-8BB7-37AF699AB9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DFA4431-1B8B-4A8A-B420-CEB84514AD36}"/>
              </a:ext>
            </a:extLst>
          </p:cNvPr>
          <p:cNvSpPr>
            <a:spLocks noGrp="1"/>
          </p:cNvSpPr>
          <p:nvPr/>
        </p:nvSpPr>
        <p:spPr>
          <a:xfrm>
            <a:off x="731520" y="304800"/>
            <a:ext cx="10728960" cy="8534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课后习题</a:t>
            </a:r>
            <a:endParaRPr kumimoji="0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1670CF3-08AC-4D70-B6C0-DD520C2E2B18}"/>
              </a:ext>
            </a:extLst>
          </p:cNvPr>
          <p:cNvSpPr>
            <a:spLocks noGrp="1"/>
          </p:cNvSpPr>
          <p:nvPr/>
        </p:nvSpPr>
        <p:spPr>
          <a:xfrm>
            <a:off x="755904" y="1194816"/>
            <a:ext cx="2682240" cy="60960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7A20E84-4125-4288-A4D6-41845F9049E9}"/>
              </a:ext>
            </a:extLst>
          </p:cNvPr>
          <p:cNvSpPr>
            <a:spLocks noGrp="1"/>
          </p:cNvSpPr>
          <p:nvPr/>
        </p:nvSpPr>
        <p:spPr>
          <a:xfrm>
            <a:off x="853440" y="1584960"/>
            <a:ext cx="10485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Q1：</a:t>
            </a:r>
            <a:r>
              <a:rPr kumimoji="0" lang="zh-CN" alt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在本实验中，</a:t>
            </a:r>
            <a:r>
              <a:rPr kumimoji="0" lang="en-US" altLang="zh-CN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ONNX </a:t>
            </a:r>
            <a:r>
              <a:rPr kumimoji="0" lang="zh-CN" alt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模型、</a:t>
            </a:r>
            <a:r>
              <a:rPr kumimoji="0" lang="en-US" altLang="zh-CN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OM </a:t>
            </a:r>
            <a:r>
              <a:rPr kumimoji="0" lang="zh-CN" alt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模型和 </a:t>
            </a:r>
            <a:r>
              <a:rPr kumimoji="0" lang="en-US" altLang="zh-CN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bus.jpg </a:t>
            </a:r>
            <a:r>
              <a:rPr kumimoji="0" lang="zh-CN" alt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分别承担什么作用？</a:t>
            </a:r>
            <a:endParaRPr kumimoji="0" sz="2135" b="1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D3319F1-DA59-49F9-AB6A-27380EBF8B45}"/>
              </a:ext>
            </a:extLst>
          </p:cNvPr>
          <p:cNvSpPr>
            <a:spLocks noGrp="1"/>
          </p:cNvSpPr>
          <p:nvPr/>
        </p:nvSpPr>
        <p:spPr>
          <a:xfrm>
            <a:off x="853440" y="2438400"/>
            <a:ext cx="10485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Q2：</a:t>
            </a:r>
            <a:r>
              <a:rPr kumimoji="0" 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PyACL </a:t>
            </a:r>
            <a:r>
              <a:rPr kumimoji="0" lang="zh-CN" alt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加载 </a:t>
            </a:r>
            <a:r>
              <a:rPr kumimoji="0" 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OM </a:t>
            </a:r>
            <a:r>
              <a:rPr kumimoji="0" lang="zh-CN" alt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模型完成端侧推理的基本流程是什么</a:t>
            </a:r>
            <a:r>
              <a:rPr kumimoji="0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？</a:t>
            </a:r>
            <a:endParaRPr kumimoji="0" sz="213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8D723F2-425C-46F2-9714-A33C3FC12192}"/>
              </a:ext>
            </a:extLst>
          </p:cNvPr>
          <p:cNvSpPr>
            <a:spLocks noGrp="1"/>
          </p:cNvSpPr>
          <p:nvPr/>
        </p:nvSpPr>
        <p:spPr>
          <a:xfrm>
            <a:off x="853440" y="3291840"/>
            <a:ext cx="10485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Q3：</a:t>
            </a:r>
            <a:r>
              <a:rPr kumimoji="0" lang="zh-CN" alt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为什么要先建立 </a:t>
            </a:r>
            <a:r>
              <a:rPr kumimoji="0" 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CPU NMS baseline，</a:t>
            </a:r>
            <a:r>
              <a:rPr kumimoji="0" lang="zh-CN" alt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再开发 </a:t>
            </a:r>
            <a:r>
              <a:rPr kumimoji="0" 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NPU </a:t>
            </a:r>
            <a:r>
              <a:rPr kumimoji="0" lang="zh-CN" alt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自定义 </a:t>
            </a:r>
            <a:r>
              <a:rPr kumimoji="0" 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NMS </a:t>
            </a:r>
            <a:r>
              <a:rPr kumimoji="0" lang="zh-CN" alt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算子</a:t>
            </a:r>
            <a:r>
              <a:rPr kumimoji="0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？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4963CEF-4CE8-405C-9E76-A2521F6A756D}"/>
              </a:ext>
            </a:extLst>
          </p:cNvPr>
          <p:cNvSpPr>
            <a:spLocks noGrp="1"/>
          </p:cNvSpPr>
          <p:nvPr/>
        </p:nvSpPr>
        <p:spPr>
          <a:xfrm>
            <a:off x="853440" y="4145280"/>
            <a:ext cx="10485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Q4：</a:t>
            </a:r>
            <a:r>
              <a:rPr kumimoji="0" lang="en-US" altLang="zh-CN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Ascend C </a:t>
            </a:r>
            <a:r>
              <a:rPr kumimoji="0" lang="zh-CN" alt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自定义算子从开发到安装的核心步骤有哪些</a:t>
            </a:r>
            <a:r>
              <a:rPr kumimoji="0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？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3528CDF-2EB6-4C95-AEC6-238410B47E68}"/>
              </a:ext>
            </a:extLst>
          </p:cNvPr>
          <p:cNvSpPr>
            <a:spLocks noGrp="1"/>
          </p:cNvSpPr>
          <p:nvPr/>
        </p:nvSpPr>
        <p:spPr>
          <a:xfrm>
            <a:off x="853440" y="4998720"/>
            <a:ext cx="10485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Q5：</a:t>
            </a:r>
            <a:r>
              <a:rPr kumimoji="0" 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ACLNN </a:t>
            </a:r>
            <a:r>
              <a:rPr kumimoji="0" lang="zh-CN" alt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接口中为什么要先调用 </a:t>
            </a:r>
            <a:r>
              <a:rPr kumimoji="0" lang="en-US" sz="2135" b="1" i="0" u="none" strike="noStrike" kern="1200" cap="none" spc="0" normalizeH="0" baseline="0" noProof="0" dirty="0" err="1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GetWorkspaceSize</a:t>
            </a:r>
            <a:r>
              <a:rPr kumimoji="0" 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，</a:t>
            </a:r>
            <a:r>
              <a:rPr kumimoji="0" lang="zh-CN" alt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再调用真正的算子执行接口</a:t>
            </a:r>
            <a:r>
              <a:rPr kumimoji="0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？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D2B236F-E8AF-44B8-A61D-E6400BDE1CC7}"/>
              </a:ext>
            </a:extLst>
          </p:cNvPr>
          <p:cNvSpPr>
            <a:spLocks noGrp="1"/>
          </p:cNvSpPr>
          <p:nvPr/>
        </p:nvSpPr>
        <p:spPr>
          <a:xfrm>
            <a:off x="853440" y="5852160"/>
            <a:ext cx="10485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Q6：</a:t>
            </a:r>
            <a:r>
              <a:rPr kumimoji="0" lang="zh-CN" alt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如何判断本实验的自定义 </a:t>
            </a:r>
            <a:r>
              <a:rPr kumimoji="0" lang="en-US" altLang="zh-CN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NMS </a:t>
            </a:r>
            <a:r>
              <a:rPr kumimoji="0" lang="zh-CN" alt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算子验证成功？</a:t>
            </a:r>
            <a:endParaRPr kumimoji="0" sz="213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64775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3" name="Text 1"/>
          <p:cNvSpPr/>
          <p:nvPr/>
        </p:nvSpPr>
        <p:spPr>
          <a:xfrm>
            <a:off x="731520" y="304800"/>
            <a:ext cx="10728960" cy="853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课后习题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5904" y="1194816"/>
            <a:ext cx="2682240" cy="60960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5" name="Text 3"/>
          <p:cNvSpPr/>
          <p:nvPr/>
        </p:nvSpPr>
        <p:spPr>
          <a:xfrm>
            <a:off x="853440" y="1584960"/>
            <a:ext cx="1048512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</a:t>
            </a:r>
            <a:r>
              <a:rPr lang="en-US" sz="2135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r>
              <a:rPr kumimoji="0" 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kumimoji="0" lang="zh-CN" alt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在本实验中，</a:t>
            </a:r>
            <a:r>
              <a:rPr kumimoji="0" lang="en-US" altLang="zh-CN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ONNX </a:t>
            </a:r>
            <a:r>
              <a:rPr kumimoji="0" lang="zh-CN" alt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模型、</a:t>
            </a:r>
            <a:r>
              <a:rPr kumimoji="0" lang="en-US" altLang="zh-CN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OM </a:t>
            </a:r>
            <a:r>
              <a:rPr kumimoji="0" lang="zh-CN" alt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模型和 </a:t>
            </a:r>
            <a:r>
              <a:rPr kumimoji="0" lang="en-US" altLang="zh-CN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bus.jpg </a:t>
            </a:r>
            <a:r>
              <a:rPr kumimoji="0" lang="zh-CN" alt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分别承担什么作用？</a:t>
            </a:r>
            <a:endParaRPr kumimoji="0" lang="en-US" sz="2135" b="1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35" b="1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ONNX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模型是从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YOLOv5s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导出的通用模型格式，保存了网络结构和权重；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OM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模型是通过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ATC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工具将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ONNX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转换后得到的昇腾推理模型，能够被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Atlas 200I DK A2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上的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AscendCL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PyACL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加载执行；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bus.jpg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不是模型的一部分，而是一张测试输入图片，用来验证从图像预处理、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OM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推理、后处理到结果对齐的完整链路是否跑通。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FD6A3-9E92-3283-1783-6DE3DC623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015AC1D-2CA7-DECF-7FC9-F851BBDD0676}"/>
              </a:ext>
            </a:extLst>
          </p:cNvPr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5D3C94A-C181-727A-5636-6DB963F46448}"/>
              </a:ext>
            </a:extLst>
          </p:cNvPr>
          <p:cNvSpPr/>
          <p:nvPr/>
        </p:nvSpPr>
        <p:spPr>
          <a:xfrm>
            <a:off x="731520" y="304800"/>
            <a:ext cx="10728960" cy="853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课后习题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DAB99A6-0138-AA8B-C551-8BD017C928FC}"/>
              </a:ext>
            </a:extLst>
          </p:cNvPr>
          <p:cNvSpPr/>
          <p:nvPr/>
        </p:nvSpPr>
        <p:spPr>
          <a:xfrm>
            <a:off x="755904" y="1194816"/>
            <a:ext cx="2682240" cy="60960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CBE8D4B-6DCE-B650-686D-BB3B1BF31DC3}"/>
              </a:ext>
            </a:extLst>
          </p:cNvPr>
          <p:cNvSpPr/>
          <p:nvPr/>
        </p:nvSpPr>
        <p:spPr>
          <a:xfrm>
            <a:off x="853440" y="1584960"/>
            <a:ext cx="1048512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Q2：</a:t>
            </a:r>
            <a:r>
              <a:rPr kumimoji="0" lang="en-US" altLang="zh-CN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PyACL </a:t>
            </a:r>
            <a:r>
              <a:rPr kumimoji="0" lang="zh-CN" alt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加载 </a:t>
            </a:r>
            <a:r>
              <a:rPr kumimoji="0" lang="en-US" altLang="zh-CN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OM </a:t>
            </a:r>
            <a:r>
              <a:rPr kumimoji="0" lang="zh-CN" alt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模型完成端侧推理的基本流程是什么？</a:t>
            </a:r>
            <a:endParaRPr kumimoji="0" lang="en-US" sz="2135" b="1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35" b="1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PyACL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推理流程可以概括为：初始化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ACL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资源，设置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device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，创建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context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stream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，加载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OM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模型，准备输入数据并拷贝到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device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侧，创建输入输出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dataset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，执行模型推理，将输出从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device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拷回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host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，最后释放模型、内存、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stream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context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device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资源。本实验中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PyACL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的作用是打通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YOLO OM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模型在开发板上的端侧推理链路，并输出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YOLO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原始预测结果，为后续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NMS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后处理提供输入。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96996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E9B2B-9035-A008-10E2-837B713AE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89C36D8-A7D5-0966-906F-EBCF0B5C25DF}"/>
              </a:ext>
            </a:extLst>
          </p:cNvPr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886A30B-1DDE-E796-3FE6-27BFC24C8502}"/>
              </a:ext>
            </a:extLst>
          </p:cNvPr>
          <p:cNvSpPr/>
          <p:nvPr/>
        </p:nvSpPr>
        <p:spPr>
          <a:xfrm>
            <a:off x="731520" y="304800"/>
            <a:ext cx="10728960" cy="853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课后习题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F09F2C1-ED2B-92C3-4B3A-90CF1BA9C38E}"/>
              </a:ext>
            </a:extLst>
          </p:cNvPr>
          <p:cNvSpPr/>
          <p:nvPr/>
        </p:nvSpPr>
        <p:spPr>
          <a:xfrm>
            <a:off x="755904" y="1194816"/>
            <a:ext cx="2682240" cy="60960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DCC7838-8384-22ED-D9EF-ECC540101C6A}"/>
              </a:ext>
            </a:extLst>
          </p:cNvPr>
          <p:cNvSpPr/>
          <p:nvPr/>
        </p:nvSpPr>
        <p:spPr>
          <a:xfrm>
            <a:off x="853440" y="1584960"/>
            <a:ext cx="1048512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Q3：</a:t>
            </a:r>
            <a:r>
              <a:rPr kumimoji="0" lang="zh-CN" alt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为什么要先建立 </a:t>
            </a:r>
            <a:r>
              <a:rPr kumimoji="0" lang="en-US" altLang="zh-CN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CPU NMS baseline</a:t>
            </a:r>
            <a:r>
              <a:rPr kumimoji="0" lang="zh-CN" alt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，再开发 </a:t>
            </a:r>
            <a:r>
              <a:rPr kumimoji="0" lang="en-US" altLang="zh-CN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NPU </a:t>
            </a:r>
            <a:r>
              <a:rPr kumimoji="0" lang="zh-CN" alt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自定义 </a:t>
            </a:r>
            <a:r>
              <a:rPr kumimoji="0" lang="en-US" altLang="zh-CN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NMS </a:t>
            </a:r>
            <a:r>
              <a:rPr kumimoji="0" lang="zh-CN" alt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算子？</a:t>
            </a:r>
            <a:endParaRPr kumimoji="0" lang="en-US" sz="2135" b="1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35" b="1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CPU NMS baseline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是正确性参考。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YOLO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模型输出大量候选框后，需要根据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score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阈值筛选、按置信度排序，并通过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IoU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抑制重叠框。先在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CPU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上实现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NMS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，可以得到一组可信的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keep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索引和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count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数量。后续自定义算子在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NPU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上运行时，需要与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CPU baseline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对齐输出，确认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custom count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custom keep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CPU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结果一致。这样可以避免只看到算子“能运行”，却无法判断结果是否正确。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038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C9849-CBF6-B877-CDE2-AF3A32391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BF8517-5C43-5690-D5FB-C582F380C81E}"/>
              </a:ext>
            </a:extLst>
          </p:cNvPr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01871D2-A533-B5D0-EF64-940412CE844C}"/>
              </a:ext>
            </a:extLst>
          </p:cNvPr>
          <p:cNvSpPr/>
          <p:nvPr/>
        </p:nvSpPr>
        <p:spPr>
          <a:xfrm>
            <a:off x="731520" y="304800"/>
            <a:ext cx="10728960" cy="853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课后习题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9EB4A7C-72E3-6612-963A-1B07A0E537DB}"/>
              </a:ext>
            </a:extLst>
          </p:cNvPr>
          <p:cNvSpPr/>
          <p:nvPr/>
        </p:nvSpPr>
        <p:spPr>
          <a:xfrm>
            <a:off x="755904" y="1194816"/>
            <a:ext cx="2682240" cy="60960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C52A736-B938-8B20-8EA6-0F89942867A2}"/>
              </a:ext>
            </a:extLst>
          </p:cNvPr>
          <p:cNvSpPr/>
          <p:nvPr/>
        </p:nvSpPr>
        <p:spPr>
          <a:xfrm>
            <a:off x="853440" y="1584960"/>
            <a:ext cx="1048512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</a:t>
            </a:r>
            <a:r>
              <a:rPr lang="en-US" sz="2135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r>
              <a:rPr kumimoji="0" 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kumimoji="0" lang="en-US" altLang="zh-CN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Ascend C </a:t>
            </a:r>
            <a:r>
              <a:rPr kumimoji="0" lang="zh-CN" alt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自定义算子从开发到安装的核心步骤有哪些？</a:t>
            </a:r>
            <a:endParaRPr kumimoji="0" lang="en-US" sz="2135" b="1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35" b="1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核心步骤包括：编写算子定义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JSON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，使用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msopgen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gen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生成自定义算子工程；检查并修改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CMakePresets.json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中的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CANN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路径；在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op_host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中定义输入输出、属性、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shape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推导和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tiling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信息；在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op_kernel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中实现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Core kernel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计算逻辑；执行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build.sh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编译生成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custom_opp_ubuntu_aarch64.run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安装包；运行该安装包，将自定义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OPP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安装到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CANN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opp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/vendors/customize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目录；最后通过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ACLNN runner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调用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aclnnYoloNmsCustomGetWorkspaceSize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aclnnYoloNmsCustom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验证算子是否可被正常发现、加载和执行。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40870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A6441-749C-FE9C-E6E0-61F60BEDC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EB976A-A117-AD98-7244-F2CFF3F8FA66}"/>
              </a:ext>
            </a:extLst>
          </p:cNvPr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DCC6579-8AD5-FA50-D39A-8D8CF087A0F2}"/>
              </a:ext>
            </a:extLst>
          </p:cNvPr>
          <p:cNvSpPr/>
          <p:nvPr/>
        </p:nvSpPr>
        <p:spPr>
          <a:xfrm>
            <a:off x="731520" y="304800"/>
            <a:ext cx="10728960" cy="853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课后习题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C6EC4F2-55CB-BF65-68BD-51EA47805878}"/>
              </a:ext>
            </a:extLst>
          </p:cNvPr>
          <p:cNvSpPr/>
          <p:nvPr/>
        </p:nvSpPr>
        <p:spPr>
          <a:xfrm>
            <a:off x="755904" y="1194816"/>
            <a:ext cx="2682240" cy="60960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5135D6D-43C9-74D4-B5F9-F8031E68BE03}"/>
              </a:ext>
            </a:extLst>
          </p:cNvPr>
          <p:cNvSpPr/>
          <p:nvPr/>
        </p:nvSpPr>
        <p:spPr>
          <a:xfrm>
            <a:off x="853440" y="1584960"/>
            <a:ext cx="1048512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</a:t>
            </a:r>
            <a:r>
              <a:rPr lang="en-US" sz="2135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r>
              <a:rPr kumimoji="0" 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kumimoji="0" lang="en-US" altLang="zh-CN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ACLNN </a:t>
            </a:r>
            <a:r>
              <a:rPr kumimoji="0" lang="zh-CN" alt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接口中为什么要先调用 </a:t>
            </a:r>
            <a:r>
              <a:rPr kumimoji="0" lang="en-US" altLang="zh-CN" sz="2135" b="1" i="0" u="none" strike="noStrike" kern="1200" cap="none" spc="0" normalizeH="0" baseline="0" noProof="0" dirty="0" err="1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GetWorkspaceSize</a:t>
            </a:r>
            <a:r>
              <a:rPr kumimoji="0" lang="zh-CN" alt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，再调用真正的算子执行接口？</a:t>
            </a:r>
            <a:endParaRPr kumimoji="0" lang="en-US" sz="2135" b="1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35" b="1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ACLNN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自定义算子通常分为两步调用：第一步调用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aclnnYoloNmsCustomGetWorkspaceSize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，用于根据输入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tensor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、属性参数和输出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tensor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推导执行所需的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workspace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大小，并生成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executor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；第二步调用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aclnnYoloNmsCustom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，传入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workspace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workspaceSize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executor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stream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，真正把任务下发到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NPU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执行。这样设计可以让框架在执行前明确临时内存需求和执行上下文，便于统一调度和资源管理。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92834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02CEB-2C40-98D0-C0A7-26FA16A27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6F2402C-1963-676B-8902-3803122ECD99}"/>
              </a:ext>
            </a:extLst>
          </p:cNvPr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E8913D2-9FAC-405B-E09C-697E1B08B988}"/>
              </a:ext>
            </a:extLst>
          </p:cNvPr>
          <p:cNvSpPr/>
          <p:nvPr/>
        </p:nvSpPr>
        <p:spPr>
          <a:xfrm>
            <a:off x="731520" y="304800"/>
            <a:ext cx="10728960" cy="853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课后习题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A8AE8AE-342F-1F97-0113-E7186486D1E1}"/>
              </a:ext>
            </a:extLst>
          </p:cNvPr>
          <p:cNvSpPr/>
          <p:nvPr/>
        </p:nvSpPr>
        <p:spPr>
          <a:xfrm>
            <a:off x="755904" y="1194816"/>
            <a:ext cx="2682240" cy="60960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DA6FA33-621C-120E-281A-E85D646F0272}"/>
              </a:ext>
            </a:extLst>
          </p:cNvPr>
          <p:cNvSpPr/>
          <p:nvPr/>
        </p:nvSpPr>
        <p:spPr>
          <a:xfrm>
            <a:off x="853440" y="1584960"/>
            <a:ext cx="1048512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Q6：</a:t>
            </a:r>
            <a:r>
              <a:rPr kumimoji="0" lang="zh-CN" alt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如何判断本实验的自定义 </a:t>
            </a:r>
            <a:r>
              <a:rPr kumimoji="0" lang="en-US" altLang="zh-CN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NMS </a:t>
            </a:r>
            <a:r>
              <a:rPr kumimoji="0" lang="zh-CN" altLang="en-US" sz="2135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算子验证成功？</a:t>
            </a:r>
            <a:endParaRPr kumimoji="0" lang="en-US" sz="2135" b="1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35" b="1" i="0" u="none" strike="noStrike" kern="1200" cap="none" spc="0" normalizeH="0" baseline="0" noProof="0" dirty="0">
              <a:ln>
                <a:noFill/>
              </a:ln>
              <a:solidFill>
                <a:srgbClr val="2C3E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不能只看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runner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返回码为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，而要同时看正确性输出。验证成功应至少满足：自定义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OPP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安装成功；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ACLNN runner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能正常编译并执行；日志中出现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Execute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aclnnYoloNmsCustom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success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；输出文件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output_keep.bin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output_count.bin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能正常生成；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custom count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CPU baseline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cpu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count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一致；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custom first 20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CPU baseline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cpu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first 20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一致；最终输出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PASSED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。如果再通过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msprof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MindStudio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Profiling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看到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YoloNmsCustom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对应的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Task Duration(us)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，则说明不仅功能跑通，也完成了算子耗时分析。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/>
              <a:ea typeface="方正兰亭黑简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59874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05121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功能页模板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7000B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4_内容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4934</Words>
  <Application>Microsoft Office PowerPoint</Application>
  <DocSecurity>0</DocSecurity>
  <PresentationFormat>宽屏</PresentationFormat>
  <Paragraphs>477</Paragraphs>
  <Slides>45</Slides>
  <Notes>45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45</vt:i4>
      </vt:variant>
    </vt:vector>
  </HeadingPairs>
  <TitlesOfParts>
    <vt:vector size="59" baseType="lpstr">
      <vt:lpstr>Huawei Sans</vt:lpstr>
      <vt:lpstr>方正兰亭黑简体</vt:lpstr>
      <vt:lpstr>宋体</vt:lpstr>
      <vt:lpstr>微软雅黑</vt:lpstr>
      <vt:lpstr>微软雅黑</vt:lpstr>
      <vt:lpstr>Arial</vt:lpstr>
      <vt:lpstr>Calibri</vt:lpstr>
      <vt:lpstr>Consolas</vt:lpstr>
      <vt:lpstr>Courier New</vt:lpstr>
      <vt:lpstr>Wingdings</vt:lpstr>
      <vt:lpstr>ChatGPT</vt:lpstr>
      <vt:lpstr>3_功能页模板</vt:lpstr>
      <vt:lpstr>Office Theme</vt:lpstr>
      <vt:lpstr>4_内容页模板</vt:lpstr>
      <vt:lpstr>YOLO端侧部署与 TBE 自定义后处理集成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岚禹 张</cp:lastModifiedBy>
  <cp:revision>38</cp:revision>
  <dcterms:created xsi:type="dcterms:W3CDTF">2026-08-11T07:24:58Z</dcterms:created>
  <dcterms:modified xsi:type="dcterms:W3CDTF">2026-08-20T12:21:20Z</dcterms:modified>
</cp:coreProperties>
</file>